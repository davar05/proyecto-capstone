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1B1B27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0" i="0">
                <a:solidFill>
                  <a:schemeClr val="bg1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1B1B27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50" b="0" i="0">
                <a:solidFill>
                  <a:schemeClr val="bg1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1B1B27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08876" y="6591575"/>
            <a:ext cx="1007714" cy="19085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72495" y="6486473"/>
            <a:ext cx="1619503" cy="3715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1B1B27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46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46" y="6858000"/>
                </a:lnTo>
                <a:lnTo>
                  <a:pt x="12191746" y="0"/>
                </a:lnTo>
                <a:close/>
              </a:path>
            </a:pathLst>
          </a:custGeom>
          <a:solidFill>
            <a:srgbClr val="F4F7F9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076812" y="6558989"/>
            <a:ext cx="1071841" cy="2560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617582" y="6359955"/>
            <a:ext cx="2543555" cy="48583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8716" y="541477"/>
            <a:ext cx="8347075" cy="10521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1B1B27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1751" y="2734183"/>
            <a:ext cx="4909820" cy="15817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0" i="0">
                <a:solidFill>
                  <a:schemeClr val="bg1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46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46" y="6858000"/>
                </a:lnTo>
                <a:lnTo>
                  <a:pt x="12191746" y="0"/>
                </a:lnTo>
                <a:close/>
              </a:path>
            </a:pathLst>
          </a:custGeom>
          <a:solidFill>
            <a:srgbClr val="F8F8FF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preencoded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49544" y="377837"/>
            <a:ext cx="1302130" cy="3202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48716" y="2011806"/>
            <a:ext cx="103505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solidFill>
                  <a:srgbClr val="4867E9"/>
                </a:solidFill>
                <a:latin typeface="Microsoft Sans Serif"/>
                <a:cs typeface="Microsoft Sans Serif"/>
              </a:rPr>
              <a:t>ALLOXENTRIC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48716" y="2308301"/>
            <a:ext cx="5472430" cy="5892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700"/>
              <a:t>Aprueba</a:t>
            </a:r>
            <a:r>
              <a:rPr dirty="0" sz="3700" spc="-140"/>
              <a:t> </a:t>
            </a:r>
            <a:r>
              <a:rPr dirty="0" sz="3700" spc="105"/>
              <a:t>Administración</a:t>
            </a:r>
            <a:endParaRPr sz="3700"/>
          </a:p>
        </p:txBody>
      </p:sp>
      <p:grpSp>
        <p:nvGrpSpPr>
          <p:cNvPr id="7" name="object 7"/>
          <p:cNvGrpSpPr/>
          <p:nvPr/>
        </p:nvGrpSpPr>
        <p:grpSpPr>
          <a:xfrm>
            <a:off x="661479" y="3738879"/>
            <a:ext cx="10869295" cy="756285"/>
            <a:chOff x="661479" y="3738879"/>
            <a:chExt cx="10869295" cy="756285"/>
          </a:xfrm>
        </p:grpSpPr>
        <p:sp>
          <p:nvSpPr>
            <p:cNvPr id="8" name="object 8"/>
            <p:cNvSpPr/>
            <p:nvPr/>
          </p:nvSpPr>
          <p:spPr>
            <a:xfrm>
              <a:off x="661479" y="3738879"/>
              <a:ext cx="10869295" cy="756285"/>
            </a:xfrm>
            <a:custGeom>
              <a:avLst/>
              <a:gdLst/>
              <a:ahLst/>
              <a:cxnLst/>
              <a:rect l="l" t="t" r="r" b="b"/>
              <a:pathLst>
                <a:path w="10869295" h="756285">
                  <a:moveTo>
                    <a:pt x="10789348" y="0"/>
                  </a:moveTo>
                  <a:lnTo>
                    <a:pt x="79387" y="0"/>
                  </a:lnTo>
                  <a:lnTo>
                    <a:pt x="48482" y="6240"/>
                  </a:lnTo>
                  <a:lnTo>
                    <a:pt x="23248" y="23256"/>
                  </a:lnTo>
                  <a:lnTo>
                    <a:pt x="6237" y="48488"/>
                  </a:lnTo>
                  <a:lnTo>
                    <a:pt x="0" y="79375"/>
                  </a:lnTo>
                  <a:lnTo>
                    <a:pt x="0" y="676529"/>
                  </a:lnTo>
                  <a:lnTo>
                    <a:pt x="6237" y="707415"/>
                  </a:lnTo>
                  <a:lnTo>
                    <a:pt x="23248" y="732647"/>
                  </a:lnTo>
                  <a:lnTo>
                    <a:pt x="48482" y="749663"/>
                  </a:lnTo>
                  <a:lnTo>
                    <a:pt x="79387" y="755904"/>
                  </a:lnTo>
                  <a:lnTo>
                    <a:pt x="10789348" y="755904"/>
                  </a:lnTo>
                  <a:lnTo>
                    <a:pt x="10820235" y="749663"/>
                  </a:lnTo>
                  <a:lnTo>
                    <a:pt x="10845466" y="732647"/>
                  </a:lnTo>
                  <a:lnTo>
                    <a:pt x="10862482" y="707415"/>
                  </a:lnTo>
                  <a:lnTo>
                    <a:pt x="10868723" y="676529"/>
                  </a:lnTo>
                  <a:lnTo>
                    <a:pt x="10868723" y="79375"/>
                  </a:lnTo>
                  <a:lnTo>
                    <a:pt x="10862482" y="48488"/>
                  </a:lnTo>
                  <a:lnTo>
                    <a:pt x="10845466" y="23256"/>
                  </a:lnTo>
                  <a:lnTo>
                    <a:pt x="10820235" y="6240"/>
                  </a:lnTo>
                  <a:lnTo>
                    <a:pt x="10789348" y="0"/>
                  </a:lnTo>
                  <a:close/>
                </a:path>
              </a:pathLst>
            </a:custGeom>
            <a:solidFill>
              <a:srgbClr val="B6D5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0480" y="4006557"/>
              <a:ext cx="236232" cy="18901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48716" y="3238687"/>
            <a:ext cx="5626100" cy="10083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00" i="1">
                <a:solidFill>
                  <a:srgbClr val="4867E9"/>
                </a:solidFill>
                <a:latin typeface="Arial"/>
                <a:cs typeface="Arial"/>
              </a:rPr>
              <a:t>Consola</a:t>
            </a:r>
            <a:r>
              <a:rPr dirty="0" sz="1500" spc="55" i="1">
                <a:solidFill>
                  <a:srgbClr val="4867E9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4867E9"/>
                </a:solidFill>
                <a:latin typeface="Arial"/>
                <a:cs typeface="Arial"/>
              </a:rPr>
              <a:t>web</a:t>
            </a:r>
            <a:r>
              <a:rPr dirty="0" sz="1500" spc="-5" i="1">
                <a:solidFill>
                  <a:srgbClr val="4867E9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4867E9"/>
                </a:solidFill>
                <a:latin typeface="Arial"/>
                <a:cs typeface="Arial"/>
              </a:rPr>
              <a:t>de</a:t>
            </a:r>
            <a:r>
              <a:rPr dirty="0" sz="1500" spc="20" i="1">
                <a:solidFill>
                  <a:srgbClr val="4867E9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4867E9"/>
                </a:solidFill>
                <a:latin typeface="Arial"/>
                <a:cs typeface="Arial"/>
              </a:rPr>
              <a:t>gestión</a:t>
            </a:r>
            <a:r>
              <a:rPr dirty="0" sz="1500" spc="25" i="1">
                <a:solidFill>
                  <a:srgbClr val="4867E9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4867E9"/>
                </a:solidFill>
                <a:latin typeface="Arial"/>
                <a:cs typeface="Arial"/>
              </a:rPr>
              <a:t>de</a:t>
            </a:r>
            <a:r>
              <a:rPr dirty="0" sz="1500" spc="5" i="1">
                <a:solidFill>
                  <a:srgbClr val="4867E9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4867E9"/>
                </a:solidFill>
                <a:latin typeface="Arial"/>
                <a:cs typeface="Arial"/>
              </a:rPr>
              <a:t>negocio</a:t>
            </a:r>
            <a:r>
              <a:rPr dirty="0" sz="1500" spc="45" i="1">
                <a:solidFill>
                  <a:srgbClr val="4867E9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4867E9"/>
                </a:solidFill>
                <a:latin typeface="Arial"/>
                <a:cs typeface="Arial"/>
              </a:rPr>
              <a:t>y</a:t>
            </a:r>
            <a:r>
              <a:rPr dirty="0" sz="1500" spc="40" i="1">
                <a:solidFill>
                  <a:srgbClr val="4867E9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4867E9"/>
                </a:solidFill>
                <a:latin typeface="Arial"/>
                <a:cs typeface="Arial"/>
              </a:rPr>
              <a:t>operaciones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1500">
              <a:latin typeface="Arial"/>
              <a:cs typeface="Arial"/>
            </a:endParaRPr>
          </a:p>
          <a:p>
            <a:pPr marL="626745">
              <a:lnSpc>
                <a:spcPct val="100000"/>
              </a:lnSpc>
            </a:pPr>
            <a:r>
              <a:rPr dirty="0" sz="1450" b="1">
                <a:latin typeface="Arial"/>
                <a:cs typeface="Arial"/>
              </a:rPr>
              <a:t>Foco</a:t>
            </a:r>
            <a:r>
              <a:rPr dirty="0" sz="1450" spc="-25" b="1">
                <a:latin typeface="Arial"/>
                <a:cs typeface="Arial"/>
              </a:rPr>
              <a:t> </a:t>
            </a:r>
            <a:r>
              <a:rPr dirty="0" sz="1450" spc="75" b="1">
                <a:latin typeface="Arial"/>
                <a:cs typeface="Arial"/>
              </a:rPr>
              <a:t>prioritario:</a:t>
            </a:r>
            <a:r>
              <a:rPr dirty="0" sz="1450" spc="-25" b="1">
                <a:latin typeface="Arial"/>
                <a:cs typeface="Arial"/>
              </a:rPr>
              <a:t> </a:t>
            </a:r>
            <a:r>
              <a:rPr dirty="0" sz="1450" spc="110" b="1">
                <a:latin typeface="Arial"/>
                <a:cs typeface="Arial"/>
              </a:rPr>
              <a:t>Marketing</a:t>
            </a:r>
            <a:r>
              <a:rPr dirty="0" sz="1450" b="1">
                <a:latin typeface="Arial"/>
                <a:cs typeface="Arial"/>
              </a:rPr>
              <a:t> </a:t>
            </a:r>
            <a:r>
              <a:rPr dirty="0" sz="1450" spc="55" b="1">
                <a:latin typeface="Arial"/>
                <a:cs typeface="Arial"/>
              </a:rPr>
              <a:t>y</a:t>
            </a:r>
            <a:r>
              <a:rPr dirty="0" sz="1450" spc="-10" b="1">
                <a:latin typeface="Arial"/>
                <a:cs typeface="Arial"/>
              </a:rPr>
              <a:t> </a:t>
            </a:r>
            <a:r>
              <a:rPr dirty="0" sz="1450" spc="70" b="1">
                <a:latin typeface="Arial"/>
                <a:cs typeface="Arial"/>
              </a:rPr>
              <a:t>Programa</a:t>
            </a:r>
            <a:r>
              <a:rPr dirty="0" sz="1450" spc="-15" b="1">
                <a:latin typeface="Arial"/>
                <a:cs typeface="Arial"/>
              </a:rPr>
              <a:t> </a:t>
            </a:r>
            <a:r>
              <a:rPr dirty="0" sz="1450" spc="75" b="1">
                <a:latin typeface="Arial"/>
                <a:cs typeface="Arial"/>
              </a:rPr>
              <a:t>de</a:t>
            </a:r>
            <a:r>
              <a:rPr dirty="0" sz="1450" spc="-5" b="1">
                <a:latin typeface="Arial"/>
                <a:cs typeface="Arial"/>
              </a:rPr>
              <a:t> </a:t>
            </a:r>
            <a:r>
              <a:rPr dirty="0" sz="1450" spc="65" b="1">
                <a:latin typeface="Arial"/>
                <a:cs typeface="Arial"/>
              </a:rPr>
              <a:t>Fidelidad</a:t>
            </a:r>
            <a:endParaRPr sz="14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8716" y="4724780"/>
            <a:ext cx="195072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404154"/>
                </a:solidFill>
                <a:latin typeface="Microsoft Sans Serif"/>
                <a:cs typeface="Microsoft Sans Serif"/>
              </a:rPr>
              <a:t>David</a:t>
            </a:r>
            <a:r>
              <a:rPr dirty="0" sz="1150" spc="8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404154"/>
                </a:solidFill>
                <a:latin typeface="Microsoft Sans Serif"/>
                <a:cs typeface="Microsoft Sans Serif"/>
              </a:rPr>
              <a:t>Arenas</a:t>
            </a:r>
            <a:r>
              <a:rPr dirty="0" sz="1150" spc="2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404154"/>
                </a:solidFill>
                <a:latin typeface="Microsoft Sans Serif"/>
                <a:cs typeface="Microsoft Sans Serif"/>
              </a:rPr>
              <a:t>·</a:t>
            </a:r>
            <a:r>
              <a:rPr dirty="0" sz="1150" spc="6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5">
                <a:solidFill>
                  <a:srgbClr val="404154"/>
                </a:solidFill>
                <a:latin typeface="Microsoft Sans Serif"/>
                <a:cs typeface="Microsoft Sans Serif"/>
              </a:rPr>
              <a:t>Amaru</a:t>
            </a:r>
            <a:r>
              <a:rPr dirty="0" sz="1150" spc="3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404154"/>
                </a:solidFill>
                <a:latin typeface="Microsoft Sans Serif"/>
                <a:cs typeface="Microsoft Sans Serif"/>
              </a:rPr>
              <a:t>Rojas</a:t>
            </a:r>
            <a:endParaRPr sz="1150">
              <a:latin typeface="Microsoft Sans Serif"/>
              <a:cs typeface="Microsoft Sans Serif"/>
            </a:endParaRPr>
          </a:p>
        </p:txBody>
      </p:sp>
      <p:pic>
        <p:nvPicPr>
          <p:cNvPr id="3" name="object 3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76813" y="6558989"/>
            <a:ext cx="1071841" cy="25603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48443" y="6372159"/>
            <a:ext cx="2543555" cy="4858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716" y="613359"/>
            <a:ext cx="4315460" cy="5600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500" spc="105"/>
              <a:t>Contexto</a:t>
            </a:r>
            <a:r>
              <a:rPr dirty="0" sz="3500" spc="-260"/>
              <a:t> </a:t>
            </a:r>
            <a:r>
              <a:rPr dirty="0" sz="3500" spc="-45"/>
              <a:t>y</a:t>
            </a:r>
            <a:r>
              <a:rPr dirty="0" sz="3500" spc="-215"/>
              <a:t> </a:t>
            </a:r>
            <a:r>
              <a:rPr dirty="0" sz="3500" spc="60"/>
              <a:t>problema</a:t>
            </a:r>
            <a:endParaRPr sz="3500"/>
          </a:p>
        </p:txBody>
      </p:sp>
      <p:sp>
        <p:nvSpPr>
          <p:cNvPr id="3" name="object 3"/>
          <p:cNvSpPr txBox="1"/>
          <p:nvPr/>
        </p:nvSpPr>
        <p:spPr>
          <a:xfrm>
            <a:off x="648716" y="1579377"/>
            <a:ext cx="5595620" cy="8591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0400"/>
              </a:lnSpc>
              <a:spcBef>
                <a:spcPts val="90"/>
              </a:spcBef>
            </a:pPr>
            <a:r>
              <a:rPr dirty="0" sz="1400" spc="55">
                <a:solidFill>
                  <a:srgbClr val="404154"/>
                </a:solidFill>
                <a:latin typeface="Microsoft Sans Serif"/>
                <a:cs typeface="Microsoft Sans Serif"/>
              </a:rPr>
              <a:t>Aprueba</a:t>
            </a:r>
            <a:r>
              <a:rPr dirty="0" sz="1400" spc="-2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404154"/>
                </a:solidFill>
                <a:latin typeface="Microsoft Sans Serif"/>
                <a:cs typeface="Microsoft Sans Serif"/>
              </a:rPr>
              <a:t>es</a:t>
            </a:r>
            <a:r>
              <a:rPr dirty="0" sz="1400" spc="-1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70">
                <a:solidFill>
                  <a:srgbClr val="404154"/>
                </a:solidFill>
                <a:latin typeface="Microsoft Sans Serif"/>
                <a:cs typeface="Microsoft Sans Serif"/>
              </a:rPr>
              <a:t>una</a:t>
            </a:r>
            <a:r>
              <a:rPr dirty="0" sz="1400" spc="-2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95">
                <a:solidFill>
                  <a:srgbClr val="404154"/>
                </a:solidFill>
                <a:latin typeface="Microsoft Sans Serif"/>
                <a:cs typeface="Microsoft Sans Serif"/>
              </a:rPr>
              <a:t>plataforma</a:t>
            </a:r>
            <a:r>
              <a:rPr dirty="0" sz="1400" spc="-3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65">
                <a:solidFill>
                  <a:srgbClr val="404154"/>
                </a:solidFill>
                <a:latin typeface="Microsoft Sans Serif"/>
                <a:cs typeface="Microsoft Sans Serif"/>
              </a:rPr>
              <a:t>educativa</a:t>
            </a:r>
            <a:r>
              <a:rPr dirty="0" sz="1400" spc="-2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85">
                <a:solidFill>
                  <a:srgbClr val="404154"/>
                </a:solidFill>
                <a:latin typeface="Microsoft Sans Serif"/>
                <a:cs typeface="Microsoft Sans Serif"/>
              </a:rPr>
              <a:t>freemium</a:t>
            </a:r>
            <a:r>
              <a:rPr dirty="0" sz="1400" spc="-3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60">
                <a:solidFill>
                  <a:srgbClr val="404154"/>
                </a:solidFill>
                <a:latin typeface="Microsoft Sans Serif"/>
                <a:cs typeface="Microsoft Sans Serif"/>
              </a:rPr>
              <a:t>para</a:t>
            </a:r>
            <a:r>
              <a:rPr dirty="0" sz="1400" spc="-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50">
                <a:solidFill>
                  <a:srgbClr val="404154"/>
                </a:solidFill>
                <a:latin typeface="Microsoft Sans Serif"/>
                <a:cs typeface="Microsoft Sans Serif"/>
              </a:rPr>
              <a:t>estudiantes que</a:t>
            </a:r>
            <a:r>
              <a:rPr dirty="0" sz="1400" spc="1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65">
                <a:solidFill>
                  <a:srgbClr val="404154"/>
                </a:solidFill>
                <a:latin typeface="Microsoft Sans Serif"/>
                <a:cs typeface="Microsoft Sans Serif"/>
              </a:rPr>
              <a:t>preparan</a:t>
            </a:r>
            <a:r>
              <a:rPr dirty="0" sz="1400" spc="10">
                <a:solidFill>
                  <a:srgbClr val="404154"/>
                </a:solidFill>
                <a:latin typeface="Microsoft Sans Serif"/>
                <a:cs typeface="Microsoft Sans Serif"/>
              </a:rPr>
              <a:t> exámenes</a:t>
            </a:r>
            <a:r>
              <a:rPr dirty="0" sz="1400" spc="-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10">
                <a:solidFill>
                  <a:srgbClr val="404154"/>
                </a:solidFill>
                <a:latin typeface="Microsoft Sans Serif"/>
                <a:cs typeface="Microsoft Sans Serif"/>
              </a:rPr>
              <a:t>de</a:t>
            </a:r>
            <a:r>
              <a:rPr dirty="0" sz="1400" spc="1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65">
                <a:solidFill>
                  <a:srgbClr val="404154"/>
                </a:solidFill>
                <a:latin typeface="Microsoft Sans Serif"/>
                <a:cs typeface="Microsoft Sans Serif"/>
              </a:rPr>
              <a:t>admisión</a:t>
            </a:r>
            <a:r>
              <a:rPr dirty="0" sz="1400" spc="2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10">
                <a:solidFill>
                  <a:srgbClr val="404154"/>
                </a:solidFill>
                <a:latin typeface="Microsoft Sans Serif"/>
                <a:cs typeface="Microsoft Sans Serif"/>
              </a:rPr>
              <a:t>(PAES),</a:t>
            </a:r>
            <a:r>
              <a:rPr dirty="0" sz="1400" spc="2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65">
                <a:solidFill>
                  <a:srgbClr val="404154"/>
                </a:solidFill>
                <a:latin typeface="Microsoft Sans Serif"/>
                <a:cs typeface="Microsoft Sans Serif"/>
              </a:rPr>
              <a:t>con</a:t>
            </a:r>
            <a:r>
              <a:rPr dirty="0" sz="1400" spc="3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60">
                <a:solidFill>
                  <a:srgbClr val="404154"/>
                </a:solidFill>
                <a:latin typeface="Microsoft Sans Serif"/>
                <a:cs typeface="Microsoft Sans Serif"/>
              </a:rPr>
              <a:t>gamificación </a:t>
            </a:r>
            <a:r>
              <a:rPr dirty="0" sz="1400" spc="75">
                <a:solidFill>
                  <a:srgbClr val="404154"/>
                </a:solidFill>
                <a:latin typeface="Microsoft Sans Serif"/>
                <a:cs typeface="Microsoft Sans Serif"/>
              </a:rPr>
              <a:t>mediante</a:t>
            </a:r>
            <a:r>
              <a:rPr dirty="0" sz="1400" spc="-3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404154"/>
                </a:solidFill>
                <a:latin typeface="Microsoft Sans Serif"/>
                <a:cs typeface="Microsoft Sans Serif"/>
              </a:rPr>
              <a:t>medallas.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8716" y="2562199"/>
            <a:ext cx="5633720" cy="583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700"/>
              </a:lnSpc>
              <a:spcBef>
                <a:spcPts val="100"/>
              </a:spcBef>
            </a:pPr>
            <a:r>
              <a:rPr dirty="0" sz="1400" b="1">
                <a:solidFill>
                  <a:srgbClr val="055A82"/>
                </a:solidFill>
                <a:latin typeface="Arial"/>
                <a:cs typeface="Arial"/>
              </a:rPr>
              <a:t>La</a:t>
            </a:r>
            <a:r>
              <a:rPr dirty="0" sz="1400" spc="-25" b="1">
                <a:solidFill>
                  <a:srgbClr val="055A82"/>
                </a:solidFill>
                <a:latin typeface="Arial"/>
                <a:cs typeface="Arial"/>
              </a:rPr>
              <a:t> </a:t>
            </a:r>
            <a:r>
              <a:rPr dirty="0" sz="1400" spc="105" b="1">
                <a:solidFill>
                  <a:srgbClr val="055A82"/>
                </a:solidFill>
                <a:latin typeface="Arial"/>
                <a:cs typeface="Arial"/>
              </a:rPr>
              <a:t>plataforma</a:t>
            </a:r>
            <a:r>
              <a:rPr dirty="0" sz="1400" spc="-65" b="1">
                <a:solidFill>
                  <a:srgbClr val="055A82"/>
                </a:solidFill>
                <a:latin typeface="Arial"/>
                <a:cs typeface="Arial"/>
              </a:rPr>
              <a:t> </a:t>
            </a:r>
            <a:r>
              <a:rPr dirty="0" sz="1400" spc="80" b="1">
                <a:solidFill>
                  <a:srgbClr val="055A82"/>
                </a:solidFill>
                <a:latin typeface="Arial"/>
                <a:cs typeface="Arial"/>
              </a:rPr>
              <a:t>no</a:t>
            </a:r>
            <a:r>
              <a:rPr dirty="0" sz="1400" spc="-15" b="1">
                <a:solidFill>
                  <a:srgbClr val="055A82"/>
                </a:solidFill>
                <a:latin typeface="Arial"/>
                <a:cs typeface="Arial"/>
              </a:rPr>
              <a:t> </a:t>
            </a:r>
            <a:r>
              <a:rPr dirty="0" sz="1400" spc="90" b="1">
                <a:solidFill>
                  <a:srgbClr val="055A82"/>
                </a:solidFill>
                <a:latin typeface="Arial"/>
                <a:cs typeface="Arial"/>
              </a:rPr>
              <a:t>puede</a:t>
            </a:r>
            <a:r>
              <a:rPr dirty="0" sz="1400" spc="-25" b="1">
                <a:solidFill>
                  <a:srgbClr val="055A82"/>
                </a:solidFill>
                <a:latin typeface="Arial"/>
                <a:cs typeface="Arial"/>
              </a:rPr>
              <a:t> </a:t>
            </a:r>
            <a:r>
              <a:rPr dirty="0" sz="1400" spc="75" b="1">
                <a:solidFill>
                  <a:srgbClr val="055A82"/>
                </a:solidFill>
                <a:latin typeface="Arial"/>
                <a:cs typeface="Arial"/>
              </a:rPr>
              <a:t>operar</a:t>
            </a:r>
            <a:r>
              <a:rPr dirty="0" sz="1400" spc="-40" b="1">
                <a:solidFill>
                  <a:srgbClr val="055A82"/>
                </a:solidFill>
                <a:latin typeface="Arial"/>
                <a:cs typeface="Arial"/>
              </a:rPr>
              <a:t> </a:t>
            </a:r>
            <a:r>
              <a:rPr dirty="0" sz="1400" spc="80" b="1">
                <a:solidFill>
                  <a:srgbClr val="055A82"/>
                </a:solidFill>
                <a:latin typeface="Arial"/>
                <a:cs typeface="Arial"/>
              </a:rPr>
              <a:t>sola:</a:t>
            </a:r>
            <a:r>
              <a:rPr dirty="0" sz="1400" spc="-60" b="1">
                <a:solidFill>
                  <a:srgbClr val="055A82"/>
                </a:solidFill>
                <a:latin typeface="Arial"/>
                <a:cs typeface="Arial"/>
              </a:rPr>
              <a:t> </a:t>
            </a:r>
            <a:r>
              <a:rPr dirty="0" sz="1400" spc="90" b="1">
                <a:solidFill>
                  <a:srgbClr val="055A82"/>
                </a:solidFill>
                <a:latin typeface="Arial"/>
                <a:cs typeface="Arial"/>
              </a:rPr>
              <a:t>el</a:t>
            </a:r>
            <a:r>
              <a:rPr dirty="0" sz="1400" spc="-35" b="1">
                <a:solidFill>
                  <a:srgbClr val="055A82"/>
                </a:solidFill>
                <a:latin typeface="Arial"/>
                <a:cs typeface="Arial"/>
              </a:rPr>
              <a:t> </a:t>
            </a:r>
            <a:r>
              <a:rPr dirty="0" sz="1400" spc="60" b="1">
                <a:solidFill>
                  <a:srgbClr val="055A82"/>
                </a:solidFill>
                <a:latin typeface="Arial"/>
                <a:cs typeface="Arial"/>
              </a:rPr>
              <a:t>negocio</a:t>
            </a:r>
            <a:r>
              <a:rPr dirty="0" sz="1400" spc="-40" b="1">
                <a:solidFill>
                  <a:srgbClr val="055A82"/>
                </a:solidFill>
                <a:latin typeface="Arial"/>
                <a:cs typeface="Arial"/>
              </a:rPr>
              <a:t> </a:t>
            </a:r>
            <a:r>
              <a:rPr dirty="0" sz="1400" spc="80" b="1">
                <a:solidFill>
                  <a:srgbClr val="055A82"/>
                </a:solidFill>
                <a:latin typeface="Arial"/>
                <a:cs typeface="Arial"/>
              </a:rPr>
              <a:t>necesita</a:t>
            </a:r>
            <a:r>
              <a:rPr dirty="0" sz="1400" spc="-50" b="1">
                <a:solidFill>
                  <a:srgbClr val="055A82"/>
                </a:solidFill>
                <a:latin typeface="Arial"/>
                <a:cs typeface="Arial"/>
              </a:rPr>
              <a:t> </a:t>
            </a:r>
            <a:r>
              <a:rPr dirty="0" sz="1400" spc="70" b="1">
                <a:solidFill>
                  <a:srgbClr val="055A82"/>
                </a:solidFill>
                <a:latin typeface="Arial"/>
                <a:cs typeface="Arial"/>
              </a:rPr>
              <a:t>una </a:t>
            </a:r>
            <a:r>
              <a:rPr dirty="0" sz="1400" spc="65" b="1">
                <a:solidFill>
                  <a:srgbClr val="055A82"/>
                </a:solidFill>
                <a:latin typeface="Arial"/>
                <a:cs typeface="Arial"/>
              </a:rPr>
              <a:t>consola</a:t>
            </a:r>
            <a:r>
              <a:rPr dirty="0" sz="1400" spc="-55" b="1">
                <a:solidFill>
                  <a:srgbClr val="055A82"/>
                </a:solidFill>
                <a:latin typeface="Arial"/>
                <a:cs typeface="Arial"/>
              </a:rPr>
              <a:t> </a:t>
            </a:r>
            <a:r>
              <a:rPr dirty="0" sz="1400" spc="80" b="1">
                <a:solidFill>
                  <a:srgbClr val="055A82"/>
                </a:solidFill>
                <a:latin typeface="Arial"/>
                <a:cs typeface="Arial"/>
              </a:rPr>
              <a:t>centralizada.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58304" y="3368421"/>
            <a:ext cx="410845" cy="410845"/>
            <a:chOff x="658304" y="3368421"/>
            <a:chExt cx="410845" cy="410845"/>
          </a:xfrm>
        </p:grpSpPr>
        <p:sp>
          <p:nvSpPr>
            <p:cNvPr id="6" name="object 6"/>
            <p:cNvSpPr/>
            <p:nvPr/>
          </p:nvSpPr>
          <p:spPr>
            <a:xfrm>
              <a:off x="661479" y="3371596"/>
              <a:ext cx="404495" cy="404495"/>
            </a:xfrm>
            <a:custGeom>
              <a:avLst/>
              <a:gdLst/>
              <a:ahLst/>
              <a:cxnLst/>
              <a:rect l="l" t="t" r="r" b="b"/>
              <a:pathLst>
                <a:path w="404494" h="404495">
                  <a:moveTo>
                    <a:pt x="328587" y="0"/>
                  </a:moveTo>
                  <a:lnTo>
                    <a:pt x="75412" y="0"/>
                  </a:lnTo>
                  <a:lnTo>
                    <a:pt x="46055" y="5927"/>
                  </a:lnTo>
                  <a:lnTo>
                    <a:pt x="22085" y="22082"/>
                  </a:lnTo>
                  <a:lnTo>
                    <a:pt x="5925" y="46023"/>
                  </a:lnTo>
                  <a:lnTo>
                    <a:pt x="0" y="75311"/>
                  </a:lnTo>
                  <a:lnTo>
                    <a:pt x="0" y="328548"/>
                  </a:lnTo>
                  <a:lnTo>
                    <a:pt x="5925" y="357909"/>
                  </a:lnTo>
                  <a:lnTo>
                    <a:pt x="22085" y="381888"/>
                  </a:lnTo>
                  <a:lnTo>
                    <a:pt x="46055" y="398057"/>
                  </a:lnTo>
                  <a:lnTo>
                    <a:pt x="75412" y="403986"/>
                  </a:lnTo>
                  <a:lnTo>
                    <a:pt x="328587" y="403986"/>
                  </a:lnTo>
                  <a:lnTo>
                    <a:pt x="357943" y="398057"/>
                  </a:lnTo>
                  <a:lnTo>
                    <a:pt x="381914" y="381888"/>
                  </a:lnTo>
                  <a:lnTo>
                    <a:pt x="398074" y="357909"/>
                  </a:lnTo>
                  <a:lnTo>
                    <a:pt x="403999" y="328548"/>
                  </a:lnTo>
                  <a:lnTo>
                    <a:pt x="403999" y="75311"/>
                  </a:lnTo>
                  <a:lnTo>
                    <a:pt x="398074" y="46023"/>
                  </a:lnTo>
                  <a:lnTo>
                    <a:pt x="381914" y="22082"/>
                  </a:lnTo>
                  <a:lnTo>
                    <a:pt x="357943" y="5927"/>
                  </a:lnTo>
                  <a:lnTo>
                    <a:pt x="328587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61479" y="3371596"/>
              <a:ext cx="404495" cy="404495"/>
            </a:xfrm>
            <a:custGeom>
              <a:avLst/>
              <a:gdLst/>
              <a:ahLst/>
              <a:cxnLst/>
              <a:rect l="l" t="t" r="r" b="b"/>
              <a:pathLst>
                <a:path w="404494" h="404495">
                  <a:moveTo>
                    <a:pt x="0" y="75311"/>
                  </a:moveTo>
                  <a:lnTo>
                    <a:pt x="5925" y="46023"/>
                  </a:lnTo>
                  <a:lnTo>
                    <a:pt x="22085" y="22082"/>
                  </a:lnTo>
                  <a:lnTo>
                    <a:pt x="46055" y="5927"/>
                  </a:lnTo>
                  <a:lnTo>
                    <a:pt x="75412" y="0"/>
                  </a:lnTo>
                  <a:lnTo>
                    <a:pt x="328587" y="0"/>
                  </a:lnTo>
                  <a:lnTo>
                    <a:pt x="357943" y="5927"/>
                  </a:lnTo>
                  <a:lnTo>
                    <a:pt x="381914" y="22082"/>
                  </a:lnTo>
                  <a:lnTo>
                    <a:pt x="398074" y="46023"/>
                  </a:lnTo>
                  <a:lnTo>
                    <a:pt x="403999" y="75311"/>
                  </a:lnTo>
                  <a:lnTo>
                    <a:pt x="403999" y="328548"/>
                  </a:lnTo>
                  <a:lnTo>
                    <a:pt x="398074" y="357909"/>
                  </a:lnTo>
                  <a:lnTo>
                    <a:pt x="381914" y="381888"/>
                  </a:lnTo>
                  <a:lnTo>
                    <a:pt x="357943" y="398057"/>
                  </a:lnTo>
                  <a:lnTo>
                    <a:pt x="328587" y="403986"/>
                  </a:lnTo>
                  <a:lnTo>
                    <a:pt x="75412" y="403986"/>
                  </a:lnTo>
                  <a:lnTo>
                    <a:pt x="46055" y="398057"/>
                  </a:lnTo>
                  <a:lnTo>
                    <a:pt x="22085" y="381888"/>
                  </a:lnTo>
                  <a:lnTo>
                    <a:pt x="5925" y="357909"/>
                  </a:lnTo>
                  <a:lnTo>
                    <a:pt x="0" y="328548"/>
                  </a:lnTo>
                  <a:lnTo>
                    <a:pt x="0" y="75311"/>
                  </a:lnTo>
                  <a:close/>
                </a:path>
              </a:pathLst>
            </a:custGeom>
            <a:ln w="6350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811174" y="3375786"/>
            <a:ext cx="10477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484">
                <a:solidFill>
                  <a:srgbClr val="404154"/>
                </a:solidFill>
                <a:latin typeface="Palatino Linotype"/>
                <a:cs typeface="Palatino Linotype"/>
              </a:rPr>
              <a:t>1</a:t>
            </a:r>
            <a:endParaRPr sz="2100">
              <a:latin typeface="Palatino Linotype"/>
              <a:cs typeface="Palatino Linotyp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23568" y="3448558"/>
            <a:ext cx="458025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55">
                <a:solidFill>
                  <a:srgbClr val="404154"/>
                </a:solidFill>
                <a:latin typeface="Microsoft Sans Serif"/>
                <a:cs typeface="Microsoft Sans Serif"/>
              </a:rPr>
              <a:t>Controlar</a:t>
            </a:r>
            <a:r>
              <a:rPr dirty="0" sz="1400" spc="1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404154"/>
                </a:solidFill>
                <a:latin typeface="Microsoft Sans Serif"/>
                <a:cs typeface="Microsoft Sans Serif"/>
              </a:rPr>
              <a:t>precios,</a:t>
            </a:r>
            <a:r>
              <a:rPr dirty="0" sz="1400" spc="4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50">
                <a:solidFill>
                  <a:srgbClr val="404154"/>
                </a:solidFill>
                <a:latin typeface="Microsoft Sans Serif"/>
                <a:cs typeface="Microsoft Sans Serif"/>
              </a:rPr>
              <a:t>límites</a:t>
            </a:r>
            <a:r>
              <a:rPr dirty="0" sz="1400" spc="3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60">
                <a:solidFill>
                  <a:srgbClr val="404154"/>
                </a:solidFill>
                <a:latin typeface="Microsoft Sans Serif"/>
                <a:cs typeface="Microsoft Sans Serif"/>
              </a:rPr>
              <a:t>y</a:t>
            </a:r>
            <a:r>
              <a:rPr dirty="0" sz="1400" spc="1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45">
                <a:solidFill>
                  <a:srgbClr val="404154"/>
                </a:solidFill>
                <a:latin typeface="Microsoft Sans Serif"/>
                <a:cs typeface="Microsoft Sans Serif"/>
              </a:rPr>
              <a:t>beneficios</a:t>
            </a:r>
            <a:r>
              <a:rPr dirty="0" sz="1400" spc="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404154"/>
                </a:solidFill>
                <a:latin typeface="Microsoft Sans Serif"/>
                <a:cs typeface="Microsoft Sans Serif"/>
              </a:rPr>
              <a:t>sin</a:t>
            </a:r>
            <a:r>
              <a:rPr dirty="0" sz="1400" spc="3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85">
                <a:solidFill>
                  <a:srgbClr val="404154"/>
                </a:solidFill>
                <a:latin typeface="Microsoft Sans Serif"/>
                <a:cs typeface="Microsoft Sans Serif"/>
              </a:rPr>
              <a:t>tocar</a:t>
            </a:r>
            <a:r>
              <a:rPr dirty="0" sz="1400" spc="3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50">
                <a:solidFill>
                  <a:srgbClr val="404154"/>
                </a:solidFill>
                <a:latin typeface="Microsoft Sans Serif"/>
                <a:cs typeface="Microsoft Sans Serif"/>
              </a:rPr>
              <a:t>código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58304" y="4113529"/>
            <a:ext cx="410845" cy="410845"/>
            <a:chOff x="658304" y="4113529"/>
            <a:chExt cx="410845" cy="410845"/>
          </a:xfrm>
        </p:grpSpPr>
        <p:sp>
          <p:nvSpPr>
            <p:cNvPr id="11" name="object 11"/>
            <p:cNvSpPr/>
            <p:nvPr/>
          </p:nvSpPr>
          <p:spPr>
            <a:xfrm>
              <a:off x="661479" y="4116704"/>
              <a:ext cx="404495" cy="404495"/>
            </a:xfrm>
            <a:custGeom>
              <a:avLst/>
              <a:gdLst/>
              <a:ahLst/>
              <a:cxnLst/>
              <a:rect l="l" t="t" r="r" b="b"/>
              <a:pathLst>
                <a:path w="404494" h="404495">
                  <a:moveTo>
                    <a:pt x="328587" y="0"/>
                  </a:moveTo>
                  <a:lnTo>
                    <a:pt x="75412" y="0"/>
                  </a:lnTo>
                  <a:lnTo>
                    <a:pt x="46055" y="5929"/>
                  </a:lnTo>
                  <a:lnTo>
                    <a:pt x="22085" y="22098"/>
                  </a:lnTo>
                  <a:lnTo>
                    <a:pt x="5925" y="46077"/>
                  </a:lnTo>
                  <a:lnTo>
                    <a:pt x="0" y="75438"/>
                  </a:lnTo>
                  <a:lnTo>
                    <a:pt x="0" y="328549"/>
                  </a:lnTo>
                  <a:lnTo>
                    <a:pt x="5925" y="357909"/>
                  </a:lnTo>
                  <a:lnTo>
                    <a:pt x="22085" y="381889"/>
                  </a:lnTo>
                  <a:lnTo>
                    <a:pt x="46055" y="398057"/>
                  </a:lnTo>
                  <a:lnTo>
                    <a:pt x="75412" y="403987"/>
                  </a:lnTo>
                  <a:lnTo>
                    <a:pt x="328587" y="403987"/>
                  </a:lnTo>
                  <a:lnTo>
                    <a:pt x="357943" y="398057"/>
                  </a:lnTo>
                  <a:lnTo>
                    <a:pt x="381914" y="381889"/>
                  </a:lnTo>
                  <a:lnTo>
                    <a:pt x="398074" y="357909"/>
                  </a:lnTo>
                  <a:lnTo>
                    <a:pt x="403999" y="328549"/>
                  </a:lnTo>
                  <a:lnTo>
                    <a:pt x="403999" y="75438"/>
                  </a:lnTo>
                  <a:lnTo>
                    <a:pt x="398074" y="46077"/>
                  </a:lnTo>
                  <a:lnTo>
                    <a:pt x="381914" y="22098"/>
                  </a:lnTo>
                  <a:lnTo>
                    <a:pt x="357943" y="5929"/>
                  </a:lnTo>
                  <a:lnTo>
                    <a:pt x="328587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61479" y="4116704"/>
              <a:ext cx="404495" cy="404495"/>
            </a:xfrm>
            <a:custGeom>
              <a:avLst/>
              <a:gdLst/>
              <a:ahLst/>
              <a:cxnLst/>
              <a:rect l="l" t="t" r="r" b="b"/>
              <a:pathLst>
                <a:path w="404494" h="404495">
                  <a:moveTo>
                    <a:pt x="0" y="75438"/>
                  </a:moveTo>
                  <a:lnTo>
                    <a:pt x="5925" y="46077"/>
                  </a:lnTo>
                  <a:lnTo>
                    <a:pt x="22085" y="22098"/>
                  </a:lnTo>
                  <a:lnTo>
                    <a:pt x="46055" y="5929"/>
                  </a:lnTo>
                  <a:lnTo>
                    <a:pt x="75412" y="0"/>
                  </a:lnTo>
                  <a:lnTo>
                    <a:pt x="328587" y="0"/>
                  </a:lnTo>
                  <a:lnTo>
                    <a:pt x="357943" y="5929"/>
                  </a:lnTo>
                  <a:lnTo>
                    <a:pt x="381914" y="22098"/>
                  </a:lnTo>
                  <a:lnTo>
                    <a:pt x="398074" y="46077"/>
                  </a:lnTo>
                  <a:lnTo>
                    <a:pt x="403999" y="75438"/>
                  </a:lnTo>
                  <a:lnTo>
                    <a:pt x="403999" y="328549"/>
                  </a:lnTo>
                  <a:lnTo>
                    <a:pt x="398074" y="357909"/>
                  </a:lnTo>
                  <a:lnTo>
                    <a:pt x="381914" y="381889"/>
                  </a:lnTo>
                  <a:lnTo>
                    <a:pt x="357943" y="398057"/>
                  </a:lnTo>
                  <a:lnTo>
                    <a:pt x="328587" y="403987"/>
                  </a:lnTo>
                  <a:lnTo>
                    <a:pt x="75412" y="403987"/>
                  </a:lnTo>
                  <a:lnTo>
                    <a:pt x="46055" y="398057"/>
                  </a:lnTo>
                  <a:lnTo>
                    <a:pt x="22085" y="381889"/>
                  </a:lnTo>
                  <a:lnTo>
                    <a:pt x="5925" y="357909"/>
                  </a:lnTo>
                  <a:lnTo>
                    <a:pt x="0" y="328549"/>
                  </a:lnTo>
                  <a:lnTo>
                    <a:pt x="0" y="75438"/>
                  </a:lnTo>
                  <a:close/>
                </a:path>
              </a:pathLst>
            </a:custGeom>
            <a:ln w="6350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780694" y="4121277"/>
            <a:ext cx="16510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0">
                <a:solidFill>
                  <a:srgbClr val="404154"/>
                </a:solidFill>
                <a:latin typeface="Palatino Linotype"/>
                <a:cs typeface="Palatino Linotype"/>
              </a:rPr>
              <a:t>2</a:t>
            </a:r>
            <a:endParaRPr sz="2100">
              <a:latin typeface="Palatino Linotype"/>
              <a:cs typeface="Palatino Linotyp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23568" y="4193794"/>
            <a:ext cx="37179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85">
                <a:solidFill>
                  <a:srgbClr val="404154"/>
                </a:solidFill>
                <a:latin typeface="Microsoft Sans Serif"/>
                <a:cs typeface="Microsoft Sans Serif"/>
              </a:rPr>
              <a:t>Monitorear</a:t>
            </a:r>
            <a:r>
              <a:rPr dirty="0" sz="1400" spc="-1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55">
                <a:solidFill>
                  <a:srgbClr val="404154"/>
                </a:solidFill>
                <a:latin typeface="Microsoft Sans Serif"/>
                <a:cs typeface="Microsoft Sans Serif"/>
              </a:rPr>
              <a:t>conversión</a:t>
            </a:r>
            <a:r>
              <a:rPr dirty="0" sz="1400" spc="1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60">
                <a:solidFill>
                  <a:srgbClr val="404154"/>
                </a:solidFill>
                <a:latin typeface="Microsoft Sans Serif"/>
                <a:cs typeface="Microsoft Sans Serif"/>
              </a:rPr>
              <a:t>y</a:t>
            </a:r>
            <a:r>
              <a:rPr dirty="0" sz="1400" spc="2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404154"/>
                </a:solidFill>
                <a:latin typeface="Microsoft Sans Serif"/>
                <a:cs typeface="Microsoft Sans Serif"/>
              </a:rPr>
              <a:t>uso</a:t>
            </a:r>
            <a:r>
              <a:rPr dirty="0" sz="1400" spc="3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404154"/>
                </a:solidFill>
                <a:latin typeface="Microsoft Sans Serif"/>
                <a:cs typeface="Microsoft Sans Serif"/>
              </a:rPr>
              <a:t>en</a:t>
            </a:r>
            <a:r>
              <a:rPr dirty="0" sz="1400" spc="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95">
                <a:solidFill>
                  <a:srgbClr val="404154"/>
                </a:solidFill>
                <a:latin typeface="Microsoft Sans Serif"/>
                <a:cs typeface="Microsoft Sans Serif"/>
              </a:rPr>
              <a:t>tiempo</a:t>
            </a:r>
            <a:r>
              <a:rPr dirty="0" sz="1400" spc="1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0">
                <a:solidFill>
                  <a:srgbClr val="404154"/>
                </a:solidFill>
                <a:latin typeface="Microsoft Sans Serif"/>
                <a:cs typeface="Microsoft Sans Serif"/>
              </a:rPr>
              <a:t>real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58304" y="4858639"/>
            <a:ext cx="410845" cy="410845"/>
            <a:chOff x="658304" y="4858639"/>
            <a:chExt cx="410845" cy="410845"/>
          </a:xfrm>
        </p:grpSpPr>
        <p:sp>
          <p:nvSpPr>
            <p:cNvPr id="16" name="object 16"/>
            <p:cNvSpPr/>
            <p:nvPr/>
          </p:nvSpPr>
          <p:spPr>
            <a:xfrm>
              <a:off x="661479" y="4861814"/>
              <a:ext cx="404495" cy="404495"/>
            </a:xfrm>
            <a:custGeom>
              <a:avLst/>
              <a:gdLst/>
              <a:ahLst/>
              <a:cxnLst/>
              <a:rect l="l" t="t" r="r" b="b"/>
              <a:pathLst>
                <a:path w="404494" h="404495">
                  <a:moveTo>
                    <a:pt x="328587" y="0"/>
                  </a:moveTo>
                  <a:lnTo>
                    <a:pt x="75412" y="0"/>
                  </a:lnTo>
                  <a:lnTo>
                    <a:pt x="46055" y="5929"/>
                  </a:lnTo>
                  <a:lnTo>
                    <a:pt x="22085" y="22098"/>
                  </a:lnTo>
                  <a:lnTo>
                    <a:pt x="5925" y="46077"/>
                  </a:lnTo>
                  <a:lnTo>
                    <a:pt x="0" y="75437"/>
                  </a:lnTo>
                  <a:lnTo>
                    <a:pt x="0" y="328549"/>
                  </a:lnTo>
                  <a:lnTo>
                    <a:pt x="5925" y="357909"/>
                  </a:lnTo>
                  <a:lnTo>
                    <a:pt x="22085" y="381889"/>
                  </a:lnTo>
                  <a:lnTo>
                    <a:pt x="46055" y="398057"/>
                  </a:lnTo>
                  <a:lnTo>
                    <a:pt x="75412" y="403987"/>
                  </a:lnTo>
                  <a:lnTo>
                    <a:pt x="328587" y="403987"/>
                  </a:lnTo>
                  <a:lnTo>
                    <a:pt x="357943" y="398057"/>
                  </a:lnTo>
                  <a:lnTo>
                    <a:pt x="381914" y="381888"/>
                  </a:lnTo>
                  <a:lnTo>
                    <a:pt x="398074" y="357909"/>
                  </a:lnTo>
                  <a:lnTo>
                    <a:pt x="403999" y="328549"/>
                  </a:lnTo>
                  <a:lnTo>
                    <a:pt x="403999" y="75437"/>
                  </a:lnTo>
                  <a:lnTo>
                    <a:pt x="398074" y="46077"/>
                  </a:lnTo>
                  <a:lnTo>
                    <a:pt x="381914" y="22097"/>
                  </a:lnTo>
                  <a:lnTo>
                    <a:pt x="357943" y="5929"/>
                  </a:lnTo>
                  <a:lnTo>
                    <a:pt x="328587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61479" y="4861814"/>
              <a:ext cx="404495" cy="404495"/>
            </a:xfrm>
            <a:custGeom>
              <a:avLst/>
              <a:gdLst/>
              <a:ahLst/>
              <a:cxnLst/>
              <a:rect l="l" t="t" r="r" b="b"/>
              <a:pathLst>
                <a:path w="404494" h="404495">
                  <a:moveTo>
                    <a:pt x="0" y="75437"/>
                  </a:moveTo>
                  <a:lnTo>
                    <a:pt x="5925" y="46077"/>
                  </a:lnTo>
                  <a:lnTo>
                    <a:pt x="22085" y="22098"/>
                  </a:lnTo>
                  <a:lnTo>
                    <a:pt x="46055" y="5929"/>
                  </a:lnTo>
                  <a:lnTo>
                    <a:pt x="75412" y="0"/>
                  </a:lnTo>
                  <a:lnTo>
                    <a:pt x="328587" y="0"/>
                  </a:lnTo>
                  <a:lnTo>
                    <a:pt x="357943" y="5929"/>
                  </a:lnTo>
                  <a:lnTo>
                    <a:pt x="381914" y="22097"/>
                  </a:lnTo>
                  <a:lnTo>
                    <a:pt x="398074" y="46077"/>
                  </a:lnTo>
                  <a:lnTo>
                    <a:pt x="403999" y="75437"/>
                  </a:lnTo>
                  <a:lnTo>
                    <a:pt x="403999" y="328549"/>
                  </a:lnTo>
                  <a:lnTo>
                    <a:pt x="398074" y="357909"/>
                  </a:lnTo>
                  <a:lnTo>
                    <a:pt x="381914" y="381888"/>
                  </a:lnTo>
                  <a:lnTo>
                    <a:pt x="357943" y="398057"/>
                  </a:lnTo>
                  <a:lnTo>
                    <a:pt x="328587" y="403987"/>
                  </a:lnTo>
                  <a:lnTo>
                    <a:pt x="75412" y="403987"/>
                  </a:lnTo>
                  <a:lnTo>
                    <a:pt x="46055" y="398057"/>
                  </a:lnTo>
                  <a:lnTo>
                    <a:pt x="22085" y="381889"/>
                  </a:lnTo>
                  <a:lnTo>
                    <a:pt x="5925" y="357909"/>
                  </a:lnTo>
                  <a:lnTo>
                    <a:pt x="0" y="328549"/>
                  </a:lnTo>
                  <a:lnTo>
                    <a:pt x="0" y="75437"/>
                  </a:lnTo>
                  <a:close/>
                </a:path>
              </a:pathLst>
            </a:custGeom>
            <a:ln w="6350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776122" y="4866513"/>
            <a:ext cx="17526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75">
                <a:solidFill>
                  <a:srgbClr val="404154"/>
                </a:solidFill>
                <a:latin typeface="Palatino Linotype"/>
                <a:cs typeface="Palatino Linotype"/>
              </a:rPr>
              <a:t>3</a:t>
            </a:r>
            <a:endParaRPr sz="2100">
              <a:latin typeface="Palatino Linotype"/>
              <a:cs typeface="Palatino Linotyp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23568" y="4938725"/>
            <a:ext cx="3808729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45">
                <a:solidFill>
                  <a:srgbClr val="404154"/>
                </a:solidFill>
                <a:latin typeface="Microsoft Sans Serif"/>
                <a:cs typeface="Microsoft Sans Serif"/>
              </a:rPr>
              <a:t>Gestionar</a:t>
            </a:r>
            <a:r>
              <a:rPr dirty="0" sz="1400" spc="9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10">
                <a:solidFill>
                  <a:srgbClr val="404154"/>
                </a:solidFill>
                <a:latin typeface="Microsoft Sans Serif"/>
                <a:cs typeface="Microsoft Sans Serif"/>
              </a:rPr>
              <a:t>alianzas</a:t>
            </a:r>
            <a:r>
              <a:rPr dirty="0" sz="1400" spc="7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10">
                <a:solidFill>
                  <a:srgbClr val="404154"/>
                </a:solidFill>
                <a:latin typeface="Microsoft Sans Serif"/>
                <a:cs typeface="Microsoft Sans Serif"/>
              </a:rPr>
              <a:t>comerciales</a:t>
            </a:r>
            <a:r>
              <a:rPr dirty="0" sz="1400" spc="9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65">
                <a:solidFill>
                  <a:srgbClr val="404154"/>
                </a:solidFill>
                <a:latin typeface="Microsoft Sans Serif"/>
                <a:cs typeface="Microsoft Sans Serif"/>
              </a:rPr>
              <a:t>con</a:t>
            </a:r>
            <a:r>
              <a:rPr dirty="0" sz="1400" spc="9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404154"/>
                </a:solidFill>
                <a:latin typeface="Microsoft Sans Serif"/>
                <a:cs typeface="Microsoft Sans Serif"/>
              </a:rPr>
              <a:t>sponsors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58304" y="5603773"/>
            <a:ext cx="410845" cy="410845"/>
            <a:chOff x="658304" y="5603773"/>
            <a:chExt cx="410845" cy="410845"/>
          </a:xfrm>
        </p:grpSpPr>
        <p:sp>
          <p:nvSpPr>
            <p:cNvPr id="21" name="object 21"/>
            <p:cNvSpPr/>
            <p:nvPr/>
          </p:nvSpPr>
          <p:spPr>
            <a:xfrm>
              <a:off x="661479" y="5606948"/>
              <a:ext cx="404495" cy="404495"/>
            </a:xfrm>
            <a:custGeom>
              <a:avLst/>
              <a:gdLst/>
              <a:ahLst/>
              <a:cxnLst/>
              <a:rect l="l" t="t" r="r" b="b"/>
              <a:pathLst>
                <a:path w="404494" h="404495">
                  <a:moveTo>
                    <a:pt x="328587" y="0"/>
                  </a:moveTo>
                  <a:lnTo>
                    <a:pt x="75412" y="0"/>
                  </a:lnTo>
                  <a:lnTo>
                    <a:pt x="46055" y="5927"/>
                  </a:lnTo>
                  <a:lnTo>
                    <a:pt x="22085" y="22090"/>
                  </a:lnTo>
                  <a:lnTo>
                    <a:pt x="5925" y="46061"/>
                  </a:lnTo>
                  <a:lnTo>
                    <a:pt x="0" y="75412"/>
                  </a:lnTo>
                  <a:lnTo>
                    <a:pt x="0" y="328599"/>
                  </a:lnTo>
                  <a:lnTo>
                    <a:pt x="5925" y="357958"/>
                  </a:lnTo>
                  <a:lnTo>
                    <a:pt x="22085" y="381933"/>
                  </a:lnTo>
                  <a:lnTo>
                    <a:pt x="46055" y="398097"/>
                  </a:lnTo>
                  <a:lnTo>
                    <a:pt x="75412" y="404025"/>
                  </a:lnTo>
                  <a:lnTo>
                    <a:pt x="328587" y="404025"/>
                  </a:lnTo>
                  <a:lnTo>
                    <a:pt x="357943" y="398097"/>
                  </a:lnTo>
                  <a:lnTo>
                    <a:pt x="381914" y="381933"/>
                  </a:lnTo>
                  <a:lnTo>
                    <a:pt x="398074" y="357958"/>
                  </a:lnTo>
                  <a:lnTo>
                    <a:pt x="403999" y="328599"/>
                  </a:lnTo>
                  <a:lnTo>
                    <a:pt x="403999" y="75412"/>
                  </a:lnTo>
                  <a:lnTo>
                    <a:pt x="398074" y="46061"/>
                  </a:lnTo>
                  <a:lnTo>
                    <a:pt x="381914" y="22090"/>
                  </a:lnTo>
                  <a:lnTo>
                    <a:pt x="357943" y="5927"/>
                  </a:lnTo>
                  <a:lnTo>
                    <a:pt x="328587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61479" y="5606948"/>
              <a:ext cx="404495" cy="404495"/>
            </a:xfrm>
            <a:custGeom>
              <a:avLst/>
              <a:gdLst/>
              <a:ahLst/>
              <a:cxnLst/>
              <a:rect l="l" t="t" r="r" b="b"/>
              <a:pathLst>
                <a:path w="404494" h="404495">
                  <a:moveTo>
                    <a:pt x="0" y="75412"/>
                  </a:moveTo>
                  <a:lnTo>
                    <a:pt x="5925" y="46061"/>
                  </a:lnTo>
                  <a:lnTo>
                    <a:pt x="22085" y="22090"/>
                  </a:lnTo>
                  <a:lnTo>
                    <a:pt x="46055" y="5927"/>
                  </a:lnTo>
                  <a:lnTo>
                    <a:pt x="75412" y="0"/>
                  </a:lnTo>
                  <a:lnTo>
                    <a:pt x="328587" y="0"/>
                  </a:lnTo>
                  <a:lnTo>
                    <a:pt x="357943" y="5927"/>
                  </a:lnTo>
                  <a:lnTo>
                    <a:pt x="381914" y="22090"/>
                  </a:lnTo>
                  <a:lnTo>
                    <a:pt x="398074" y="46061"/>
                  </a:lnTo>
                  <a:lnTo>
                    <a:pt x="403999" y="75412"/>
                  </a:lnTo>
                  <a:lnTo>
                    <a:pt x="403999" y="328599"/>
                  </a:lnTo>
                  <a:lnTo>
                    <a:pt x="398074" y="357958"/>
                  </a:lnTo>
                  <a:lnTo>
                    <a:pt x="381914" y="381933"/>
                  </a:lnTo>
                  <a:lnTo>
                    <a:pt x="357943" y="398097"/>
                  </a:lnTo>
                  <a:lnTo>
                    <a:pt x="328587" y="404025"/>
                  </a:lnTo>
                  <a:lnTo>
                    <a:pt x="75412" y="404025"/>
                  </a:lnTo>
                  <a:lnTo>
                    <a:pt x="46055" y="398097"/>
                  </a:lnTo>
                  <a:lnTo>
                    <a:pt x="22085" y="381933"/>
                  </a:lnTo>
                  <a:lnTo>
                    <a:pt x="5925" y="357958"/>
                  </a:lnTo>
                  <a:lnTo>
                    <a:pt x="0" y="328599"/>
                  </a:lnTo>
                  <a:lnTo>
                    <a:pt x="0" y="75412"/>
                  </a:lnTo>
                  <a:close/>
                </a:path>
              </a:pathLst>
            </a:custGeom>
            <a:ln w="6350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782218" y="5611774"/>
            <a:ext cx="16129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0">
                <a:solidFill>
                  <a:srgbClr val="404154"/>
                </a:solidFill>
                <a:latin typeface="Palatino Linotype"/>
                <a:cs typeface="Palatino Linotype"/>
              </a:rPr>
              <a:t>4</a:t>
            </a:r>
            <a:endParaRPr sz="2100">
              <a:latin typeface="Palatino Linotype"/>
              <a:cs typeface="Palatino Linotyp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23568" y="5684621"/>
            <a:ext cx="37509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80">
                <a:solidFill>
                  <a:srgbClr val="404154"/>
                </a:solidFill>
                <a:latin typeface="Microsoft Sans Serif"/>
                <a:cs typeface="Microsoft Sans Serif"/>
              </a:rPr>
              <a:t>Administrar</a:t>
            </a:r>
            <a:r>
              <a:rPr dirty="0" sz="1400" spc="4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404154"/>
                </a:solidFill>
                <a:latin typeface="Microsoft Sans Serif"/>
                <a:cs typeface="Microsoft Sans Serif"/>
              </a:rPr>
              <a:t>usuarios,</a:t>
            </a:r>
            <a:r>
              <a:rPr dirty="0" sz="1400" spc="4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70">
                <a:solidFill>
                  <a:srgbClr val="404154"/>
                </a:solidFill>
                <a:latin typeface="Microsoft Sans Serif"/>
                <a:cs typeface="Microsoft Sans Serif"/>
              </a:rPr>
              <a:t>moderación</a:t>
            </a:r>
            <a:r>
              <a:rPr dirty="0" sz="1400" spc="3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60">
                <a:solidFill>
                  <a:srgbClr val="404154"/>
                </a:solidFill>
                <a:latin typeface="Microsoft Sans Serif"/>
                <a:cs typeface="Microsoft Sans Serif"/>
              </a:rPr>
              <a:t>y</a:t>
            </a:r>
            <a:r>
              <a:rPr dirty="0" sz="1400" spc="3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60">
                <a:solidFill>
                  <a:srgbClr val="404154"/>
                </a:solidFill>
                <a:latin typeface="Microsoft Sans Serif"/>
                <a:cs typeface="Microsoft Sans Serif"/>
              </a:rPr>
              <a:t>soporte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757161" y="1472183"/>
            <a:ext cx="4909185" cy="4730750"/>
          </a:xfrm>
          <a:custGeom>
            <a:avLst/>
            <a:gdLst/>
            <a:ahLst/>
            <a:cxnLst/>
            <a:rect l="l" t="t" r="r" b="b"/>
            <a:pathLst>
              <a:path w="4909184" h="4730750">
                <a:moveTo>
                  <a:pt x="4779391" y="0"/>
                </a:moveTo>
                <a:lnTo>
                  <a:pt x="129286" y="0"/>
                </a:lnTo>
                <a:lnTo>
                  <a:pt x="78974" y="10163"/>
                </a:lnTo>
                <a:lnTo>
                  <a:pt x="37877" y="37877"/>
                </a:lnTo>
                <a:lnTo>
                  <a:pt x="10163" y="78974"/>
                </a:lnTo>
                <a:lnTo>
                  <a:pt x="0" y="129286"/>
                </a:lnTo>
                <a:lnTo>
                  <a:pt x="0" y="4601387"/>
                </a:lnTo>
                <a:lnTo>
                  <a:pt x="10163" y="4651710"/>
                </a:lnTo>
                <a:lnTo>
                  <a:pt x="37877" y="4692805"/>
                </a:lnTo>
                <a:lnTo>
                  <a:pt x="78974" y="4720513"/>
                </a:lnTo>
                <a:lnTo>
                  <a:pt x="129286" y="4730673"/>
                </a:lnTo>
                <a:lnTo>
                  <a:pt x="4779391" y="4730673"/>
                </a:lnTo>
                <a:lnTo>
                  <a:pt x="4829702" y="4720513"/>
                </a:lnTo>
                <a:lnTo>
                  <a:pt x="4870799" y="4692805"/>
                </a:lnTo>
                <a:lnTo>
                  <a:pt x="4898513" y="4651710"/>
                </a:lnTo>
                <a:lnTo>
                  <a:pt x="4908677" y="4601387"/>
                </a:lnTo>
                <a:lnTo>
                  <a:pt x="4908677" y="129286"/>
                </a:lnTo>
                <a:lnTo>
                  <a:pt x="4898513" y="78974"/>
                </a:lnTo>
                <a:lnTo>
                  <a:pt x="4870799" y="37877"/>
                </a:lnTo>
                <a:lnTo>
                  <a:pt x="4829702" y="10163"/>
                </a:lnTo>
                <a:lnTo>
                  <a:pt x="4779391" y="0"/>
                </a:lnTo>
                <a:close/>
              </a:path>
            </a:pathLst>
          </a:custGeom>
          <a:solidFill>
            <a:srgbClr val="20295C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924802" y="1616710"/>
            <a:ext cx="2170430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solidFill>
                  <a:srgbClr val="FFFFFF"/>
                </a:solidFill>
                <a:latin typeface="Palatino Linotype"/>
                <a:cs typeface="Palatino Linotype"/>
              </a:rPr>
              <a:t>Aprueba</a:t>
            </a:r>
            <a:r>
              <a:rPr dirty="0" sz="1750" spc="-9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1750" spc="55">
                <a:solidFill>
                  <a:srgbClr val="FFFFFF"/>
                </a:solidFill>
                <a:latin typeface="Palatino Linotype"/>
                <a:cs typeface="Palatino Linotype"/>
              </a:rPr>
              <a:t>en</a:t>
            </a:r>
            <a:r>
              <a:rPr dirty="0" sz="1750" spc="-9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1750" spc="55">
                <a:solidFill>
                  <a:srgbClr val="FFFFFF"/>
                </a:solidFill>
                <a:latin typeface="Palatino Linotype"/>
                <a:cs typeface="Palatino Linotype"/>
              </a:rPr>
              <a:t>números</a:t>
            </a:r>
            <a:endParaRPr sz="1750">
              <a:latin typeface="Palatino Linotype"/>
              <a:cs typeface="Palatino Linotype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915822" y="2094269"/>
            <a:ext cx="2233930" cy="1465580"/>
            <a:chOff x="6915822" y="2094269"/>
            <a:chExt cx="2233930" cy="1465580"/>
          </a:xfrm>
        </p:grpSpPr>
        <p:sp>
          <p:nvSpPr>
            <p:cNvPr id="28" name="object 28"/>
            <p:cNvSpPr/>
            <p:nvPr/>
          </p:nvSpPr>
          <p:spPr>
            <a:xfrm>
              <a:off x="6941222" y="2119669"/>
              <a:ext cx="2183130" cy="1414780"/>
            </a:xfrm>
            <a:custGeom>
              <a:avLst/>
              <a:gdLst/>
              <a:ahLst/>
              <a:cxnLst/>
              <a:rect l="l" t="t" r="r" b="b"/>
              <a:pathLst>
                <a:path w="2183129" h="1414779">
                  <a:moveTo>
                    <a:pt x="2120303" y="0"/>
                  </a:moveTo>
                  <a:lnTo>
                    <a:pt x="101237" y="0"/>
                  </a:lnTo>
                  <a:lnTo>
                    <a:pt x="61831" y="7941"/>
                  </a:lnTo>
                  <a:lnTo>
                    <a:pt x="29651" y="29596"/>
                  </a:lnTo>
                  <a:lnTo>
                    <a:pt x="7955" y="61708"/>
                  </a:lnTo>
                  <a:lnTo>
                    <a:pt x="0" y="101022"/>
                  </a:lnTo>
                  <a:lnTo>
                    <a:pt x="0" y="1313302"/>
                  </a:lnTo>
                  <a:lnTo>
                    <a:pt x="7956" y="1352623"/>
                  </a:lnTo>
                  <a:lnTo>
                    <a:pt x="29652" y="1384734"/>
                  </a:lnTo>
                  <a:lnTo>
                    <a:pt x="61831" y="1406383"/>
                  </a:lnTo>
                  <a:lnTo>
                    <a:pt x="101237" y="1414322"/>
                  </a:lnTo>
                  <a:lnTo>
                    <a:pt x="2120304" y="1414322"/>
                  </a:lnTo>
                  <a:lnTo>
                    <a:pt x="2144684" y="1409411"/>
                  </a:lnTo>
                  <a:lnTo>
                    <a:pt x="2164596" y="1396018"/>
                  </a:lnTo>
                  <a:lnTo>
                    <a:pt x="2178021" y="1376154"/>
                  </a:lnTo>
                  <a:lnTo>
                    <a:pt x="2182945" y="1351827"/>
                  </a:lnTo>
                  <a:lnTo>
                    <a:pt x="2182944" y="62507"/>
                  </a:lnTo>
                  <a:lnTo>
                    <a:pt x="2178021" y="38179"/>
                  </a:lnTo>
                  <a:lnTo>
                    <a:pt x="2164595" y="18310"/>
                  </a:lnTo>
                  <a:lnTo>
                    <a:pt x="2144683" y="4913"/>
                  </a:lnTo>
                  <a:lnTo>
                    <a:pt x="2120303" y="0"/>
                  </a:lnTo>
                  <a:close/>
                </a:path>
              </a:pathLst>
            </a:custGeom>
            <a:solidFill>
              <a:srgbClr val="20295C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941222" y="2119669"/>
              <a:ext cx="2183130" cy="1414780"/>
            </a:xfrm>
            <a:custGeom>
              <a:avLst/>
              <a:gdLst/>
              <a:ahLst/>
              <a:cxnLst/>
              <a:rect l="l" t="t" r="r" b="b"/>
              <a:pathLst>
                <a:path w="2183129" h="1414779">
                  <a:moveTo>
                    <a:pt x="60303" y="8969"/>
                  </a:moveTo>
                  <a:lnTo>
                    <a:pt x="62513" y="7803"/>
                  </a:lnTo>
                </a:path>
                <a:path w="2183129" h="1414779">
                  <a:moveTo>
                    <a:pt x="101237" y="0"/>
                  </a:moveTo>
                  <a:lnTo>
                    <a:pt x="2120303" y="0"/>
                  </a:lnTo>
                </a:path>
                <a:path w="2183129" h="1414779">
                  <a:moveTo>
                    <a:pt x="2182944" y="62507"/>
                  </a:moveTo>
                  <a:lnTo>
                    <a:pt x="2182947" y="1351830"/>
                  </a:lnTo>
                </a:path>
                <a:path w="2183129" h="1414779">
                  <a:moveTo>
                    <a:pt x="2120304" y="1414322"/>
                  </a:moveTo>
                  <a:lnTo>
                    <a:pt x="101237" y="1414322"/>
                  </a:lnTo>
                </a:path>
                <a:path w="2183129" h="1414779">
                  <a:moveTo>
                    <a:pt x="0" y="1313301"/>
                  </a:moveTo>
                  <a:lnTo>
                    <a:pt x="0" y="101021"/>
                  </a:lnTo>
                </a:path>
                <a:path w="2183129" h="1414779">
                  <a:moveTo>
                    <a:pt x="7814" y="62404"/>
                  </a:moveTo>
                  <a:lnTo>
                    <a:pt x="8041" y="61753"/>
                  </a:lnTo>
                </a:path>
              </a:pathLst>
            </a:custGeom>
            <a:ln w="50565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941222" y="2119669"/>
              <a:ext cx="101600" cy="1414780"/>
            </a:xfrm>
            <a:custGeom>
              <a:avLst/>
              <a:gdLst/>
              <a:ahLst/>
              <a:cxnLst/>
              <a:rect l="l" t="t" r="r" b="b"/>
              <a:pathLst>
                <a:path w="101600" h="1414779">
                  <a:moveTo>
                    <a:pt x="101237" y="0"/>
                  </a:moveTo>
                  <a:lnTo>
                    <a:pt x="62624" y="0"/>
                  </a:lnTo>
                  <a:lnTo>
                    <a:pt x="18342" y="18310"/>
                  </a:lnTo>
                  <a:lnTo>
                    <a:pt x="0" y="62507"/>
                  </a:lnTo>
                  <a:lnTo>
                    <a:pt x="0" y="1351827"/>
                  </a:lnTo>
                  <a:lnTo>
                    <a:pt x="18343" y="1396018"/>
                  </a:lnTo>
                  <a:lnTo>
                    <a:pt x="62624" y="1414322"/>
                  </a:lnTo>
                  <a:lnTo>
                    <a:pt x="101237" y="1414322"/>
                  </a:lnTo>
                  <a:lnTo>
                    <a:pt x="101237" y="0"/>
                  </a:lnTo>
                  <a:close/>
                </a:path>
              </a:pathLst>
            </a:custGeom>
            <a:solidFill>
              <a:srgbClr val="4867E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7231506" y="2294381"/>
            <a:ext cx="796290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10">
                <a:solidFill>
                  <a:srgbClr val="FFFFFF"/>
                </a:solidFill>
                <a:latin typeface="Palatino Linotype"/>
                <a:cs typeface="Palatino Linotype"/>
              </a:rPr>
              <a:t>Modelo</a:t>
            </a:r>
            <a:endParaRPr sz="1750">
              <a:latin typeface="Palatino Linotype"/>
              <a:cs typeface="Palatino Linotyp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231506" y="2723235"/>
            <a:ext cx="1169035" cy="583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700"/>
              </a:lnSpc>
              <a:spcBef>
                <a:spcPts val="100"/>
              </a:spcBef>
            </a:pPr>
            <a:r>
              <a:rPr dirty="0" sz="1400" spc="55">
                <a:solidFill>
                  <a:srgbClr val="FFFFFF"/>
                </a:solidFill>
                <a:latin typeface="Microsoft Sans Serif"/>
                <a:cs typeface="Microsoft Sans Serif"/>
              </a:rPr>
              <a:t>Freemium</a:t>
            </a:r>
            <a:r>
              <a:rPr dirty="0" sz="1400" spc="-50">
                <a:solidFill>
                  <a:srgbClr val="FFFFFF"/>
                </a:solidFill>
                <a:latin typeface="Microsoft Sans Serif"/>
                <a:cs typeface="Microsoft Sans Serif"/>
              </a:rPr>
              <a:t> + </a:t>
            </a:r>
            <a:r>
              <a:rPr dirty="0" sz="1400" spc="-10">
                <a:solidFill>
                  <a:srgbClr val="FFFFFF"/>
                </a:solidFill>
                <a:latin typeface="Microsoft Sans Serif"/>
                <a:cs typeface="Microsoft Sans Serif"/>
              </a:rPr>
              <a:t>suscripciones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9275863" y="2094269"/>
            <a:ext cx="2233930" cy="1465580"/>
            <a:chOff x="9275863" y="2094269"/>
            <a:chExt cx="2233930" cy="1465580"/>
          </a:xfrm>
        </p:grpSpPr>
        <p:sp>
          <p:nvSpPr>
            <p:cNvPr id="34" name="object 34"/>
            <p:cNvSpPr/>
            <p:nvPr/>
          </p:nvSpPr>
          <p:spPr>
            <a:xfrm>
              <a:off x="9301263" y="2119669"/>
              <a:ext cx="2183130" cy="1414780"/>
            </a:xfrm>
            <a:custGeom>
              <a:avLst/>
              <a:gdLst/>
              <a:ahLst/>
              <a:cxnLst/>
              <a:rect l="l" t="t" r="r" b="b"/>
              <a:pathLst>
                <a:path w="2183129" h="1414779">
                  <a:moveTo>
                    <a:pt x="2120392" y="0"/>
                  </a:moveTo>
                  <a:lnTo>
                    <a:pt x="101241" y="0"/>
                  </a:lnTo>
                  <a:lnTo>
                    <a:pt x="61833" y="7941"/>
                  </a:lnTo>
                  <a:lnTo>
                    <a:pt x="29653" y="29596"/>
                  </a:lnTo>
                  <a:lnTo>
                    <a:pt x="7956" y="61708"/>
                  </a:lnTo>
                  <a:lnTo>
                    <a:pt x="0" y="101022"/>
                  </a:lnTo>
                  <a:lnTo>
                    <a:pt x="0" y="1313302"/>
                  </a:lnTo>
                  <a:lnTo>
                    <a:pt x="7956" y="1352623"/>
                  </a:lnTo>
                  <a:lnTo>
                    <a:pt x="29653" y="1384734"/>
                  </a:lnTo>
                  <a:lnTo>
                    <a:pt x="61834" y="1406383"/>
                  </a:lnTo>
                  <a:lnTo>
                    <a:pt x="101241" y="1414322"/>
                  </a:lnTo>
                  <a:lnTo>
                    <a:pt x="2120392" y="1414322"/>
                  </a:lnTo>
                  <a:lnTo>
                    <a:pt x="2144773" y="1409411"/>
                  </a:lnTo>
                  <a:lnTo>
                    <a:pt x="2164686" y="1396018"/>
                  </a:lnTo>
                  <a:lnTo>
                    <a:pt x="2178112" y="1376154"/>
                  </a:lnTo>
                  <a:lnTo>
                    <a:pt x="2183036" y="1351827"/>
                  </a:lnTo>
                  <a:lnTo>
                    <a:pt x="2183035" y="62507"/>
                  </a:lnTo>
                  <a:lnTo>
                    <a:pt x="2178112" y="38179"/>
                  </a:lnTo>
                  <a:lnTo>
                    <a:pt x="2164685" y="18310"/>
                  </a:lnTo>
                  <a:lnTo>
                    <a:pt x="2144773" y="4913"/>
                  </a:lnTo>
                  <a:lnTo>
                    <a:pt x="2120392" y="0"/>
                  </a:lnTo>
                  <a:close/>
                </a:path>
              </a:pathLst>
            </a:custGeom>
            <a:solidFill>
              <a:srgbClr val="20295C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9301263" y="2119669"/>
              <a:ext cx="2183130" cy="1414780"/>
            </a:xfrm>
            <a:custGeom>
              <a:avLst/>
              <a:gdLst/>
              <a:ahLst/>
              <a:cxnLst/>
              <a:rect l="l" t="t" r="r" b="b"/>
              <a:pathLst>
                <a:path w="2183129" h="1414779">
                  <a:moveTo>
                    <a:pt x="60305" y="8969"/>
                  </a:moveTo>
                  <a:lnTo>
                    <a:pt x="62516" y="7803"/>
                  </a:lnTo>
                </a:path>
                <a:path w="2183129" h="1414779">
                  <a:moveTo>
                    <a:pt x="101241" y="0"/>
                  </a:moveTo>
                  <a:lnTo>
                    <a:pt x="2120392" y="0"/>
                  </a:lnTo>
                </a:path>
                <a:path w="2183129" h="1414779">
                  <a:moveTo>
                    <a:pt x="2183035" y="62507"/>
                  </a:moveTo>
                  <a:lnTo>
                    <a:pt x="2183038" y="1351830"/>
                  </a:lnTo>
                </a:path>
                <a:path w="2183129" h="1414779">
                  <a:moveTo>
                    <a:pt x="2120392" y="1414322"/>
                  </a:moveTo>
                  <a:lnTo>
                    <a:pt x="101241" y="1414322"/>
                  </a:lnTo>
                </a:path>
                <a:path w="2183129" h="1414779">
                  <a:moveTo>
                    <a:pt x="0" y="1313301"/>
                  </a:moveTo>
                  <a:lnTo>
                    <a:pt x="0" y="101021"/>
                  </a:lnTo>
                </a:path>
                <a:path w="2183129" h="1414779">
                  <a:moveTo>
                    <a:pt x="7815" y="62404"/>
                  </a:moveTo>
                  <a:lnTo>
                    <a:pt x="8041" y="61753"/>
                  </a:lnTo>
                </a:path>
              </a:pathLst>
            </a:custGeom>
            <a:ln w="50566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9301263" y="2119669"/>
              <a:ext cx="101600" cy="1414780"/>
            </a:xfrm>
            <a:custGeom>
              <a:avLst/>
              <a:gdLst/>
              <a:ahLst/>
              <a:cxnLst/>
              <a:rect l="l" t="t" r="r" b="b"/>
              <a:pathLst>
                <a:path w="101600" h="1414779">
                  <a:moveTo>
                    <a:pt x="101241" y="0"/>
                  </a:moveTo>
                  <a:lnTo>
                    <a:pt x="62626" y="0"/>
                  </a:lnTo>
                  <a:lnTo>
                    <a:pt x="18343" y="18310"/>
                  </a:lnTo>
                  <a:lnTo>
                    <a:pt x="0" y="62507"/>
                  </a:lnTo>
                  <a:lnTo>
                    <a:pt x="0" y="1351827"/>
                  </a:lnTo>
                  <a:lnTo>
                    <a:pt x="18344" y="1396018"/>
                  </a:lnTo>
                  <a:lnTo>
                    <a:pt x="62627" y="1414322"/>
                  </a:lnTo>
                  <a:lnTo>
                    <a:pt x="101241" y="1414322"/>
                  </a:lnTo>
                  <a:lnTo>
                    <a:pt x="101241" y="0"/>
                  </a:lnTo>
                  <a:close/>
                </a:path>
              </a:pathLst>
            </a:custGeom>
            <a:solidFill>
              <a:srgbClr val="4867E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94366" y="2424810"/>
              <a:ext cx="136525" cy="107950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9591802" y="2294381"/>
            <a:ext cx="1224280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solidFill>
                  <a:srgbClr val="FFFFFF"/>
                </a:solidFill>
                <a:latin typeface="Palatino Linotype"/>
                <a:cs typeface="Palatino Linotype"/>
              </a:rPr>
              <a:t>Moti</a:t>
            </a:r>
            <a:r>
              <a:rPr dirty="0" sz="1750" spc="160">
                <a:solidFill>
                  <a:srgbClr val="FFFFFF"/>
                </a:solidFill>
                <a:latin typeface="Palatino Linotype"/>
                <a:cs typeface="Palatino Linotype"/>
              </a:rPr>
              <a:t>  </a:t>
            </a:r>
            <a:r>
              <a:rPr dirty="0" sz="1750" spc="60">
                <a:solidFill>
                  <a:srgbClr val="FFFFFF"/>
                </a:solidFill>
                <a:latin typeface="Palatino Linotype"/>
                <a:cs typeface="Palatino Linotype"/>
              </a:rPr>
              <a:t>ación</a:t>
            </a:r>
            <a:endParaRPr sz="1750">
              <a:latin typeface="Palatino Linotype"/>
              <a:cs typeface="Palatino Linotype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591802" y="2723235"/>
            <a:ext cx="1507490" cy="583565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1400" spc="55">
                <a:solidFill>
                  <a:srgbClr val="FFFFFF"/>
                </a:solidFill>
                <a:latin typeface="Microsoft Sans Serif"/>
                <a:cs typeface="Microsoft Sans Serif"/>
              </a:rPr>
              <a:t>Gamificación</a:t>
            </a:r>
            <a:r>
              <a:rPr dirty="0" sz="1400" spc="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35">
                <a:solidFill>
                  <a:srgbClr val="FFFFFF"/>
                </a:solidFill>
                <a:latin typeface="Microsoft Sans Serif"/>
                <a:cs typeface="Microsoft Sans Serif"/>
              </a:rPr>
              <a:t>con</a:t>
            </a: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1400" spc="-10">
                <a:solidFill>
                  <a:srgbClr val="FFFFFF"/>
                </a:solidFill>
                <a:latin typeface="Microsoft Sans Serif"/>
                <a:cs typeface="Microsoft Sans Serif"/>
              </a:rPr>
              <a:t>medallas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915822" y="3685833"/>
            <a:ext cx="2233930" cy="1465580"/>
            <a:chOff x="6915822" y="3685833"/>
            <a:chExt cx="2233930" cy="1465580"/>
          </a:xfrm>
        </p:grpSpPr>
        <p:sp>
          <p:nvSpPr>
            <p:cNvPr id="41" name="object 41"/>
            <p:cNvSpPr/>
            <p:nvPr/>
          </p:nvSpPr>
          <p:spPr>
            <a:xfrm>
              <a:off x="6941222" y="3711233"/>
              <a:ext cx="2183130" cy="1414780"/>
            </a:xfrm>
            <a:custGeom>
              <a:avLst/>
              <a:gdLst/>
              <a:ahLst/>
              <a:cxnLst/>
              <a:rect l="l" t="t" r="r" b="b"/>
              <a:pathLst>
                <a:path w="2183129" h="1414779">
                  <a:moveTo>
                    <a:pt x="2120303" y="0"/>
                  </a:moveTo>
                  <a:lnTo>
                    <a:pt x="101237" y="0"/>
                  </a:lnTo>
                  <a:lnTo>
                    <a:pt x="61831" y="7941"/>
                  </a:lnTo>
                  <a:lnTo>
                    <a:pt x="29651" y="29596"/>
                  </a:lnTo>
                  <a:lnTo>
                    <a:pt x="7955" y="61708"/>
                  </a:lnTo>
                  <a:lnTo>
                    <a:pt x="0" y="101022"/>
                  </a:lnTo>
                  <a:lnTo>
                    <a:pt x="0" y="1313302"/>
                  </a:lnTo>
                  <a:lnTo>
                    <a:pt x="7956" y="1352623"/>
                  </a:lnTo>
                  <a:lnTo>
                    <a:pt x="29652" y="1384734"/>
                  </a:lnTo>
                  <a:lnTo>
                    <a:pt x="61831" y="1406383"/>
                  </a:lnTo>
                  <a:lnTo>
                    <a:pt x="101237" y="1414322"/>
                  </a:lnTo>
                  <a:lnTo>
                    <a:pt x="2120304" y="1414322"/>
                  </a:lnTo>
                  <a:lnTo>
                    <a:pt x="2144684" y="1409411"/>
                  </a:lnTo>
                  <a:lnTo>
                    <a:pt x="2164596" y="1396018"/>
                  </a:lnTo>
                  <a:lnTo>
                    <a:pt x="2178021" y="1376154"/>
                  </a:lnTo>
                  <a:lnTo>
                    <a:pt x="2182945" y="1351827"/>
                  </a:lnTo>
                  <a:lnTo>
                    <a:pt x="2182944" y="62507"/>
                  </a:lnTo>
                  <a:lnTo>
                    <a:pt x="2178021" y="38179"/>
                  </a:lnTo>
                  <a:lnTo>
                    <a:pt x="2164595" y="18310"/>
                  </a:lnTo>
                  <a:lnTo>
                    <a:pt x="2144683" y="4913"/>
                  </a:lnTo>
                  <a:lnTo>
                    <a:pt x="2120303" y="0"/>
                  </a:lnTo>
                  <a:close/>
                </a:path>
              </a:pathLst>
            </a:custGeom>
            <a:solidFill>
              <a:srgbClr val="20295C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941222" y="3711233"/>
              <a:ext cx="2183130" cy="1414780"/>
            </a:xfrm>
            <a:custGeom>
              <a:avLst/>
              <a:gdLst/>
              <a:ahLst/>
              <a:cxnLst/>
              <a:rect l="l" t="t" r="r" b="b"/>
              <a:pathLst>
                <a:path w="2183129" h="1414779">
                  <a:moveTo>
                    <a:pt x="60303" y="8969"/>
                  </a:moveTo>
                  <a:lnTo>
                    <a:pt x="62513" y="7803"/>
                  </a:lnTo>
                </a:path>
                <a:path w="2183129" h="1414779">
                  <a:moveTo>
                    <a:pt x="101237" y="0"/>
                  </a:moveTo>
                  <a:lnTo>
                    <a:pt x="2120303" y="0"/>
                  </a:lnTo>
                </a:path>
                <a:path w="2183129" h="1414779">
                  <a:moveTo>
                    <a:pt x="2182944" y="62507"/>
                  </a:moveTo>
                  <a:lnTo>
                    <a:pt x="2182947" y="1351830"/>
                  </a:lnTo>
                </a:path>
                <a:path w="2183129" h="1414779">
                  <a:moveTo>
                    <a:pt x="2120304" y="1414322"/>
                  </a:moveTo>
                  <a:lnTo>
                    <a:pt x="101237" y="1414322"/>
                  </a:lnTo>
                </a:path>
                <a:path w="2183129" h="1414779">
                  <a:moveTo>
                    <a:pt x="0" y="1313302"/>
                  </a:moveTo>
                  <a:lnTo>
                    <a:pt x="0" y="101021"/>
                  </a:lnTo>
                </a:path>
                <a:path w="2183129" h="1414779">
                  <a:moveTo>
                    <a:pt x="7814" y="62404"/>
                  </a:moveTo>
                  <a:lnTo>
                    <a:pt x="8041" y="61753"/>
                  </a:lnTo>
                </a:path>
              </a:pathLst>
            </a:custGeom>
            <a:ln w="50565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941222" y="3711233"/>
              <a:ext cx="101600" cy="1414780"/>
            </a:xfrm>
            <a:custGeom>
              <a:avLst/>
              <a:gdLst/>
              <a:ahLst/>
              <a:cxnLst/>
              <a:rect l="l" t="t" r="r" b="b"/>
              <a:pathLst>
                <a:path w="101600" h="1414779">
                  <a:moveTo>
                    <a:pt x="101237" y="0"/>
                  </a:moveTo>
                  <a:lnTo>
                    <a:pt x="62624" y="0"/>
                  </a:lnTo>
                  <a:lnTo>
                    <a:pt x="18342" y="18310"/>
                  </a:lnTo>
                  <a:lnTo>
                    <a:pt x="0" y="62507"/>
                  </a:lnTo>
                  <a:lnTo>
                    <a:pt x="0" y="1351827"/>
                  </a:lnTo>
                  <a:lnTo>
                    <a:pt x="18343" y="1396018"/>
                  </a:lnTo>
                  <a:lnTo>
                    <a:pt x="62624" y="1414322"/>
                  </a:lnTo>
                  <a:lnTo>
                    <a:pt x="101237" y="1414322"/>
                  </a:lnTo>
                  <a:lnTo>
                    <a:pt x="101237" y="0"/>
                  </a:lnTo>
                  <a:close/>
                </a:path>
              </a:pathLst>
            </a:custGeom>
            <a:solidFill>
              <a:srgbClr val="4867E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7231506" y="3886327"/>
            <a:ext cx="939800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10">
                <a:solidFill>
                  <a:srgbClr val="FFFFFF"/>
                </a:solidFill>
                <a:latin typeface="Palatino Linotype"/>
                <a:cs typeface="Palatino Linotype"/>
              </a:rPr>
              <a:t>Mercado</a:t>
            </a:r>
            <a:endParaRPr sz="1750">
              <a:latin typeface="Palatino Linotype"/>
              <a:cs typeface="Palatino Linotype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231506" y="4315180"/>
            <a:ext cx="1557655" cy="583565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1400" spc="50">
                <a:solidFill>
                  <a:srgbClr val="FFFFFF"/>
                </a:solidFill>
                <a:latin typeface="Microsoft Sans Serif"/>
                <a:cs typeface="Microsoft Sans Serif"/>
              </a:rPr>
              <a:t>Preparación</a:t>
            </a:r>
            <a:r>
              <a:rPr dirty="0" sz="1400" spc="-4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Microsoft Sans Serif"/>
                <a:cs typeface="Microsoft Sans Serif"/>
              </a:rPr>
              <a:t>PAES</a:t>
            </a: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1400" spc="-10">
                <a:solidFill>
                  <a:srgbClr val="FFFFFF"/>
                </a:solidFill>
                <a:latin typeface="Microsoft Sans Serif"/>
                <a:cs typeface="Microsoft Sans Serif"/>
              </a:rPr>
              <a:t>(Chile)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9275952" y="3685978"/>
            <a:ext cx="2233930" cy="1464945"/>
            <a:chOff x="9275952" y="3685978"/>
            <a:chExt cx="2233930" cy="1464945"/>
          </a:xfrm>
        </p:grpSpPr>
        <p:sp>
          <p:nvSpPr>
            <p:cNvPr id="47" name="object 47"/>
            <p:cNvSpPr/>
            <p:nvPr/>
          </p:nvSpPr>
          <p:spPr>
            <a:xfrm>
              <a:off x="9301263" y="3711233"/>
              <a:ext cx="2183130" cy="1414780"/>
            </a:xfrm>
            <a:custGeom>
              <a:avLst/>
              <a:gdLst/>
              <a:ahLst/>
              <a:cxnLst/>
              <a:rect l="l" t="t" r="r" b="b"/>
              <a:pathLst>
                <a:path w="2183129" h="1414779">
                  <a:moveTo>
                    <a:pt x="2120392" y="0"/>
                  </a:moveTo>
                  <a:lnTo>
                    <a:pt x="101241" y="0"/>
                  </a:lnTo>
                  <a:lnTo>
                    <a:pt x="61833" y="7941"/>
                  </a:lnTo>
                  <a:lnTo>
                    <a:pt x="29653" y="29596"/>
                  </a:lnTo>
                  <a:lnTo>
                    <a:pt x="7956" y="61708"/>
                  </a:lnTo>
                  <a:lnTo>
                    <a:pt x="0" y="101022"/>
                  </a:lnTo>
                  <a:lnTo>
                    <a:pt x="0" y="1313302"/>
                  </a:lnTo>
                  <a:lnTo>
                    <a:pt x="7956" y="1352623"/>
                  </a:lnTo>
                  <a:lnTo>
                    <a:pt x="29653" y="1384734"/>
                  </a:lnTo>
                  <a:lnTo>
                    <a:pt x="61834" y="1406383"/>
                  </a:lnTo>
                  <a:lnTo>
                    <a:pt x="101241" y="1414322"/>
                  </a:lnTo>
                  <a:lnTo>
                    <a:pt x="2120392" y="1414322"/>
                  </a:lnTo>
                  <a:lnTo>
                    <a:pt x="2144773" y="1409411"/>
                  </a:lnTo>
                  <a:lnTo>
                    <a:pt x="2164686" y="1396018"/>
                  </a:lnTo>
                  <a:lnTo>
                    <a:pt x="2178112" y="1376154"/>
                  </a:lnTo>
                  <a:lnTo>
                    <a:pt x="2183036" y="1351827"/>
                  </a:lnTo>
                  <a:lnTo>
                    <a:pt x="2183035" y="62507"/>
                  </a:lnTo>
                  <a:lnTo>
                    <a:pt x="2178112" y="38179"/>
                  </a:lnTo>
                  <a:lnTo>
                    <a:pt x="2164685" y="18310"/>
                  </a:lnTo>
                  <a:lnTo>
                    <a:pt x="2144773" y="4913"/>
                  </a:lnTo>
                  <a:lnTo>
                    <a:pt x="2120392" y="0"/>
                  </a:lnTo>
                  <a:close/>
                </a:path>
              </a:pathLst>
            </a:custGeom>
            <a:solidFill>
              <a:srgbClr val="20295C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9301262" y="3711234"/>
              <a:ext cx="2183130" cy="1414780"/>
            </a:xfrm>
            <a:custGeom>
              <a:avLst/>
              <a:gdLst/>
              <a:ahLst/>
              <a:cxnLst/>
              <a:rect l="l" t="t" r="r" b="b"/>
              <a:pathLst>
                <a:path w="2183129" h="1414779">
                  <a:moveTo>
                    <a:pt x="60305" y="8969"/>
                  </a:moveTo>
                  <a:lnTo>
                    <a:pt x="62516" y="7803"/>
                  </a:lnTo>
                </a:path>
                <a:path w="2183129" h="1414779">
                  <a:moveTo>
                    <a:pt x="101241" y="0"/>
                  </a:moveTo>
                  <a:lnTo>
                    <a:pt x="2120392" y="0"/>
                  </a:lnTo>
                </a:path>
                <a:path w="2183129" h="1414779">
                  <a:moveTo>
                    <a:pt x="2183035" y="62507"/>
                  </a:moveTo>
                  <a:lnTo>
                    <a:pt x="2183038" y="1351830"/>
                  </a:lnTo>
                </a:path>
                <a:path w="2183129" h="1414779">
                  <a:moveTo>
                    <a:pt x="2120392" y="1414322"/>
                  </a:moveTo>
                  <a:lnTo>
                    <a:pt x="101241" y="1414322"/>
                  </a:lnTo>
                </a:path>
                <a:path w="2183129" h="1414779">
                  <a:moveTo>
                    <a:pt x="0" y="1313302"/>
                  </a:moveTo>
                  <a:lnTo>
                    <a:pt x="0" y="101021"/>
                  </a:lnTo>
                </a:path>
                <a:path w="2183129" h="1414779">
                  <a:moveTo>
                    <a:pt x="7815" y="62404"/>
                  </a:moveTo>
                  <a:lnTo>
                    <a:pt x="8041" y="61753"/>
                  </a:lnTo>
                </a:path>
              </a:pathLst>
            </a:custGeom>
            <a:ln w="50566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9301263" y="3711233"/>
              <a:ext cx="101600" cy="1414780"/>
            </a:xfrm>
            <a:custGeom>
              <a:avLst/>
              <a:gdLst/>
              <a:ahLst/>
              <a:cxnLst/>
              <a:rect l="l" t="t" r="r" b="b"/>
              <a:pathLst>
                <a:path w="101600" h="1414779">
                  <a:moveTo>
                    <a:pt x="101241" y="0"/>
                  </a:moveTo>
                  <a:lnTo>
                    <a:pt x="62626" y="0"/>
                  </a:lnTo>
                  <a:lnTo>
                    <a:pt x="18343" y="18310"/>
                  </a:lnTo>
                  <a:lnTo>
                    <a:pt x="0" y="62507"/>
                  </a:lnTo>
                  <a:lnTo>
                    <a:pt x="0" y="1351827"/>
                  </a:lnTo>
                  <a:lnTo>
                    <a:pt x="18344" y="1396018"/>
                  </a:lnTo>
                  <a:lnTo>
                    <a:pt x="62627" y="1414322"/>
                  </a:lnTo>
                  <a:lnTo>
                    <a:pt x="101241" y="1414322"/>
                  </a:lnTo>
                  <a:lnTo>
                    <a:pt x="101241" y="0"/>
                  </a:lnTo>
                  <a:close/>
                </a:path>
              </a:pathLst>
            </a:custGeom>
            <a:solidFill>
              <a:srgbClr val="4867E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9591802" y="3886327"/>
            <a:ext cx="1118870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10">
                <a:solidFill>
                  <a:srgbClr val="FFFFFF"/>
                </a:solidFill>
                <a:latin typeface="Palatino Linotype"/>
                <a:cs typeface="Palatino Linotype"/>
              </a:rPr>
              <a:t>Necesidad</a:t>
            </a:r>
            <a:endParaRPr sz="1750">
              <a:latin typeface="Palatino Linotype"/>
              <a:cs typeface="Palatino Linotype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591802" y="4315180"/>
            <a:ext cx="1471930" cy="583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7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Panel</a:t>
            </a:r>
            <a:r>
              <a:rPr dirty="0" sz="1400" spc="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dirty="0" sz="1400" spc="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45">
                <a:solidFill>
                  <a:srgbClr val="FFFFFF"/>
                </a:solidFill>
                <a:latin typeface="Microsoft Sans Serif"/>
                <a:cs typeface="Microsoft Sans Serif"/>
              </a:rPr>
              <a:t>negocio centralizado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700" spc="180"/>
              <a:t>La</a:t>
            </a:r>
            <a:r>
              <a:rPr dirty="0" sz="3700" spc="-235"/>
              <a:t> </a:t>
            </a:r>
            <a:r>
              <a:rPr dirty="0" sz="3700" spc="105"/>
              <a:t>solución</a:t>
            </a:r>
            <a:r>
              <a:rPr dirty="0" sz="3700" spc="-254"/>
              <a:t> </a:t>
            </a:r>
            <a:r>
              <a:rPr dirty="0" sz="3700" spc="-1520"/>
              <a:t>—</a:t>
            </a:r>
            <a:r>
              <a:rPr dirty="0" sz="3700" spc="-235"/>
              <a:t> </a:t>
            </a:r>
            <a:r>
              <a:rPr dirty="0" sz="3700" spc="110"/>
              <a:t>Consola</a:t>
            </a:r>
            <a:r>
              <a:rPr dirty="0" sz="3700" spc="-245"/>
              <a:t> </a:t>
            </a:r>
            <a:r>
              <a:rPr dirty="0" sz="3700"/>
              <a:t>Aprueba</a:t>
            </a:r>
            <a:r>
              <a:rPr dirty="0" sz="3700" spc="-235"/>
              <a:t> </a:t>
            </a:r>
            <a:r>
              <a:rPr dirty="0" sz="3700" spc="55"/>
              <a:t>Admin</a:t>
            </a:r>
            <a:endParaRPr sz="3700"/>
          </a:p>
        </p:txBody>
      </p:sp>
      <p:grpSp>
        <p:nvGrpSpPr>
          <p:cNvPr id="3" name="object 3"/>
          <p:cNvGrpSpPr/>
          <p:nvPr/>
        </p:nvGrpSpPr>
        <p:grpSpPr>
          <a:xfrm>
            <a:off x="640610" y="2096939"/>
            <a:ext cx="5358130" cy="2002789"/>
            <a:chOff x="640610" y="2096939"/>
            <a:chExt cx="5358130" cy="2002789"/>
          </a:xfrm>
        </p:grpSpPr>
        <p:sp>
          <p:nvSpPr>
            <p:cNvPr id="4" name="object 4"/>
            <p:cNvSpPr/>
            <p:nvPr/>
          </p:nvSpPr>
          <p:spPr>
            <a:xfrm>
              <a:off x="665971" y="2381234"/>
              <a:ext cx="5332730" cy="1693545"/>
            </a:xfrm>
            <a:custGeom>
              <a:avLst/>
              <a:gdLst/>
              <a:ahLst/>
              <a:cxnLst/>
              <a:rect l="l" t="t" r="r" b="b"/>
              <a:pathLst>
                <a:path w="5332730" h="1693545">
                  <a:moveTo>
                    <a:pt x="5230694" y="0"/>
                  </a:moveTo>
                  <a:lnTo>
                    <a:pt x="101442" y="0"/>
                  </a:lnTo>
                  <a:lnTo>
                    <a:pt x="61956" y="7946"/>
                  </a:lnTo>
                  <a:lnTo>
                    <a:pt x="29712" y="29614"/>
                  </a:lnTo>
                  <a:lnTo>
                    <a:pt x="7971" y="61745"/>
                  </a:lnTo>
                  <a:lnTo>
                    <a:pt x="0" y="101082"/>
                  </a:lnTo>
                  <a:lnTo>
                    <a:pt x="0" y="1627316"/>
                  </a:lnTo>
                  <a:lnTo>
                    <a:pt x="19347" y="1673858"/>
                  </a:lnTo>
                  <a:lnTo>
                    <a:pt x="66053" y="1693136"/>
                  </a:lnTo>
                  <a:lnTo>
                    <a:pt x="5266094" y="1693136"/>
                  </a:lnTo>
                  <a:lnTo>
                    <a:pt x="5291946" y="1687964"/>
                  </a:lnTo>
                  <a:lnTo>
                    <a:pt x="5313018" y="1673858"/>
                  </a:lnTo>
                  <a:lnTo>
                    <a:pt x="5327205" y="1652936"/>
                  </a:lnTo>
                  <a:lnTo>
                    <a:pt x="5332402" y="1627316"/>
                  </a:lnTo>
                  <a:lnTo>
                    <a:pt x="5332402" y="101082"/>
                  </a:lnTo>
                  <a:lnTo>
                    <a:pt x="5324423" y="61745"/>
                  </a:lnTo>
                  <a:lnTo>
                    <a:pt x="5302649" y="29614"/>
                  </a:lnTo>
                  <a:lnTo>
                    <a:pt x="5270325" y="7946"/>
                  </a:lnTo>
                  <a:lnTo>
                    <a:pt x="5230694" y="0"/>
                  </a:lnTo>
                  <a:close/>
                </a:path>
              </a:pathLst>
            </a:custGeom>
            <a:solidFill>
              <a:srgbClr val="F4F7F9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65971" y="2443019"/>
              <a:ext cx="5266690" cy="1631950"/>
            </a:xfrm>
            <a:custGeom>
              <a:avLst/>
              <a:gdLst/>
              <a:ahLst/>
              <a:cxnLst/>
              <a:rect l="l" t="t" r="r" b="b"/>
              <a:pathLst>
                <a:path w="5266690" h="1631950">
                  <a:moveTo>
                    <a:pt x="5266094" y="1631351"/>
                  </a:moveTo>
                  <a:lnTo>
                    <a:pt x="66053" y="1631351"/>
                  </a:lnTo>
                </a:path>
                <a:path w="5266690" h="1631950">
                  <a:moveTo>
                    <a:pt x="0" y="1565531"/>
                  </a:moveTo>
                  <a:lnTo>
                    <a:pt x="0" y="39297"/>
                  </a:lnTo>
                </a:path>
                <a:path w="5266690" h="1631950">
                  <a:moveTo>
                    <a:pt x="7835" y="631"/>
                  </a:moveTo>
                  <a:lnTo>
                    <a:pt x="8046" y="0"/>
                  </a:lnTo>
                </a:path>
              </a:pathLst>
            </a:custGeom>
            <a:ln w="50631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65962" y="2096947"/>
              <a:ext cx="5332730" cy="568960"/>
            </a:xfrm>
            <a:custGeom>
              <a:avLst/>
              <a:gdLst/>
              <a:ahLst/>
              <a:cxnLst/>
              <a:rect l="l" t="t" r="r" b="b"/>
              <a:pathLst>
                <a:path w="5332730" h="568960">
                  <a:moveTo>
                    <a:pt x="5332400" y="324827"/>
                  </a:moveTo>
                  <a:lnTo>
                    <a:pt x="5327205" y="299224"/>
                  </a:lnTo>
                  <a:lnTo>
                    <a:pt x="5313019" y="278307"/>
                  </a:lnTo>
                  <a:lnTo>
                    <a:pt x="5291950" y="264198"/>
                  </a:lnTo>
                  <a:lnTo>
                    <a:pt x="5266093" y="259016"/>
                  </a:lnTo>
                  <a:lnTo>
                    <a:pt x="2952496" y="259016"/>
                  </a:lnTo>
                  <a:lnTo>
                    <a:pt x="2950819" y="238188"/>
                  </a:lnTo>
                  <a:lnTo>
                    <a:pt x="2939999" y="194437"/>
                  </a:lnTo>
                  <a:lnTo>
                    <a:pt x="2922701" y="153657"/>
                  </a:lnTo>
                  <a:lnTo>
                    <a:pt x="2899499" y="116395"/>
                  </a:lnTo>
                  <a:lnTo>
                    <a:pt x="2870974" y="83273"/>
                  </a:lnTo>
                  <a:lnTo>
                    <a:pt x="2837738" y="54851"/>
                  </a:lnTo>
                  <a:lnTo>
                    <a:pt x="2800350" y="31737"/>
                  </a:lnTo>
                  <a:lnTo>
                    <a:pt x="2759418" y="14490"/>
                  </a:lnTo>
                  <a:lnTo>
                    <a:pt x="2715514" y="3721"/>
                  </a:lnTo>
                  <a:lnTo>
                    <a:pt x="2669235" y="0"/>
                  </a:lnTo>
                  <a:lnTo>
                    <a:pt x="2622969" y="3721"/>
                  </a:lnTo>
                  <a:lnTo>
                    <a:pt x="2579065" y="14490"/>
                  </a:lnTo>
                  <a:lnTo>
                    <a:pt x="2538133" y="31737"/>
                  </a:lnTo>
                  <a:lnTo>
                    <a:pt x="2500744" y="54851"/>
                  </a:lnTo>
                  <a:lnTo>
                    <a:pt x="2467508" y="83273"/>
                  </a:lnTo>
                  <a:lnTo>
                    <a:pt x="2438984" y="116395"/>
                  </a:lnTo>
                  <a:lnTo>
                    <a:pt x="2415781" y="153657"/>
                  </a:lnTo>
                  <a:lnTo>
                    <a:pt x="2398484" y="194437"/>
                  </a:lnTo>
                  <a:lnTo>
                    <a:pt x="2387663" y="238188"/>
                  </a:lnTo>
                  <a:lnTo>
                    <a:pt x="2385974" y="259016"/>
                  </a:lnTo>
                  <a:lnTo>
                    <a:pt x="66052" y="259016"/>
                  </a:lnTo>
                  <a:lnTo>
                    <a:pt x="40347" y="264198"/>
                  </a:lnTo>
                  <a:lnTo>
                    <a:pt x="19354" y="278307"/>
                  </a:lnTo>
                  <a:lnTo>
                    <a:pt x="5194" y="299224"/>
                  </a:lnTo>
                  <a:lnTo>
                    <a:pt x="0" y="324827"/>
                  </a:lnTo>
                  <a:lnTo>
                    <a:pt x="0" y="360108"/>
                  </a:lnTo>
                  <a:lnTo>
                    <a:pt x="2395004" y="360108"/>
                  </a:lnTo>
                  <a:lnTo>
                    <a:pt x="2398484" y="374142"/>
                  </a:lnTo>
                  <a:lnTo>
                    <a:pt x="2415781" y="414934"/>
                  </a:lnTo>
                  <a:lnTo>
                    <a:pt x="2438984" y="452183"/>
                  </a:lnTo>
                  <a:lnTo>
                    <a:pt x="2467508" y="485317"/>
                  </a:lnTo>
                  <a:lnTo>
                    <a:pt x="2500744" y="513727"/>
                  </a:lnTo>
                  <a:lnTo>
                    <a:pt x="2538133" y="536854"/>
                  </a:lnTo>
                  <a:lnTo>
                    <a:pt x="2579065" y="554088"/>
                  </a:lnTo>
                  <a:lnTo>
                    <a:pt x="2622969" y="564870"/>
                  </a:lnTo>
                  <a:lnTo>
                    <a:pt x="2669235" y="568591"/>
                  </a:lnTo>
                  <a:lnTo>
                    <a:pt x="2715514" y="564870"/>
                  </a:lnTo>
                  <a:lnTo>
                    <a:pt x="2759418" y="554088"/>
                  </a:lnTo>
                  <a:lnTo>
                    <a:pt x="2800350" y="536854"/>
                  </a:lnTo>
                  <a:lnTo>
                    <a:pt x="2837738" y="513727"/>
                  </a:lnTo>
                  <a:lnTo>
                    <a:pt x="2870974" y="485317"/>
                  </a:lnTo>
                  <a:lnTo>
                    <a:pt x="2899499" y="452183"/>
                  </a:lnTo>
                  <a:lnTo>
                    <a:pt x="2922701" y="414934"/>
                  </a:lnTo>
                  <a:lnTo>
                    <a:pt x="2939999" y="374142"/>
                  </a:lnTo>
                  <a:lnTo>
                    <a:pt x="2943466" y="360108"/>
                  </a:lnTo>
                  <a:lnTo>
                    <a:pt x="5332400" y="360108"/>
                  </a:lnTo>
                  <a:lnTo>
                    <a:pt x="5332400" y="324827"/>
                  </a:lnTo>
                  <a:close/>
                </a:path>
              </a:pathLst>
            </a:custGeom>
            <a:solidFill>
              <a:srgbClr val="4867E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863295" y="2821305"/>
            <a:ext cx="4819015" cy="1000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>
                <a:solidFill>
                  <a:srgbClr val="404154"/>
                </a:solidFill>
                <a:latin typeface="Palatino Linotype"/>
                <a:cs typeface="Palatino Linotype"/>
              </a:rPr>
              <a:t>Acceso</a:t>
            </a:r>
            <a:r>
              <a:rPr dirty="0" sz="1850" spc="25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850">
                <a:solidFill>
                  <a:srgbClr val="404154"/>
                </a:solidFill>
                <a:latin typeface="Palatino Linotype"/>
                <a:cs typeface="Palatino Linotype"/>
              </a:rPr>
              <a:t>por</a:t>
            </a:r>
            <a:r>
              <a:rPr dirty="0" sz="1850" spc="15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850">
                <a:solidFill>
                  <a:srgbClr val="404154"/>
                </a:solidFill>
                <a:latin typeface="Palatino Linotype"/>
                <a:cs typeface="Palatino Linotype"/>
              </a:rPr>
              <a:t>roles</a:t>
            </a:r>
            <a:r>
              <a:rPr dirty="0" sz="1850" spc="25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850" spc="-10">
                <a:solidFill>
                  <a:srgbClr val="404154"/>
                </a:solidFill>
                <a:latin typeface="Palatino Linotype"/>
                <a:cs typeface="Palatino Linotype"/>
              </a:rPr>
              <a:t>(RBAC)</a:t>
            </a:r>
            <a:endParaRPr sz="1850">
              <a:latin typeface="Palatino Linotype"/>
              <a:cs typeface="Palatino Linotype"/>
            </a:endParaRPr>
          </a:p>
          <a:p>
            <a:pPr marL="12700" marR="5080">
              <a:lnSpc>
                <a:spcPct val="132400"/>
              </a:lnSpc>
              <a:spcBef>
                <a:spcPts val="850"/>
              </a:spcBef>
            </a:pPr>
            <a:r>
              <a:rPr dirty="0" sz="1450" spc="10">
                <a:solidFill>
                  <a:srgbClr val="404154"/>
                </a:solidFill>
                <a:latin typeface="Microsoft Sans Serif"/>
                <a:cs typeface="Microsoft Sans Serif"/>
              </a:rPr>
              <a:t>Perfiles</a:t>
            </a:r>
            <a:r>
              <a:rPr dirty="0" sz="1450" spc="1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50">
                <a:solidFill>
                  <a:srgbClr val="404154"/>
                </a:solidFill>
                <a:latin typeface="Microsoft Sans Serif"/>
                <a:cs typeface="Microsoft Sans Serif"/>
              </a:rPr>
              <a:t>delimitados:</a:t>
            </a:r>
            <a:r>
              <a:rPr dirty="0" sz="1450" spc="8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10">
                <a:solidFill>
                  <a:srgbClr val="404154"/>
                </a:solidFill>
                <a:latin typeface="Microsoft Sans Serif"/>
                <a:cs typeface="Microsoft Sans Serif"/>
              </a:rPr>
              <a:t>Gerencia,</a:t>
            </a:r>
            <a:r>
              <a:rPr dirty="0" sz="1450" spc="5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10">
                <a:solidFill>
                  <a:srgbClr val="404154"/>
                </a:solidFill>
                <a:latin typeface="Microsoft Sans Serif"/>
                <a:cs typeface="Microsoft Sans Serif"/>
              </a:rPr>
              <a:t>Finanzas,</a:t>
            </a:r>
            <a:r>
              <a:rPr dirty="0" sz="1450" spc="7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10">
                <a:solidFill>
                  <a:srgbClr val="404154"/>
                </a:solidFill>
                <a:latin typeface="Microsoft Sans Serif"/>
                <a:cs typeface="Microsoft Sans Serif"/>
              </a:rPr>
              <a:t>Operaciones</a:t>
            </a:r>
            <a:r>
              <a:rPr dirty="0" sz="1450" spc="3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15">
                <a:solidFill>
                  <a:srgbClr val="404154"/>
                </a:solidFill>
                <a:latin typeface="Microsoft Sans Serif"/>
                <a:cs typeface="Microsoft Sans Serif"/>
              </a:rPr>
              <a:t>y </a:t>
            </a:r>
            <a:r>
              <a:rPr dirty="0" sz="1450" spc="45">
                <a:solidFill>
                  <a:srgbClr val="404154"/>
                </a:solidFill>
                <a:latin typeface="Microsoft Sans Serif"/>
                <a:cs typeface="Microsoft Sans Serif"/>
              </a:rPr>
              <a:t>Soporte.</a:t>
            </a:r>
            <a:endParaRPr sz="145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169491" y="2096939"/>
            <a:ext cx="5358130" cy="2002789"/>
            <a:chOff x="6169491" y="2096939"/>
            <a:chExt cx="5358130" cy="2002789"/>
          </a:xfrm>
        </p:grpSpPr>
        <p:sp>
          <p:nvSpPr>
            <p:cNvPr id="9" name="object 9"/>
            <p:cNvSpPr/>
            <p:nvPr/>
          </p:nvSpPr>
          <p:spPr>
            <a:xfrm>
              <a:off x="6194852" y="2381234"/>
              <a:ext cx="5332730" cy="1693545"/>
            </a:xfrm>
            <a:custGeom>
              <a:avLst/>
              <a:gdLst/>
              <a:ahLst/>
              <a:cxnLst/>
              <a:rect l="l" t="t" r="r" b="b"/>
              <a:pathLst>
                <a:path w="5332730" h="1693545">
                  <a:moveTo>
                    <a:pt x="5230784" y="0"/>
                  </a:moveTo>
                  <a:lnTo>
                    <a:pt x="101444" y="0"/>
                  </a:lnTo>
                  <a:lnTo>
                    <a:pt x="61957" y="7946"/>
                  </a:lnTo>
                  <a:lnTo>
                    <a:pt x="29712" y="29614"/>
                  </a:lnTo>
                  <a:lnTo>
                    <a:pt x="7972" y="61745"/>
                  </a:lnTo>
                  <a:lnTo>
                    <a:pt x="0" y="101082"/>
                  </a:lnTo>
                  <a:lnTo>
                    <a:pt x="0" y="1627316"/>
                  </a:lnTo>
                  <a:lnTo>
                    <a:pt x="19348" y="1673858"/>
                  </a:lnTo>
                  <a:lnTo>
                    <a:pt x="66055" y="1693136"/>
                  </a:lnTo>
                  <a:lnTo>
                    <a:pt x="5266184" y="1693136"/>
                  </a:lnTo>
                  <a:lnTo>
                    <a:pt x="5292037" y="1687964"/>
                  </a:lnTo>
                  <a:lnTo>
                    <a:pt x="5313110" y="1673858"/>
                  </a:lnTo>
                  <a:lnTo>
                    <a:pt x="5327297" y="1652936"/>
                  </a:lnTo>
                  <a:lnTo>
                    <a:pt x="5332494" y="1627316"/>
                  </a:lnTo>
                  <a:lnTo>
                    <a:pt x="5332493" y="101082"/>
                  </a:lnTo>
                  <a:lnTo>
                    <a:pt x="5324514" y="61745"/>
                  </a:lnTo>
                  <a:lnTo>
                    <a:pt x="5302740" y="29614"/>
                  </a:lnTo>
                  <a:lnTo>
                    <a:pt x="5270415" y="7946"/>
                  </a:lnTo>
                  <a:lnTo>
                    <a:pt x="5230784" y="0"/>
                  </a:lnTo>
                  <a:close/>
                </a:path>
              </a:pathLst>
            </a:custGeom>
            <a:solidFill>
              <a:srgbClr val="F4F7F9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194852" y="2443019"/>
              <a:ext cx="5266690" cy="1631950"/>
            </a:xfrm>
            <a:custGeom>
              <a:avLst/>
              <a:gdLst/>
              <a:ahLst/>
              <a:cxnLst/>
              <a:rect l="l" t="t" r="r" b="b"/>
              <a:pathLst>
                <a:path w="5266690" h="1631950">
                  <a:moveTo>
                    <a:pt x="5266184" y="1631351"/>
                  </a:moveTo>
                  <a:lnTo>
                    <a:pt x="66055" y="1631351"/>
                  </a:lnTo>
                </a:path>
                <a:path w="5266690" h="1631950">
                  <a:moveTo>
                    <a:pt x="0" y="1565531"/>
                  </a:moveTo>
                  <a:lnTo>
                    <a:pt x="0" y="39297"/>
                  </a:lnTo>
                </a:path>
                <a:path w="5266690" h="1631950">
                  <a:moveTo>
                    <a:pt x="7835" y="631"/>
                  </a:moveTo>
                  <a:lnTo>
                    <a:pt x="8046" y="0"/>
                  </a:lnTo>
                </a:path>
              </a:pathLst>
            </a:custGeom>
            <a:ln w="50632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194844" y="2096947"/>
              <a:ext cx="5332730" cy="568960"/>
            </a:xfrm>
            <a:custGeom>
              <a:avLst/>
              <a:gdLst/>
              <a:ahLst/>
              <a:cxnLst/>
              <a:rect l="l" t="t" r="r" b="b"/>
              <a:pathLst>
                <a:path w="5332730" h="568960">
                  <a:moveTo>
                    <a:pt x="5332501" y="324827"/>
                  </a:moveTo>
                  <a:lnTo>
                    <a:pt x="5327294" y="299224"/>
                  </a:lnTo>
                  <a:lnTo>
                    <a:pt x="5313108" y="278307"/>
                  </a:lnTo>
                  <a:lnTo>
                    <a:pt x="5292039" y="264198"/>
                  </a:lnTo>
                  <a:lnTo>
                    <a:pt x="5266182" y="259016"/>
                  </a:lnTo>
                  <a:lnTo>
                    <a:pt x="2952546" y="259016"/>
                  </a:lnTo>
                  <a:lnTo>
                    <a:pt x="2950870" y="238188"/>
                  </a:lnTo>
                  <a:lnTo>
                    <a:pt x="2940050" y="194437"/>
                  </a:lnTo>
                  <a:lnTo>
                    <a:pt x="2922752" y="153657"/>
                  </a:lnTo>
                  <a:lnTo>
                    <a:pt x="2899549" y="116395"/>
                  </a:lnTo>
                  <a:lnTo>
                    <a:pt x="2871025" y="83273"/>
                  </a:lnTo>
                  <a:lnTo>
                    <a:pt x="2837777" y="54851"/>
                  </a:lnTo>
                  <a:lnTo>
                    <a:pt x="2800400" y="31737"/>
                  </a:lnTo>
                  <a:lnTo>
                    <a:pt x="2759456" y="14490"/>
                  </a:lnTo>
                  <a:lnTo>
                    <a:pt x="2715564" y="3721"/>
                  </a:lnTo>
                  <a:lnTo>
                    <a:pt x="2669286" y="0"/>
                  </a:lnTo>
                  <a:lnTo>
                    <a:pt x="2623007" y="3721"/>
                  </a:lnTo>
                  <a:lnTo>
                    <a:pt x="2579116" y="14490"/>
                  </a:lnTo>
                  <a:lnTo>
                    <a:pt x="2538171" y="31737"/>
                  </a:lnTo>
                  <a:lnTo>
                    <a:pt x="2500795" y="54851"/>
                  </a:lnTo>
                  <a:lnTo>
                    <a:pt x="2467546" y="83273"/>
                  </a:lnTo>
                  <a:lnTo>
                    <a:pt x="2439022" y="116395"/>
                  </a:lnTo>
                  <a:lnTo>
                    <a:pt x="2415819" y="153657"/>
                  </a:lnTo>
                  <a:lnTo>
                    <a:pt x="2398522" y="194437"/>
                  </a:lnTo>
                  <a:lnTo>
                    <a:pt x="2387701" y="238188"/>
                  </a:lnTo>
                  <a:lnTo>
                    <a:pt x="2386012" y="259016"/>
                  </a:lnTo>
                  <a:lnTo>
                    <a:pt x="66052" y="259016"/>
                  </a:lnTo>
                  <a:lnTo>
                    <a:pt x="40347" y="264198"/>
                  </a:lnTo>
                  <a:lnTo>
                    <a:pt x="19354" y="278307"/>
                  </a:lnTo>
                  <a:lnTo>
                    <a:pt x="5194" y="299224"/>
                  </a:lnTo>
                  <a:lnTo>
                    <a:pt x="0" y="324827"/>
                  </a:lnTo>
                  <a:lnTo>
                    <a:pt x="0" y="360108"/>
                  </a:lnTo>
                  <a:lnTo>
                    <a:pt x="2395042" y="360108"/>
                  </a:lnTo>
                  <a:lnTo>
                    <a:pt x="2398522" y="374142"/>
                  </a:lnTo>
                  <a:lnTo>
                    <a:pt x="2415819" y="414934"/>
                  </a:lnTo>
                  <a:lnTo>
                    <a:pt x="2439022" y="452183"/>
                  </a:lnTo>
                  <a:lnTo>
                    <a:pt x="2467546" y="485317"/>
                  </a:lnTo>
                  <a:lnTo>
                    <a:pt x="2500795" y="513727"/>
                  </a:lnTo>
                  <a:lnTo>
                    <a:pt x="2538171" y="536854"/>
                  </a:lnTo>
                  <a:lnTo>
                    <a:pt x="2579116" y="554088"/>
                  </a:lnTo>
                  <a:lnTo>
                    <a:pt x="2623007" y="564870"/>
                  </a:lnTo>
                  <a:lnTo>
                    <a:pt x="2669286" y="568591"/>
                  </a:lnTo>
                  <a:lnTo>
                    <a:pt x="2715564" y="564870"/>
                  </a:lnTo>
                  <a:lnTo>
                    <a:pt x="2759456" y="554088"/>
                  </a:lnTo>
                  <a:lnTo>
                    <a:pt x="2800400" y="536854"/>
                  </a:lnTo>
                  <a:lnTo>
                    <a:pt x="2837777" y="513727"/>
                  </a:lnTo>
                  <a:lnTo>
                    <a:pt x="2871025" y="485317"/>
                  </a:lnTo>
                  <a:lnTo>
                    <a:pt x="2899549" y="452183"/>
                  </a:lnTo>
                  <a:lnTo>
                    <a:pt x="2922752" y="414934"/>
                  </a:lnTo>
                  <a:lnTo>
                    <a:pt x="2940050" y="374142"/>
                  </a:lnTo>
                  <a:lnTo>
                    <a:pt x="2943517" y="360108"/>
                  </a:lnTo>
                  <a:lnTo>
                    <a:pt x="5332501" y="360108"/>
                  </a:lnTo>
                  <a:lnTo>
                    <a:pt x="5332501" y="324827"/>
                  </a:lnTo>
                  <a:close/>
                </a:path>
              </a:pathLst>
            </a:custGeom>
            <a:solidFill>
              <a:srgbClr val="4867E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648716" y="1601850"/>
            <a:ext cx="8795385" cy="900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SPA</a:t>
            </a:r>
            <a:r>
              <a:rPr dirty="0" sz="1450" spc="5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70">
                <a:solidFill>
                  <a:srgbClr val="404154"/>
                </a:solidFill>
                <a:latin typeface="Microsoft Sans Serif"/>
                <a:cs typeface="Microsoft Sans Serif"/>
              </a:rPr>
              <a:t>administrativa</a:t>
            </a:r>
            <a:r>
              <a:rPr dirty="0" sz="1450" spc="4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85">
                <a:solidFill>
                  <a:srgbClr val="404154"/>
                </a:solidFill>
                <a:latin typeface="Microsoft Sans Serif"/>
                <a:cs typeface="Microsoft Sans Serif"/>
              </a:rPr>
              <a:t>full-</a:t>
            </a:r>
            <a:r>
              <a:rPr dirty="0" sz="1450" spc="70">
                <a:solidFill>
                  <a:srgbClr val="404154"/>
                </a:solidFill>
                <a:latin typeface="Microsoft Sans Serif"/>
                <a:cs typeface="Microsoft Sans Serif"/>
              </a:rPr>
              <a:t>stack</a:t>
            </a:r>
            <a:r>
              <a:rPr dirty="0" sz="1450" spc="4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que</a:t>
            </a:r>
            <a:r>
              <a:rPr dirty="0" sz="1450" spc="2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60">
                <a:solidFill>
                  <a:srgbClr val="404154"/>
                </a:solidFill>
                <a:latin typeface="Microsoft Sans Serif"/>
                <a:cs typeface="Microsoft Sans Serif"/>
              </a:rPr>
              <a:t>conecta</a:t>
            </a:r>
            <a:r>
              <a:rPr dirty="0" sz="1450" spc="4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las</a:t>
            </a:r>
            <a:r>
              <a:rPr dirty="0" sz="1450" spc="5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reglas</a:t>
            </a:r>
            <a:r>
              <a:rPr dirty="0" sz="1450" spc="1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del</a:t>
            </a:r>
            <a:r>
              <a:rPr dirty="0" sz="1450" spc="3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50">
                <a:solidFill>
                  <a:srgbClr val="404154"/>
                </a:solidFill>
                <a:latin typeface="Microsoft Sans Serif"/>
                <a:cs typeface="Microsoft Sans Serif"/>
              </a:rPr>
              <a:t>negocio</a:t>
            </a:r>
            <a:r>
              <a:rPr dirty="0" sz="1450" spc="5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60">
                <a:solidFill>
                  <a:srgbClr val="404154"/>
                </a:solidFill>
                <a:latin typeface="Microsoft Sans Serif"/>
                <a:cs typeface="Microsoft Sans Serif"/>
              </a:rPr>
              <a:t>con</a:t>
            </a:r>
            <a:r>
              <a:rPr dirty="0" sz="1450" spc="3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los</a:t>
            </a:r>
            <a:r>
              <a:rPr dirty="0" sz="1450" spc="6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servicios</a:t>
            </a:r>
            <a:r>
              <a:rPr dirty="0" sz="1450" spc="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de</a:t>
            </a:r>
            <a:r>
              <a:rPr dirty="0" sz="1450" spc="3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los</a:t>
            </a:r>
            <a:r>
              <a:rPr dirty="0" sz="1450" spc="6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40">
                <a:solidFill>
                  <a:srgbClr val="404154"/>
                </a:solidFill>
                <a:latin typeface="Microsoft Sans Serif"/>
                <a:cs typeface="Microsoft Sans Serif"/>
              </a:rPr>
              <a:t>estudiantes.</a:t>
            </a:r>
            <a:endParaRPr sz="14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sz="1450">
              <a:latin typeface="Microsoft Sans Serif"/>
              <a:cs typeface="Microsoft Sans Serif"/>
            </a:endParaRPr>
          </a:p>
          <a:p>
            <a:pPr marL="2649220">
              <a:lnSpc>
                <a:spcPct val="100000"/>
              </a:lnSpc>
              <a:tabLst>
                <a:tab pos="8154670" algn="l"/>
              </a:tabLst>
            </a:pPr>
            <a:r>
              <a:rPr dirty="0" sz="1750" spc="-409">
                <a:solidFill>
                  <a:srgbClr val="FFFFFF"/>
                </a:solidFill>
                <a:latin typeface="Palatino Linotype"/>
                <a:cs typeface="Palatino Linotype"/>
              </a:rPr>
              <a:t>1</a:t>
            </a:r>
            <a:r>
              <a:rPr dirty="0" sz="1750">
                <a:solidFill>
                  <a:srgbClr val="FFFFFF"/>
                </a:solidFill>
                <a:latin typeface="Palatino Linotype"/>
                <a:cs typeface="Palatino Linotype"/>
              </a:rPr>
              <a:t>	</a:t>
            </a:r>
            <a:r>
              <a:rPr dirty="0" sz="1750" spc="-50">
                <a:solidFill>
                  <a:srgbClr val="FFFFFF"/>
                </a:solidFill>
                <a:latin typeface="Palatino Linotype"/>
                <a:cs typeface="Palatino Linotype"/>
              </a:rPr>
              <a:t>2</a:t>
            </a:r>
            <a:endParaRPr sz="1750">
              <a:latin typeface="Palatino Linotype"/>
              <a:cs typeface="Palatino Linotyp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92671" y="2821305"/>
            <a:ext cx="4858385" cy="1000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>
                <a:solidFill>
                  <a:srgbClr val="404154"/>
                </a:solidFill>
                <a:latin typeface="Palatino Linotype"/>
                <a:cs typeface="Palatino Linotype"/>
              </a:rPr>
              <a:t>Multiidioma</a:t>
            </a:r>
            <a:r>
              <a:rPr dirty="0" sz="1850" spc="110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850" spc="-20">
                <a:solidFill>
                  <a:srgbClr val="404154"/>
                </a:solidFill>
                <a:latin typeface="Palatino Linotype"/>
                <a:cs typeface="Palatino Linotype"/>
              </a:rPr>
              <a:t>y</a:t>
            </a:r>
            <a:r>
              <a:rPr dirty="0" sz="1850" spc="105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850" spc="70">
                <a:solidFill>
                  <a:srgbClr val="404154"/>
                </a:solidFill>
                <a:latin typeface="Palatino Linotype"/>
                <a:cs typeface="Palatino Linotype"/>
              </a:rPr>
              <a:t>temas</a:t>
            </a:r>
            <a:endParaRPr sz="1850">
              <a:latin typeface="Palatino Linotype"/>
              <a:cs typeface="Palatino Linotype"/>
            </a:endParaRPr>
          </a:p>
          <a:p>
            <a:pPr marL="12700" marR="5080">
              <a:lnSpc>
                <a:spcPct val="132400"/>
              </a:lnSpc>
              <a:spcBef>
                <a:spcPts val="850"/>
              </a:spcBef>
            </a:pPr>
            <a:r>
              <a:rPr dirty="0" sz="1450" spc="85">
                <a:solidFill>
                  <a:srgbClr val="404154"/>
                </a:solidFill>
                <a:latin typeface="Microsoft Sans Serif"/>
                <a:cs typeface="Microsoft Sans Serif"/>
              </a:rPr>
              <a:t>Interfaz</a:t>
            </a:r>
            <a:r>
              <a:rPr dirty="0" sz="1450" spc="3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10">
                <a:solidFill>
                  <a:srgbClr val="404154"/>
                </a:solidFill>
                <a:latin typeface="Microsoft Sans Serif"/>
                <a:cs typeface="Microsoft Sans Serif"/>
              </a:rPr>
              <a:t>disponible</a:t>
            </a:r>
            <a:r>
              <a:rPr dirty="0" sz="1450" spc="6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10">
                <a:solidFill>
                  <a:srgbClr val="404154"/>
                </a:solidFill>
                <a:latin typeface="Microsoft Sans Serif"/>
                <a:cs typeface="Microsoft Sans Serif"/>
              </a:rPr>
              <a:t>en</a:t>
            </a:r>
            <a:r>
              <a:rPr dirty="0" sz="1450" spc="3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10">
                <a:solidFill>
                  <a:srgbClr val="404154"/>
                </a:solidFill>
                <a:latin typeface="Microsoft Sans Serif"/>
                <a:cs typeface="Microsoft Sans Serif"/>
              </a:rPr>
              <a:t>Español</a:t>
            </a:r>
            <a:r>
              <a:rPr dirty="0" sz="1450" spc="9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335">
                <a:solidFill>
                  <a:srgbClr val="404154"/>
                </a:solidFill>
                <a:latin typeface="Microsoft Sans Serif"/>
                <a:cs typeface="Microsoft Sans Serif"/>
              </a:rPr>
              <a:t>/</a:t>
            </a:r>
            <a:r>
              <a:rPr dirty="0" sz="1450" spc="6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10">
                <a:solidFill>
                  <a:srgbClr val="404154"/>
                </a:solidFill>
                <a:latin typeface="Microsoft Sans Serif"/>
                <a:cs typeface="Microsoft Sans Serif"/>
              </a:rPr>
              <a:t>Inglés,</a:t>
            </a:r>
            <a:r>
              <a:rPr dirty="0" sz="1450" spc="4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60">
                <a:solidFill>
                  <a:srgbClr val="404154"/>
                </a:solidFill>
                <a:latin typeface="Microsoft Sans Serif"/>
                <a:cs typeface="Microsoft Sans Serif"/>
              </a:rPr>
              <a:t>con</a:t>
            </a:r>
            <a:r>
              <a:rPr dirty="0" sz="1450" spc="7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95">
                <a:solidFill>
                  <a:srgbClr val="404154"/>
                </a:solidFill>
                <a:latin typeface="Microsoft Sans Serif"/>
                <a:cs typeface="Microsoft Sans Serif"/>
              </a:rPr>
              <a:t>modo</a:t>
            </a:r>
            <a:r>
              <a:rPr dirty="0" sz="1450" spc="6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10">
                <a:solidFill>
                  <a:srgbClr val="404154"/>
                </a:solidFill>
                <a:latin typeface="Microsoft Sans Serif"/>
                <a:cs typeface="Microsoft Sans Serif"/>
              </a:rPr>
              <a:t>claro </a:t>
            </a:r>
            <a:r>
              <a:rPr dirty="0" sz="1450" spc="65">
                <a:solidFill>
                  <a:srgbClr val="404154"/>
                </a:solidFill>
                <a:latin typeface="Microsoft Sans Serif"/>
                <a:cs typeface="Microsoft Sans Serif"/>
              </a:rPr>
              <a:t>y</a:t>
            </a:r>
            <a:r>
              <a:rPr dirty="0" sz="1450" spc="-2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10">
                <a:solidFill>
                  <a:srgbClr val="404154"/>
                </a:solidFill>
                <a:latin typeface="Microsoft Sans Serif"/>
                <a:cs typeface="Microsoft Sans Serif"/>
              </a:rPr>
              <a:t>oscuro.</a:t>
            </a:r>
            <a:endParaRPr sz="1450">
              <a:latin typeface="Microsoft Sans Serif"/>
              <a:cs typeface="Microsoft Sans Serif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40610" y="4269807"/>
            <a:ext cx="5358130" cy="2002789"/>
            <a:chOff x="640610" y="4269807"/>
            <a:chExt cx="5358130" cy="2002789"/>
          </a:xfrm>
        </p:grpSpPr>
        <p:sp>
          <p:nvSpPr>
            <p:cNvPr id="15" name="object 15"/>
            <p:cNvSpPr/>
            <p:nvPr/>
          </p:nvSpPr>
          <p:spPr>
            <a:xfrm>
              <a:off x="665971" y="4554103"/>
              <a:ext cx="5332730" cy="1693545"/>
            </a:xfrm>
            <a:custGeom>
              <a:avLst/>
              <a:gdLst/>
              <a:ahLst/>
              <a:cxnLst/>
              <a:rect l="l" t="t" r="r" b="b"/>
              <a:pathLst>
                <a:path w="5332730" h="1693545">
                  <a:moveTo>
                    <a:pt x="5230694" y="0"/>
                  </a:moveTo>
                  <a:lnTo>
                    <a:pt x="101442" y="0"/>
                  </a:lnTo>
                  <a:lnTo>
                    <a:pt x="61956" y="7946"/>
                  </a:lnTo>
                  <a:lnTo>
                    <a:pt x="29712" y="29614"/>
                  </a:lnTo>
                  <a:lnTo>
                    <a:pt x="7971" y="61745"/>
                  </a:lnTo>
                  <a:lnTo>
                    <a:pt x="0" y="101082"/>
                  </a:lnTo>
                  <a:lnTo>
                    <a:pt x="0" y="1627316"/>
                  </a:lnTo>
                  <a:lnTo>
                    <a:pt x="5191" y="1652936"/>
                  </a:lnTo>
                  <a:lnTo>
                    <a:pt x="19347" y="1673858"/>
                  </a:lnTo>
                  <a:lnTo>
                    <a:pt x="40343" y="1687964"/>
                  </a:lnTo>
                  <a:lnTo>
                    <a:pt x="66053" y="1693136"/>
                  </a:lnTo>
                  <a:lnTo>
                    <a:pt x="5266094" y="1693136"/>
                  </a:lnTo>
                  <a:lnTo>
                    <a:pt x="5291946" y="1687964"/>
                  </a:lnTo>
                  <a:lnTo>
                    <a:pt x="5313018" y="1673858"/>
                  </a:lnTo>
                  <a:lnTo>
                    <a:pt x="5327205" y="1652936"/>
                  </a:lnTo>
                  <a:lnTo>
                    <a:pt x="5332402" y="1627316"/>
                  </a:lnTo>
                  <a:lnTo>
                    <a:pt x="5332402" y="101082"/>
                  </a:lnTo>
                  <a:lnTo>
                    <a:pt x="5324423" y="61745"/>
                  </a:lnTo>
                  <a:lnTo>
                    <a:pt x="5302649" y="29614"/>
                  </a:lnTo>
                  <a:lnTo>
                    <a:pt x="5270325" y="7946"/>
                  </a:lnTo>
                  <a:lnTo>
                    <a:pt x="5230694" y="0"/>
                  </a:lnTo>
                  <a:close/>
                </a:path>
              </a:pathLst>
            </a:custGeom>
            <a:solidFill>
              <a:srgbClr val="F4F7F9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65971" y="4615888"/>
              <a:ext cx="5266690" cy="1631950"/>
            </a:xfrm>
            <a:custGeom>
              <a:avLst/>
              <a:gdLst/>
              <a:ahLst/>
              <a:cxnLst/>
              <a:rect l="l" t="t" r="r" b="b"/>
              <a:pathLst>
                <a:path w="5266690" h="1631950">
                  <a:moveTo>
                    <a:pt x="5266094" y="1631351"/>
                  </a:moveTo>
                  <a:lnTo>
                    <a:pt x="66053" y="1631351"/>
                  </a:lnTo>
                </a:path>
                <a:path w="5266690" h="1631950">
                  <a:moveTo>
                    <a:pt x="0" y="1565531"/>
                  </a:moveTo>
                  <a:lnTo>
                    <a:pt x="0" y="39297"/>
                  </a:lnTo>
                </a:path>
                <a:path w="5266690" h="1631950">
                  <a:moveTo>
                    <a:pt x="7835" y="631"/>
                  </a:moveTo>
                  <a:lnTo>
                    <a:pt x="8046" y="0"/>
                  </a:lnTo>
                </a:path>
              </a:pathLst>
            </a:custGeom>
            <a:ln w="50631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65962" y="4269816"/>
              <a:ext cx="5332730" cy="568960"/>
            </a:xfrm>
            <a:custGeom>
              <a:avLst/>
              <a:gdLst/>
              <a:ahLst/>
              <a:cxnLst/>
              <a:rect l="l" t="t" r="r" b="b"/>
              <a:pathLst>
                <a:path w="5332730" h="568960">
                  <a:moveTo>
                    <a:pt x="5332400" y="324827"/>
                  </a:moveTo>
                  <a:lnTo>
                    <a:pt x="5327205" y="299224"/>
                  </a:lnTo>
                  <a:lnTo>
                    <a:pt x="5313019" y="278307"/>
                  </a:lnTo>
                  <a:lnTo>
                    <a:pt x="5291950" y="264198"/>
                  </a:lnTo>
                  <a:lnTo>
                    <a:pt x="5266093" y="259016"/>
                  </a:lnTo>
                  <a:lnTo>
                    <a:pt x="2952496" y="259016"/>
                  </a:lnTo>
                  <a:lnTo>
                    <a:pt x="2950819" y="238188"/>
                  </a:lnTo>
                  <a:lnTo>
                    <a:pt x="2939999" y="194437"/>
                  </a:lnTo>
                  <a:lnTo>
                    <a:pt x="2922701" y="153657"/>
                  </a:lnTo>
                  <a:lnTo>
                    <a:pt x="2899499" y="116395"/>
                  </a:lnTo>
                  <a:lnTo>
                    <a:pt x="2870974" y="83273"/>
                  </a:lnTo>
                  <a:lnTo>
                    <a:pt x="2837738" y="54851"/>
                  </a:lnTo>
                  <a:lnTo>
                    <a:pt x="2800350" y="31737"/>
                  </a:lnTo>
                  <a:lnTo>
                    <a:pt x="2759418" y="14490"/>
                  </a:lnTo>
                  <a:lnTo>
                    <a:pt x="2715514" y="3721"/>
                  </a:lnTo>
                  <a:lnTo>
                    <a:pt x="2669235" y="0"/>
                  </a:lnTo>
                  <a:lnTo>
                    <a:pt x="2622969" y="3721"/>
                  </a:lnTo>
                  <a:lnTo>
                    <a:pt x="2579065" y="14490"/>
                  </a:lnTo>
                  <a:lnTo>
                    <a:pt x="2538133" y="31737"/>
                  </a:lnTo>
                  <a:lnTo>
                    <a:pt x="2500744" y="54851"/>
                  </a:lnTo>
                  <a:lnTo>
                    <a:pt x="2467508" y="83273"/>
                  </a:lnTo>
                  <a:lnTo>
                    <a:pt x="2438984" y="116395"/>
                  </a:lnTo>
                  <a:lnTo>
                    <a:pt x="2415781" y="153657"/>
                  </a:lnTo>
                  <a:lnTo>
                    <a:pt x="2398484" y="194437"/>
                  </a:lnTo>
                  <a:lnTo>
                    <a:pt x="2387663" y="238188"/>
                  </a:lnTo>
                  <a:lnTo>
                    <a:pt x="2385974" y="259016"/>
                  </a:lnTo>
                  <a:lnTo>
                    <a:pt x="66052" y="259016"/>
                  </a:lnTo>
                  <a:lnTo>
                    <a:pt x="40347" y="264198"/>
                  </a:lnTo>
                  <a:lnTo>
                    <a:pt x="19354" y="278307"/>
                  </a:lnTo>
                  <a:lnTo>
                    <a:pt x="5194" y="299224"/>
                  </a:lnTo>
                  <a:lnTo>
                    <a:pt x="0" y="324827"/>
                  </a:lnTo>
                  <a:lnTo>
                    <a:pt x="0" y="360108"/>
                  </a:lnTo>
                  <a:lnTo>
                    <a:pt x="2395004" y="360108"/>
                  </a:lnTo>
                  <a:lnTo>
                    <a:pt x="2398484" y="374142"/>
                  </a:lnTo>
                  <a:lnTo>
                    <a:pt x="2415781" y="414934"/>
                  </a:lnTo>
                  <a:lnTo>
                    <a:pt x="2438984" y="452183"/>
                  </a:lnTo>
                  <a:lnTo>
                    <a:pt x="2467508" y="485317"/>
                  </a:lnTo>
                  <a:lnTo>
                    <a:pt x="2500744" y="513727"/>
                  </a:lnTo>
                  <a:lnTo>
                    <a:pt x="2538133" y="536854"/>
                  </a:lnTo>
                  <a:lnTo>
                    <a:pt x="2579065" y="554088"/>
                  </a:lnTo>
                  <a:lnTo>
                    <a:pt x="2622969" y="564870"/>
                  </a:lnTo>
                  <a:lnTo>
                    <a:pt x="2669235" y="568591"/>
                  </a:lnTo>
                  <a:lnTo>
                    <a:pt x="2715514" y="564870"/>
                  </a:lnTo>
                  <a:lnTo>
                    <a:pt x="2759418" y="554088"/>
                  </a:lnTo>
                  <a:lnTo>
                    <a:pt x="2800350" y="536854"/>
                  </a:lnTo>
                  <a:lnTo>
                    <a:pt x="2837738" y="513727"/>
                  </a:lnTo>
                  <a:lnTo>
                    <a:pt x="2870974" y="485317"/>
                  </a:lnTo>
                  <a:lnTo>
                    <a:pt x="2899499" y="452183"/>
                  </a:lnTo>
                  <a:lnTo>
                    <a:pt x="2922701" y="414934"/>
                  </a:lnTo>
                  <a:lnTo>
                    <a:pt x="2939999" y="374142"/>
                  </a:lnTo>
                  <a:lnTo>
                    <a:pt x="2943466" y="360108"/>
                  </a:lnTo>
                  <a:lnTo>
                    <a:pt x="5332400" y="360108"/>
                  </a:lnTo>
                  <a:lnTo>
                    <a:pt x="5332400" y="324827"/>
                  </a:lnTo>
                  <a:close/>
                </a:path>
              </a:pathLst>
            </a:custGeom>
            <a:solidFill>
              <a:srgbClr val="4867E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3256534" y="4382516"/>
            <a:ext cx="150495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55">
                <a:solidFill>
                  <a:srgbClr val="FFFFFF"/>
                </a:solidFill>
                <a:latin typeface="Palatino Linotype"/>
                <a:cs typeface="Palatino Linotype"/>
              </a:rPr>
              <a:t>3</a:t>
            </a:r>
            <a:endParaRPr sz="1750">
              <a:latin typeface="Palatino Linotype"/>
              <a:cs typeface="Palatino Linotyp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63295" y="4994528"/>
            <a:ext cx="4792345" cy="1000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20">
                <a:solidFill>
                  <a:srgbClr val="404154"/>
                </a:solidFill>
                <a:latin typeface="Palatino Linotype"/>
                <a:cs typeface="Palatino Linotype"/>
              </a:rPr>
              <a:t>Arquitectura</a:t>
            </a:r>
            <a:r>
              <a:rPr dirty="0" sz="1850" spc="114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850" spc="-10">
                <a:solidFill>
                  <a:srgbClr val="404154"/>
                </a:solidFill>
                <a:latin typeface="Palatino Linotype"/>
                <a:cs typeface="Palatino Linotype"/>
              </a:rPr>
              <a:t>desacoplada</a:t>
            </a:r>
            <a:endParaRPr sz="1850">
              <a:latin typeface="Palatino Linotype"/>
              <a:cs typeface="Palatino Linotype"/>
            </a:endParaRPr>
          </a:p>
          <a:p>
            <a:pPr marL="12700" marR="5080">
              <a:lnSpc>
                <a:spcPct val="132600"/>
              </a:lnSpc>
              <a:spcBef>
                <a:spcPts val="844"/>
              </a:spcBef>
            </a:pPr>
            <a:r>
              <a:rPr dirty="0" sz="1450" spc="55">
                <a:solidFill>
                  <a:srgbClr val="404154"/>
                </a:solidFill>
                <a:latin typeface="Microsoft Sans Serif"/>
                <a:cs typeface="Microsoft Sans Serif"/>
              </a:rPr>
              <a:t>Frontend</a:t>
            </a:r>
            <a:r>
              <a:rPr dirty="0" sz="1450" spc="2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65">
                <a:solidFill>
                  <a:srgbClr val="404154"/>
                </a:solidFill>
                <a:latin typeface="Microsoft Sans Serif"/>
                <a:cs typeface="Microsoft Sans Serif"/>
              </a:rPr>
              <a:t>y</a:t>
            </a:r>
            <a:r>
              <a:rPr dirty="0" sz="1450" spc="3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55">
                <a:solidFill>
                  <a:srgbClr val="404154"/>
                </a:solidFill>
                <a:latin typeface="Microsoft Sans Serif"/>
                <a:cs typeface="Microsoft Sans Serif"/>
              </a:rPr>
              <a:t>backend</a:t>
            </a:r>
            <a:r>
              <a:rPr dirty="0" sz="1450" spc="1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30">
                <a:solidFill>
                  <a:srgbClr val="404154"/>
                </a:solidFill>
                <a:latin typeface="Microsoft Sans Serif"/>
                <a:cs typeface="Microsoft Sans Serif"/>
              </a:rPr>
              <a:t>independientes,</a:t>
            </a:r>
            <a:r>
              <a:rPr dirty="0" sz="1450" spc="-1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50">
                <a:solidFill>
                  <a:srgbClr val="404154"/>
                </a:solidFill>
                <a:latin typeface="Microsoft Sans Serif"/>
                <a:cs typeface="Microsoft Sans Serif"/>
              </a:rPr>
              <a:t>comunicados</a:t>
            </a:r>
            <a:r>
              <a:rPr dirty="0" sz="1450" spc="55">
                <a:solidFill>
                  <a:srgbClr val="404154"/>
                </a:solidFill>
                <a:latin typeface="Microsoft Sans Serif"/>
                <a:cs typeface="Microsoft Sans Serif"/>
              </a:rPr>
              <a:t> por API</a:t>
            </a:r>
            <a:r>
              <a:rPr dirty="0" sz="1450" spc="-1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20">
                <a:solidFill>
                  <a:srgbClr val="404154"/>
                </a:solidFill>
                <a:latin typeface="Microsoft Sans Serif"/>
                <a:cs typeface="Microsoft Sans Serif"/>
              </a:rPr>
              <a:t>REST.</a:t>
            </a:r>
            <a:endParaRPr sz="1450">
              <a:latin typeface="Microsoft Sans Serif"/>
              <a:cs typeface="Microsoft Sans Serif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169491" y="4269807"/>
            <a:ext cx="5358130" cy="2002789"/>
            <a:chOff x="6169491" y="4269807"/>
            <a:chExt cx="5358130" cy="2002789"/>
          </a:xfrm>
        </p:grpSpPr>
        <p:sp>
          <p:nvSpPr>
            <p:cNvPr id="21" name="object 21"/>
            <p:cNvSpPr/>
            <p:nvPr/>
          </p:nvSpPr>
          <p:spPr>
            <a:xfrm>
              <a:off x="6194852" y="4554103"/>
              <a:ext cx="5332730" cy="1693545"/>
            </a:xfrm>
            <a:custGeom>
              <a:avLst/>
              <a:gdLst/>
              <a:ahLst/>
              <a:cxnLst/>
              <a:rect l="l" t="t" r="r" b="b"/>
              <a:pathLst>
                <a:path w="5332730" h="1693545">
                  <a:moveTo>
                    <a:pt x="5230784" y="0"/>
                  </a:moveTo>
                  <a:lnTo>
                    <a:pt x="101444" y="0"/>
                  </a:lnTo>
                  <a:lnTo>
                    <a:pt x="61957" y="7946"/>
                  </a:lnTo>
                  <a:lnTo>
                    <a:pt x="29712" y="29614"/>
                  </a:lnTo>
                  <a:lnTo>
                    <a:pt x="7972" y="61745"/>
                  </a:lnTo>
                  <a:lnTo>
                    <a:pt x="0" y="101082"/>
                  </a:lnTo>
                  <a:lnTo>
                    <a:pt x="0" y="1627316"/>
                  </a:lnTo>
                  <a:lnTo>
                    <a:pt x="5191" y="1652936"/>
                  </a:lnTo>
                  <a:lnTo>
                    <a:pt x="19348" y="1673858"/>
                  </a:lnTo>
                  <a:lnTo>
                    <a:pt x="40344" y="1687964"/>
                  </a:lnTo>
                  <a:lnTo>
                    <a:pt x="66055" y="1693136"/>
                  </a:lnTo>
                  <a:lnTo>
                    <a:pt x="5266184" y="1693136"/>
                  </a:lnTo>
                  <a:lnTo>
                    <a:pt x="5292037" y="1687964"/>
                  </a:lnTo>
                  <a:lnTo>
                    <a:pt x="5313110" y="1673858"/>
                  </a:lnTo>
                  <a:lnTo>
                    <a:pt x="5327297" y="1652936"/>
                  </a:lnTo>
                  <a:lnTo>
                    <a:pt x="5332494" y="1627316"/>
                  </a:lnTo>
                  <a:lnTo>
                    <a:pt x="5332493" y="101082"/>
                  </a:lnTo>
                  <a:lnTo>
                    <a:pt x="5324514" y="61745"/>
                  </a:lnTo>
                  <a:lnTo>
                    <a:pt x="5302740" y="29614"/>
                  </a:lnTo>
                  <a:lnTo>
                    <a:pt x="5270415" y="7946"/>
                  </a:lnTo>
                  <a:lnTo>
                    <a:pt x="5230784" y="0"/>
                  </a:lnTo>
                  <a:close/>
                </a:path>
              </a:pathLst>
            </a:custGeom>
            <a:solidFill>
              <a:srgbClr val="F4F7F9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194852" y="4615888"/>
              <a:ext cx="5266690" cy="1631950"/>
            </a:xfrm>
            <a:custGeom>
              <a:avLst/>
              <a:gdLst/>
              <a:ahLst/>
              <a:cxnLst/>
              <a:rect l="l" t="t" r="r" b="b"/>
              <a:pathLst>
                <a:path w="5266690" h="1631950">
                  <a:moveTo>
                    <a:pt x="5266184" y="1631351"/>
                  </a:moveTo>
                  <a:lnTo>
                    <a:pt x="66055" y="1631351"/>
                  </a:lnTo>
                </a:path>
                <a:path w="5266690" h="1631950">
                  <a:moveTo>
                    <a:pt x="0" y="1565531"/>
                  </a:moveTo>
                  <a:lnTo>
                    <a:pt x="0" y="39297"/>
                  </a:lnTo>
                </a:path>
                <a:path w="5266690" h="1631950">
                  <a:moveTo>
                    <a:pt x="7835" y="631"/>
                  </a:moveTo>
                  <a:lnTo>
                    <a:pt x="8046" y="0"/>
                  </a:lnTo>
                </a:path>
              </a:pathLst>
            </a:custGeom>
            <a:ln w="50632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194844" y="4269816"/>
              <a:ext cx="5332730" cy="568960"/>
            </a:xfrm>
            <a:custGeom>
              <a:avLst/>
              <a:gdLst/>
              <a:ahLst/>
              <a:cxnLst/>
              <a:rect l="l" t="t" r="r" b="b"/>
              <a:pathLst>
                <a:path w="5332730" h="568960">
                  <a:moveTo>
                    <a:pt x="5332501" y="324827"/>
                  </a:moveTo>
                  <a:lnTo>
                    <a:pt x="5327294" y="299224"/>
                  </a:lnTo>
                  <a:lnTo>
                    <a:pt x="5313108" y="278307"/>
                  </a:lnTo>
                  <a:lnTo>
                    <a:pt x="5292039" y="264198"/>
                  </a:lnTo>
                  <a:lnTo>
                    <a:pt x="5266182" y="259016"/>
                  </a:lnTo>
                  <a:lnTo>
                    <a:pt x="2952546" y="259016"/>
                  </a:lnTo>
                  <a:lnTo>
                    <a:pt x="2950870" y="238188"/>
                  </a:lnTo>
                  <a:lnTo>
                    <a:pt x="2940050" y="194437"/>
                  </a:lnTo>
                  <a:lnTo>
                    <a:pt x="2922752" y="153657"/>
                  </a:lnTo>
                  <a:lnTo>
                    <a:pt x="2899549" y="116395"/>
                  </a:lnTo>
                  <a:lnTo>
                    <a:pt x="2871025" y="83273"/>
                  </a:lnTo>
                  <a:lnTo>
                    <a:pt x="2837777" y="54851"/>
                  </a:lnTo>
                  <a:lnTo>
                    <a:pt x="2800400" y="31737"/>
                  </a:lnTo>
                  <a:lnTo>
                    <a:pt x="2759456" y="14490"/>
                  </a:lnTo>
                  <a:lnTo>
                    <a:pt x="2715564" y="3721"/>
                  </a:lnTo>
                  <a:lnTo>
                    <a:pt x="2669286" y="0"/>
                  </a:lnTo>
                  <a:lnTo>
                    <a:pt x="2623007" y="3721"/>
                  </a:lnTo>
                  <a:lnTo>
                    <a:pt x="2579116" y="14490"/>
                  </a:lnTo>
                  <a:lnTo>
                    <a:pt x="2538171" y="31737"/>
                  </a:lnTo>
                  <a:lnTo>
                    <a:pt x="2500795" y="54851"/>
                  </a:lnTo>
                  <a:lnTo>
                    <a:pt x="2467546" y="83273"/>
                  </a:lnTo>
                  <a:lnTo>
                    <a:pt x="2439022" y="116395"/>
                  </a:lnTo>
                  <a:lnTo>
                    <a:pt x="2415819" y="153657"/>
                  </a:lnTo>
                  <a:lnTo>
                    <a:pt x="2398522" y="194437"/>
                  </a:lnTo>
                  <a:lnTo>
                    <a:pt x="2387701" y="238188"/>
                  </a:lnTo>
                  <a:lnTo>
                    <a:pt x="2386012" y="259016"/>
                  </a:lnTo>
                  <a:lnTo>
                    <a:pt x="66052" y="259016"/>
                  </a:lnTo>
                  <a:lnTo>
                    <a:pt x="40347" y="264198"/>
                  </a:lnTo>
                  <a:lnTo>
                    <a:pt x="19354" y="278307"/>
                  </a:lnTo>
                  <a:lnTo>
                    <a:pt x="5194" y="299224"/>
                  </a:lnTo>
                  <a:lnTo>
                    <a:pt x="0" y="324827"/>
                  </a:lnTo>
                  <a:lnTo>
                    <a:pt x="0" y="360108"/>
                  </a:lnTo>
                  <a:lnTo>
                    <a:pt x="2395042" y="360108"/>
                  </a:lnTo>
                  <a:lnTo>
                    <a:pt x="2398522" y="374142"/>
                  </a:lnTo>
                  <a:lnTo>
                    <a:pt x="2415819" y="414934"/>
                  </a:lnTo>
                  <a:lnTo>
                    <a:pt x="2439022" y="452183"/>
                  </a:lnTo>
                  <a:lnTo>
                    <a:pt x="2467546" y="485317"/>
                  </a:lnTo>
                  <a:lnTo>
                    <a:pt x="2500795" y="513727"/>
                  </a:lnTo>
                  <a:lnTo>
                    <a:pt x="2538171" y="536854"/>
                  </a:lnTo>
                  <a:lnTo>
                    <a:pt x="2579116" y="554088"/>
                  </a:lnTo>
                  <a:lnTo>
                    <a:pt x="2623007" y="564870"/>
                  </a:lnTo>
                  <a:lnTo>
                    <a:pt x="2669286" y="568591"/>
                  </a:lnTo>
                  <a:lnTo>
                    <a:pt x="2715564" y="564870"/>
                  </a:lnTo>
                  <a:lnTo>
                    <a:pt x="2759456" y="554088"/>
                  </a:lnTo>
                  <a:lnTo>
                    <a:pt x="2800400" y="536854"/>
                  </a:lnTo>
                  <a:lnTo>
                    <a:pt x="2837777" y="513727"/>
                  </a:lnTo>
                  <a:lnTo>
                    <a:pt x="2871025" y="485317"/>
                  </a:lnTo>
                  <a:lnTo>
                    <a:pt x="2899549" y="452183"/>
                  </a:lnTo>
                  <a:lnTo>
                    <a:pt x="2922752" y="414934"/>
                  </a:lnTo>
                  <a:lnTo>
                    <a:pt x="2940050" y="374142"/>
                  </a:lnTo>
                  <a:lnTo>
                    <a:pt x="2943517" y="360108"/>
                  </a:lnTo>
                  <a:lnTo>
                    <a:pt x="5332501" y="360108"/>
                  </a:lnTo>
                  <a:lnTo>
                    <a:pt x="5332501" y="324827"/>
                  </a:lnTo>
                  <a:close/>
                </a:path>
              </a:pathLst>
            </a:custGeom>
            <a:solidFill>
              <a:srgbClr val="4867E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8792336" y="4382516"/>
            <a:ext cx="139065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50">
                <a:solidFill>
                  <a:srgbClr val="FFFFFF"/>
                </a:solidFill>
                <a:latin typeface="Palatino Linotype"/>
                <a:cs typeface="Palatino Linotype"/>
              </a:rPr>
              <a:t>4</a:t>
            </a:r>
            <a:endParaRPr sz="1750">
              <a:latin typeface="Palatino Linotype"/>
              <a:cs typeface="Palatino Linotyp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392671" y="4994528"/>
            <a:ext cx="4551045" cy="1000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70">
                <a:solidFill>
                  <a:srgbClr val="404154"/>
                </a:solidFill>
                <a:latin typeface="Palatino Linotype"/>
                <a:cs typeface="Palatino Linotype"/>
              </a:rPr>
              <a:t>Escalable</a:t>
            </a:r>
            <a:r>
              <a:rPr dirty="0" sz="1850" spc="-80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850">
                <a:solidFill>
                  <a:srgbClr val="404154"/>
                </a:solidFill>
                <a:latin typeface="Palatino Linotype"/>
                <a:cs typeface="Palatino Linotype"/>
              </a:rPr>
              <a:t>por</a:t>
            </a:r>
            <a:r>
              <a:rPr dirty="0" sz="1850" spc="-120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850" spc="-10">
                <a:solidFill>
                  <a:srgbClr val="404154"/>
                </a:solidFill>
                <a:latin typeface="Palatino Linotype"/>
                <a:cs typeface="Palatino Linotype"/>
              </a:rPr>
              <a:t>diseño</a:t>
            </a:r>
            <a:endParaRPr sz="1850">
              <a:latin typeface="Palatino Linotype"/>
              <a:cs typeface="Palatino Linotype"/>
            </a:endParaRPr>
          </a:p>
          <a:p>
            <a:pPr marL="12700" marR="5080">
              <a:lnSpc>
                <a:spcPct val="132600"/>
              </a:lnSpc>
              <a:spcBef>
                <a:spcPts val="844"/>
              </a:spcBef>
            </a:pP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Estándares</a:t>
            </a:r>
            <a:r>
              <a:rPr dirty="0" sz="1450" spc="2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de</a:t>
            </a:r>
            <a:r>
              <a:rPr dirty="0" sz="1450" spc="4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55">
                <a:solidFill>
                  <a:srgbClr val="404154"/>
                </a:solidFill>
                <a:latin typeface="Microsoft Sans Serif"/>
                <a:cs typeface="Microsoft Sans Serif"/>
              </a:rPr>
              <a:t>API</a:t>
            </a:r>
            <a:r>
              <a:rPr dirty="0" sz="1450" spc="4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que</a:t>
            </a:r>
            <a:r>
              <a:rPr dirty="0" sz="1450" spc="4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75">
                <a:solidFill>
                  <a:srgbClr val="404154"/>
                </a:solidFill>
                <a:latin typeface="Microsoft Sans Serif"/>
                <a:cs typeface="Microsoft Sans Serif"/>
              </a:rPr>
              <a:t>permiten</a:t>
            </a:r>
            <a:r>
              <a:rPr dirty="0" sz="1450" spc="1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55">
                <a:solidFill>
                  <a:srgbClr val="404154"/>
                </a:solidFill>
                <a:latin typeface="Microsoft Sans Serif"/>
                <a:cs typeface="Microsoft Sans Serif"/>
              </a:rPr>
              <a:t>sumar</a:t>
            </a:r>
            <a:r>
              <a:rPr dirty="0" sz="1450" spc="4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60">
                <a:solidFill>
                  <a:srgbClr val="404154"/>
                </a:solidFill>
                <a:latin typeface="Microsoft Sans Serif"/>
                <a:cs typeface="Microsoft Sans Serif"/>
              </a:rPr>
              <a:t>módulos</a:t>
            </a:r>
            <a:r>
              <a:rPr dirty="0" sz="1450" spc="7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25">
                <a:solidFill>
                  <a:srgbClr val="404154"/>
                </a:solidFill>
                <a:latin typeface="Microsoft Sans Serif"/>
                <a:cs typeface="Microsoft Sans Serif"/>
              </a:rPr>
              <a:t>sin </a:t>
            </a:r>
            <a:r>
              <a:rPr dirty="0" sz="1450" spc="10">
                <a:solidFill>
                  <a:srgbClr val="404154"/>
                </a:solidFill>
                <a:latin typeface="Microsoft Sans Serif"/>
                <a:cs typeface="Microsoft Sans Serif"/>
              </a:rPr>
              <a:t>reescribir</a:t>
            </a:r>
            <a:r>
              <a:rPr dirty="0" sz="1450" spc="5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10">
                <a:solidFill>
                  <a:srgbClr val="404154"/>
                </a:solidFill>
                <a:latin typeface="Microsoft Sans Serif"/>
                <a:cs typeface="Microsoft Sans Serif"/>
              </a:rPr>
              <a:t>la</a:t>
            </a:r>
            <a:r>
              <a:rPr dirty="0" sz="1450" spc="15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20">
                <a:solidFill>
                  <a:srgbClr val="404154"/>
                </a:solidFill>
                <a:latin typeface="Microsoft Sans Serif"/>
                <a:cs typeface="Microsoft Sans Serif"/>
              </a:rPr>
              <a:t>base.</a:t>
            </a:r>
            <a:endParaRPr sz="14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910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700" spc="130"/>
              <a:t>Delimitación</a:t>
            </a:r>
            <a:r>
              <a:rPr dirty="0" sz="3700" spc="-215"/>
              <a:t> </a:t>
            </a:r>
            <a:r>
              <a:rPr dirty="0" sz="3700" spc="-30"/>
              <a:t>del</a:t>
            </a:r>
            <a:r>
              <a:rPr dirty="0" sz="3700" spc="-225"/>
              <a:t> </a:t>
            </a:r>
            <a:r>
              <a:rPr dirty="0" sz="3700" spc="125"/>
              <a:t>alcance</a:t>
            </a:r>
            <a:endParaRPr sz="3700"/>
          </a:p>
        </p:txBody>
      </p:sp>
      <p:sp>
        <p:nvSpPr>
          <p:cNvPr id="3" name="object 3"/>
          <p:cNvSpPr txBox="1"/>
          <p:nvPr/>
        </p:nvSpPr>
        <p:spPr>
          <a:xfrm>
            <a:off x="648716" y="1781607"/>
            <a:ext cx="10339705" cy="610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400"/>
              </a:lnSpc>
              <a:spcBef>
                <a:spcPts val="100"/>
              </a:spcBef>
            </a:pPr>
            <a:r>
              <a:rPr dirty="0" sz="1450" spc="60">
                <a:solidFill>
                  <a:srgbClr val="404154"/>
                </a:solidFill>
                <a:latin typeface="Microsoft Sans Serif"/>
                <a:cs typeface="Microsoft Sans Serif"/>
              </a:rPr>
              <a:t>Alloxentric</a:t>
            </a:r>
            <a:r>
              <a:rPr dirty="0" sz="1450" spc="4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20">
                <a:solidFill>
                  <a:srgbClr val="404154"/>
                </a:solidFill>
                <a:latin typeface="Microsoft Sans Serif"/>
                <a:cs typeface="Microsoft Sans Serif"/>
              </a:rPr>
              <a:t>asignó</a:t>
            </a:r>
            <a:r>
              <a:rPr dirty="0" sz="1450" spc="3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20">
                <a:solidFill>
                  <a:srgbClr val="404154"/>
                </a:solidFill>
                <a:latin typeface="Microsoft Sans Serif"/>
                <a:cs typeface="Microsoft Sans Serif"/>
              </a:rPr>
              <a:t>a</a:t>
            </a:r>
            <a:r>
              <a:rPr dirty="0" sz="1450" spc="2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65">
                <a:solidFill>
                  <a:srgbClr val="404154"/>
                </a:solidFill>
                <a:latin typeface="Microsoft Sans Serif"/>
                <a:cs typeface="Microsoft Sans Serif"/>
              </a:rPr>
              <a:t>nuestro</a:t>
            </a:r>
            <a:r>
              <a:rPr dirty="0" sz="1450" spc="-1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50">
                <a:solidFill>
                  <a:srgbClr val="404154"/>
                </a:solidFill>
                <a:latin typeface="Microsoft Sans Serif"/>
                <a:cs typeface="Microsoft Sans Serif"/>
              </a:rPr>
              <a:t>equipo</a:t>
            </a:r>
            <a:r>
              <a:rPr dirty="0" sz="1450" spc="1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70">
                <a:solidFill>
                  <a:srgbClr val="404154"/>
                </a:solidFill>
                <a:latin typeface="Microsoft Sans Serif"/>
                <a:cs typeface="Microsoft Sans Serif"/>
              </a:rPr>
              <a:t>un</a:t>
            </a:r>
            <a:r>
              <a:rPr dirty="0" sz="1450" spc="2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50">
                <a:solidFill>
                  <a:srgbClr val="404154"/>
                </a:solidFill>
                <a:latin typeface="Microsoft Sans Serif"/>
                <a:cs typeface="Microsoft Sans Serif"/>
              </a:rPr>
              <a:t>entregable</a:t>
            </a:r>
            <a:r>
              <a:rPr dirty="0" sz="1450" spc="-1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75">
                <a:solidFill>
                  <a:srgbClr val="404154"/>
                </a:solidFill>
                <a:latin typeface="Microsoft Sans Serif"/>
                <a:cs typeface="Microsoft Sans Serif"/>
              </a:rPr>
              <a:t>prioritario</a:t>
            </a:r>
            <a:r>
              <a:rPr dirty="0" sz="1450" spc="-2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65">
                <a:solidFill>
                  <a:srgbClr val="404154"/>
                </a:solidFill>
                <a:latin typeface="Microsoft Sans Serif"/>
                <a:cs typeface="Microsoft Sans Serif"/>
              </a:rPr>
              <a:t>y</a:t>
            </a:r>
            <a:r>
              <a:rPr dirty="0" sz="1450" spc="3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20">
                <a:solidFill>
                  <a:srgbClr val="404154"/>
                </a:solidFill>
                <a:latin typeface="Microsoft Sans Serif"/>
                <a:cs typeface="Microsoft Sans Serif"/>
              </a:rPr>
              <a:t>evaluable,</a:t>
            </a:r>
            <a:r>
              <a:rPr dirty="0" sz="1450" spc="-1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80">
                <a:solidFill>
                  <a:srgbClr val="404154"/>
                </a:solidFill>
                <a:latin typeface="Microsoft Sans Serif"/>
                <a:cs typeface="Microsoft Sans Serif"/>
              </a:rPr>
              <a:t>dentro</a:t>
            </a:r>
            <a:r>
              <a:rPr dirty="0" sz="1450" spc="1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20">
                <a:solidFill>
                  <a:srgbClr val="404154"/>
                </a:solidFill>
                <a:latin typeface="Microsoft Sans Serif"/>
                <a:cs typeface="Microsoft Sans Serif"/>
              </a:rPr>
              <a:t>del</a:t>
            </a:r>
            <a:r>
              <a:rPr dirty="0" sz="1450" spc="1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20">
                <a:solidFill>
                  <a:srgbClr val="404154"/>
                </a:solidFill>
                <a:latin typeface="Microsoft Sans Serif"/>
                <a:cs typeface="Microsoft Sans Serif"/>
              </a:rPr>
              <a:t>ecosistema</a:t>
            </a:r>
            <a:r>
              <a:rPr dirty="0" sz="1450" spc="-2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80">
                <a:solidFill>
                  <a:srgbClr val="404154"/>
                </a:solidFill>
                <a:latin typeface="Microsoft Sans Serif"/>
                <a:cs typeface="Microsoft Sans Serif"/>
              </a:rPr>
              <a:t>completo</a:t>
            </a:r>
            <a:r>
              <a:rPr dirty="0" sz="1450" spc="5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20">
                <a:solidFill>
                  <a:srgbClr val="404154"/>
                </a:solidFill>
                <a:latin typeface="Microsoft Sans Serif"/>
                <a:cs typeface="Microsoft Sans Serif"/>
              </a:rPr>
              <a:t>de</a:t>
            </a:r>
            <a:r>
              <a:rPr dirty="0" sz="1450" spc="1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45">
                <a:solidFill>
                  <a:srgbClr val="404154"/>
                </a:solidFill>
                <a:latin typeface="Microsoft Sans Serif"/>
                <a:cs typeface="Microsoft Sans Serif"/>
              </a:rPr>
              <a:t>Aprueba </a:t>
            </a:r>
            <a:r>
              <a:rPr dirty="0" sz="1450" spc="60">
                <a:solidFill>
                  <a:srgbClr val="404154"/>
                </a:solidFill>
                <a:latin typeface="Microsoft Sans Serif"/>
                <a:cs typeface="Microsoft Sans Serif"/>
              </a:rPr>
              <a:t>Admin.</a:t>
            </a:r>
            <a:endParaRPr sz="14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5348" y="2645917"/>
            <a:ext cx="5476240" cy="3352800"/>
          </a:xfrm>
          <a:custGeom>
            <a:avLst/>
            <a:gdLst/>
            <a:ahLst/>
            <a:cxnLst/>
            <a:rect l="l" t="t" r="r" b="b"/>
            <a:pathLst>
              <a:path w="5476240" h="3352800">
                <a:moveTo>
                  <a:pt x="5339892" y="0"/>
                </a:moveTo>
                <a:lnTo>
                  <a:pt x="136105" y="0"/>
                </a:lnTo>
                <a:lnTo>
                  <a:pt x="93085" y="6941"/>
                </a:lnTo>
                <a:lnTo>
                  <a:pt x="55722" y="26269"/>
                </a:lnTo>
                <a:lnTo>
                  <a:pt x="26259" y="55741"/>
                </a:lnTo>
                <a:lnTo>
                  <a:pt x="6938" y="93114"/>
                </a:lnTo>
                <a:lnTo>
                  <a:pt x="0" y="136144"/>
                </a:lnTo>
                <a:lnTo>
                  <a:pt x="0" y="3216148"/>
                </a:lnTo>
                <a:lnTo>
                  <a:pt x="6938" y="3259168"/>
                </a:lnTo>
                <a:lnTo>
                  <a:pt x="26259" y="3296531"/>
                </a:lnTo>
                <a:lnTo>
                  <a:pt x="55722" y="3325993"/>
                </a:lnTo>
                <a:lnTo>
                  <a:pt x="93085" y="3345315"/>
                </a:lnTo>
                <a:lnTo>
                  <a:pt x="136105" y="3352253"/>
                </a:lnTo>
                <a:lnTo>
                  <a:pt x="5339892" y="3352253"/>
                </a:lnTo>
                <a:lnTo>
                  <a:pt x="5382922" y="3345315"/>
                </a:lnTo>
                <a:lnTo>
                  <a:pt x="5420294" y="3325993"/>
                </a:lnTo>
                <a:lnTo>
                  <a:pt x="5449767" y="3296531"/>
                </a:lnTo>
                <a:lnTo>
                  <a:pt x="5469095" y="3259168"/>
                </a:lnTo>
                <a:lnTo>
                  <a:pt x="5476036" y="3216148"/>
                </a:lnTo>
                <a:lnTo>
                  <a:pt x="5476036" y="136144"/>
                </a:lnTo>
                <a:lnTo>
                  <a:pt x="5469095" y="93114"/>
                </a:lnTo>
                <a:lnTo>
                  <a:pt x="5449767" y="55741"/>
                </a:lnTo>
                <a:lnTo>
                  <a:pt x="5420294" y="26269"/>
                </a:lnTo>
                <a:lnTo>
                  <a:pt x="5382922" y="6941"/>
                </a:lnTo>
                <a:lnTo>
                  <a:pt x="5339892" y="0"/>
                </a:lnTo>
                <a:close/>
              </a:path>
            </a:pathLst>
          </a:custGeom>
          <a:solidFill>
            <a:srgbClr val="1C7192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pc="100"/>
              <a:t>FASE</a:t>
            </a:r>
            <a:r>
              <a:rPr dirty="0" spc="-105"/>
              <a:t> </a:t>
            </a:r>
            <a:r>
              <a:rPr dirty="0" spc="-380"/>
              <a:t>1</a:t>
            </a:r>
            <a:r>
              <a:rPr dirty="0" spc="-110"/>
              <a:t> </a:t>
            </a:r>
            <a:r>
              <a:rPr dirty="0" spc="-35"/>
              <a:t>·</a:t>
            </a:r>
            <a:r>
              <a:rPr dirty="0" spc="-130"/>
              <a:t> </a:t>
            </a:r>
            <a:r>
              <a:rPr dirty="0" spc="105"/>
              <a:t>COMPROMISO</a:t>
            </a:r>
            <a:r>
              <a:rPr dirty="0" spc="-80"/>
              <a:t> </a:t>
            </a:r>
            <a:r>
              <a:rPr dirty="0" spc="40"/>
              <a:t>CRÍTICO</a:t>
            </a: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2200" spc="85"/>
              <a:t>Sponsors</a:t>
            </a:r>
            <a:r>
              <a:rPr dirty="0" sz="2200" spc="-150"/>
              <a:t> </a:t>
            </a:r>
            <a:r>
              <a:rPr dirty="0" sz="2200" spc="-30"/>
              <a:t>y</a:t>
            </a:r>
            <a:r>
              <a:rPr dirty="0" sz="2200" spc="-120"/>
              <a:t> </a:t>
            </a:r>
            <a:r>
              <a:rPr dirty="0" sz="2200" spc="-10"/>
              <a:t>Fidelidad</a:t>
            </a:r>
            <a:endParaRPr sz="2200"/>
          </a:p>
          <a:p>
            <a:pPr marL="12700" marR="5080">
              <a:lnSpc>
                <a:spcPct val="128000"/>
              </a:lnSpc>
              <a:spcBef>
                <a:spcPts val="1510"/>
              </a:spcBef>
            </a:pPr>
            <a:r>
              <a:rPr dirty="0" sz="1500" i="1">
                <a:latin typeface="Arial"/>
                <a:cs typeface="Arial"/>
              </a:rPr>
              <a:t>Épica</a:t>
            </a:r>
            <a:r>
              <a:rPr dirty="0" sz="1500" spc="30" i="1">
                <a:latin typeface="Arial"/>
                <a:cs typeface="Arial"/>
              </a:rPr>
              <a:t> </a:t>
            </a:r>
            <a:r>
              <a:rPr dirty="0" sz="1500" spc="55" i="1">
                <a:latin typeface="Arial"/>
                <a:cs typeface="Arial"/>
              </a:rPr>
              <a:t>D-</a:t>
            </a:r>
            <a:r>
              <a:rPr dirty="0" sz="1500" spc="-85" i="1">
                <a:latin typeface="Arial"/>
                <a:cs typeface="Arial"/>
              </a:rPr>
              <a:t>E4</a:t>
            </a:r>
            <a:r>
              <a:rPr dirty="0" sz="1500" spc="-10" i="1">
                <a:latin typeface="Arial"/>
                <a:cs typeface="Arial"/>
              </a:rPr>
              <a:t> </a:t>
            </a:r>
            <a:r>
              <a:rPr dirty="0" sz="1500" spc="-615" i="1">
                <a:latin typeface="Arial"/>
                <a:cs typeface="Arial"/>
              </a:rPr>
              <a:t>—</a:t>
            </a:r>
            <a:r>
              <a:rPr dirty="0" sz="1500" spc="10" i="1">
                <a:latin typeface="Arial"/>
                <a:cs typeface="Arial"/>
              </a:rPr>
              <a:t> </a:t>
            </a:r>
            <a:r>
              <a:rPr dirty="0" sz="1500" i="1">
                <a:latin typeface="Arial"/>
                <a:cs typeface="Arial"/>
              </a:rPr>
              <a:t>construcción</a:t>
            </a:r>
            <a:r>
              <a:rPr dirty="0" sz="1500" spc="35" i="1">
                <a:latin typeface="Arial"/>
                <a:cs typeface="Arial"/>
              </a:rPr>
              <a:t> </a:t>
            </a:r>
            <a:r>
              <a:rPr dirty="0" sz="1500" spc="-40" i="1">
                <a:latin typeface="Arial"/>
                <a:cs typeface="Arial"/>
              </a:rPr>
              <a:t>e</a:t>
            </a:r>
            <a:r>
              <a:rPr dirty="0" sz="1500" spc="-15" i="1">
                <a:latin typeface="Arial"/>
                <a:cs typeface="Arial"/>
              </a:rPr>
              <a:t> </a:t>
            </a:r>
            <a:r>
              <a:rPr dirty="0" sz="1500" spc="45" i="1">
                <a:latin typeface="Arial"/>
                <a:cs typeface="Arial"/>
              </a:rPr>
              <a:t>integración</a:t>
            </a:r>
            <a:r>
              <a:rPr dirty="0" sz="1500" spc="10" i="1">
                <a:latin typeface="Arial"/>
                <a:cs typeface="Arial"/>
              </a:rPr>
              <a:t> </a:t>
            </a:r>
            <a:r>
              <a:rPr dirty="0" sz="1500" spc="45" i="1">
                <a:latin typeface="Arial"/>
                <a:cs typeface="Arial"/>
              </a:rPr>
              <a:t>completa</a:t>
            </a:r>
            <a:r>
              <a:rPr dirty="0" sz="1500" spc="20" i="1">
                <a:latin typeface="Arial"/>
                <a:cs typeface="Arial"/>
              </a:rPr>
              <a:t> </a:t>
            </a:r>
            <a:r>
              <a:rPr dirty="0" sz="1500" spc="-25" i="1">
                <a:latin typeface="Arial"/>
                <a:cs typeface="Arial"/>
              </a:rPr>
              <a:t>del </a:t>
            </a:r>
            <a:r>
              <a:rPr dirty="0" sz="1500" spc="50" i="1">
                <a:latin typeface="Arial"/>
                <a:cs typeface="Arial"/>
              </a:rPr>
              <a:t>módulo</a:t>
            </a:r>
            <a:r>
              <a:rPr dirty="0" sz="1500" spc="-5" i="1">
                <a:latin typeface="Arial"/>
                <a:cs typeface="Arial"/>
              </a:rPr>
              <a:t> </a:t>
            </a:r>
            <a:r>
              <a:rPr dirty="0" sz="1500" i="1">
                <a:latin typeface="Arial"/>
                <a:cs typeface="Arial"/>
              </a:rPr>
              <a:t>de</a:t>
            </a:r>
            <a:r>
              <a:rPr dirty="0" sz="1500" spc="-25" i="1">
                <a:latin typeface="Arial"/>
                <a:cs typeface="Arial"/>
              </a:rPr>
              <a:t> </a:t>
            </a:r>
            <a:r>
              <a:rPr dirty="0" sz="1500" i="1">
                <a:latin typeface="Arial"/>
                <a:cs typeface="Arial"/>
              </a:rPr>
              <a:t>Sponsors,</a:t>
            </a:r>
            <a:r>
              <a:rPr dirty="0" sz="1500" spc="-25" i="1">
                <a:latin typeface="Arial"/>
                <a:cs typeface="Arial"/>
              </a:rPr>
              <a:t> </a:t>
            </a:r>
            <a:r>
              <a:rPr dirty="0" sz="1500" i="1">
                <a:latin typeface="Arial"/>
                <a:cs typeface="Arial"/>
              </a:rPr>
              <a:t>Beneficios</a:t>
            </a:r>
            <a:r>
              <a:rPr dirty="0" sz="1500" spc="-25" i="1">
                <a:latin typeface="Arial"/>
                <a:cs typeface="Arial"/>
              </a:rPr>
              <a:t> </a:t>
            </a:r>
            <a:r>
              <a:rPr dirty="0" sz="1500" i="1">
                <a:latin typeface="Arial"/>
                <a:cs typeface="Arial"/>
              </a:rPr>
              <a:t>y</a:t>
            </a:r>
            <a:r>
              <a:rPr dirty="0" sz="1500" spc="-5" i="1">
                <a:latin typeface="Arial"/>
                <a:cs typeface="Arial"/>
              </a:rPr>
              <a:t> </a:t>
            </a:r>
            <a:r>
              <a:rPr dirty="0" sz="1500" i="1">
                <a:latin typeface="Arial"/>
                <a:cs typeface="Arial"/>
              </a:rPr>
              <a:t>reglas</a:t>
            </a:r>
            <a:r>
              <a:rPr dirty="0" sz="1500" spc="-45" i="1">
                <a:latin typeface="Arial"/>
                <a:cs typeface="Arial"/>
              </a:rPr>
              <a:t> </a:t>
            </a:r>
            <a:r>
              <a:rPr dirty="0" sz="1500" i="1">
                <a:latin typeface="Arial"/>
                <a:cs typeface="Arial"/>
              </a:rPr>
              <a:t>de</a:t>
            </a:r>
            <a:r>
              <a:rPr dirty="0" sz="1500" spc="-20" i="1">
                <a:latin typeface="Arial"/>
                <a:cs typeface="Arial"/>
              </a:rPr>
              <a:t> </a:t>
            </a:r>
            <a:r>
              <a:rPr dirty="0" sz="1500" spc="-10" i="1">
                <a:latin typeface="Arial"/>
                <a:cs typeface="Arial"/>
              </a:rPr>
              <a:t>fidelización.</a:t>
            </a:r>
            <a:endParaRPr sz="1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1751" y="4527296"/>
            <a:ext cx="2977515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80" b="1">
                <a:solidFill>
                  <a:srgbClr val="FFFFFF"/>
                </a:solidFill>
                <a:latin typeface="Arial"/>
                <a:cs typeface="Arial"/>
              </a:rPr>
              <a:t>Vista</a:t>
            </a:r>
            <a:r>
              <a:rPr dirty="0" sz="145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50" spc="75" b="1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145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FFFFFF"/>
                </a:solidFill>
                <a:latin typeface="Arial"/>
                <a:cs typeface="Arial"/>
              </a:rPr>
              <a:t>Sponsors</a:t>
            </a:r>
            <a:r>
              <a:rPr dirty="0" sz="1450" spc="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50" spc="55" b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dirty="0" sz="1450" spc="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50" spc="45" b="1">
                <a:solidFill>
                  <a:srgbClr val="FFFFFF"/>
                </a:solidFill>
                <a:latin typeface="Arial"/>
                <a:cs typeface="Arial"/>
              </a:rPr>
              <a:t>Beneficios</a:t>
            </a:r>
            <a:endParaRPr sz="14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196710" y="2645917"/>
            <a:ext cx="5476240" cy="3352800"/>
          </a:xfrm>
          <a:custGeom>
            <a:avLst/>
            <a:gdLst/>
            <a:ahLst/>
            <a:cxnLst/>
            <a:rect l="l" t="t" r="r" b="b"/>
            <a:pathLst>
              <a:path w="5476240" h="3352800">
                <a:moveTo>
                  <a:pt x="5339842" y="0"/>
                </a:moveTo>
                <a:lnTo>
                  <a:pt x="136016" y="0"/>
                </a:lnTo>
                <a:lnTo>
                  <a:pt x="93000" y="6941"/>
                </a:lnTo>
                <a:lnTo>
                  <a:pt x="55659" y="26269"/>
                </a:lnTo>
                <a:lnTo>
                  <a:pt x="26224" y="55741"/>
                </a:lnTo>
                <a:lnTo>
                  <a:pt x="6928" y="93114"/>
                </a:lnTo>
                <a:lnTo>
                  <a:pt x="0" y="136144"/>
                </a:lnTo>
                <a:lnTo>
                  <a:pt x="0" y="3216148"/>
                </a:lnTo>
                <a:lnTo>
                  <a:pt x="6928" y="3259168"/>
                </a:lnTo>
                <a:lnTo>
                  <a:pt x="26224" y="3296531"/>
                </a:lnTo>
                <a:lnTo>
                  <a:pt x="55659" y="3325993"/>
                </a:lnTo>
                <a:lnTo>
                  <a:pt x="93000" y="3345315"/>
                </a:lnTo>
                <a:lnTo>
                  <a:pt x="136016" y="3352253"/>
                </a:lnTo>
                <a:lnTo>
                  <a:pt x="5339842" y="3352253"/>
                </a:lnTo>
                <a:lnTo>
                  <a:pt x="5382871" y="3345315"/>
                </a:lnTo>
                <a:lnTo>
                  <a:pt x="5420244" y="3325993"/>
                </a:lnTo>
                <a:lnTo>
                  <a:pt x="5449716" y="3296531"/>
                </a:lnTo>
                <a:lnTo>
                  <a:pt x="5469044" y="3259168"/>
                </a:lnTo>
                <a:lnTo>
                  <a:pt x="5475986" y="3216148"/>
                </a:lnTo>
                <a:lnTo>
                  <a:pt x="5475986" y="136144"/>
                </a:lnTo>
                <a:lnTo>
                  <a:pt x="5469044" y="93114"/>
                </a:lnTo>
                <a:lnTo>
                  <a:pt x="5449716" y="55741"/>
                </a:lnTo>
                <a:lnTo>
                  <a:pt x="5420244" y="26269"/>
                </a:lnTo>
                <a:lnTo>
                  <a:pt x="5382871" y="6941"/>
                </a:lnTo>
                <a:lnTo>
                  <a:pt x="5339842" y="0"/>
                </a:lnTo>
                <a:close/>
              </a:path>
            </a:pathLst>
          </a:custGeom>
          <a:solidFill>
            <a:srgbClr val="20295C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373748" y="2734183"/>
            <a:ext cx="4390390" cy="158178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1850" spc="100">
                <a:solidFill>
                  <a:srgbClr val="FFFFFF"/>
                </a:solidFill>
                <a:latin typeface="Palatino Linotype"/>
                <a:cs typeface="Palatino Linotype"/>
              </a:rPr>
              <a:t>FASE</a:t>
            </a:r>
            <a:r>
              <a:rPr dirty="0" sz="1850" spc="-5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1850">
                <a:solidFill>
                  <a:srgbClr val="FFFFFF"/>
                </a:solidFill>
                <a:latin typeface="Palatino Linotype"/>
                <a:cs typeface="Palatino Linotype"/>
              </a:rPr>
              <a:t>2</a:t>
            </a:r>
            <a:r>
              <a:rPr dirty="0" sz="1850" spc="-6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1850" spc="-35">
                <a:solidFill>
                  <a:srgbClr val="FFFFFF"/>
                </a:solidFill>
                <a:latin typeface="Palatino Linotype"/>
                <a:cs typeface="Palatino Linotype"/>
              </a:rPr>
              <a:t>·</a:t>
            </a:r>
            <a:r>
              <a:rPr dirty="0" sz="1850" spc="-5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1850">
                <a:solidFill>
                  <a:srgbClr val="FFFFFF"/>
                </a:solidFill>
                <a:latin typeface="Palatino Linotype"/>
                <a:cs typeface="Palatino Linotype"/>
              </a:rPr>
              <a:t>ALCANCE</a:t>
            </a:r>
            <a:r>
              <a:rPr dirty="0" sz="1850" spc="-1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1850" spc="40">
                <a:solidFill>
                  <a:srgbClr val="FFFFFF"/>
                </a:solidFill>
                <a:latin typeface="Palatino Linotype"/>
                <a:cs typeface="Palatino Linotype"/>
              </a:rPr>
              <a:t>AMPLIADO</a:t>
            </a:r>
            <a:endParaRPr sz="18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2200" spc="90">
                <a:solidFill>
                  <a:srgbClr val="FFFFFF"/>
                </a:solidFill>
                <a:latin typeface="Palatino Linotype"/>
                <a:cs typeface="Palatino Linotype"/>
              </a:rPr>
              <a:t>Resto</a:t>
            </a:r>
            <a:r>
              <a:rPr dirty="0" sz="2200" spc="-14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2200" spc="-30">
                <a:solidFill>
                  <a:srgbClr val="FFFFFF"/>
                </a:solidFill>
                <a:latin typeface="Palatino Linotype"/>
                <a:cs typeface="Palatino Linotype"/>
              </a:rPr>
              <a:t>de</a:t>
            </a:r>
            <a:r>
              <a:rPr dirty="0" sz="2200" spc="-14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2200" spc="55">
                <a:solidFill>
                  <a:srgbClr val="FFFFFF"/>
                </a:solidFill>
                <a:latin typeface="Palatino Linotype"/>
                <a:cs typeface="Palatino Linotype"/>
              </a:rPr>
              <a:t>la</a:t>
            </a:r>
            <a:r>
              <a:rPr dirty="0" sz="2200" spc="-13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2200" spc="60">
                <a:solidFill>
                  <a:srgbClr val="FFFFFF"/>
                </a:solidFill>
                <a:latin typeface="Palatino Linotype"/>
                <a:cs typeface="Palatino Linotype"/>
              </a:rPr>
              <a:t>consola</a:t>
            </a:r>
            <a:endParaRPr sz="2200">
              <a:latin typeface="Palatino Linotype"/>
              <a:cs typeface="Palatino Linotype"/>
            </a:endParaRPr>
          </a:p>
          <a:p>
            <a:pPr marL="12700" marR="5080">
              <a:lnSpc>
                <a:spcPct val="128000"/>
              </a:lnSpc>
              <a:spcBef>
                <a:spcPts val="1510"/>
              </a:spcBef>
            </a:pPr>
            <a:r>
              <a:rPr dirty="0" sz="1500" spc="50" i="1">
                <a:solidFill>
                  <a:srgbClr val="FFFFFF"/>
                </a:solidFill>
                <a:latin typeface="Arial"/>
                <a:cs typeface="Arial"/>
              </a:rPr>
              <a:t>Integración</a:t>
            </a:r>
            <a:r>
              <a:rPr dirty="0" sz="1500" spc="1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FFFFFF"/>
                </a:solidFill>
                <a:latin typeface="Arial"/>
                <a:cs typeface="Arial"/>
              </a:rPr>
              <a:t>progresiva</a:t>
            </a:r>
            <a:r>
              <a:rPr dirty="0" sz="1500" spc="-2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1500" spc="1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FFFFFF"/>
                </a:solidFill>
                <a:latin typeface="Arial"/>
                <a:cs typeface="Arial"/>
              </a:rPr>
              <a:t>las</a:t>
            </a:r>
            <a:r>
              <a:rPr dirty="0" sz="1500" spc="3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FFFFFF"/>
                </a:solidFill>
                <a:latin typeface="Arial"/>
                <a:cs typeface="Arial"/>
              </a:rPr>
              <a:t>demás</a:t>
            </a:r>
            <a:r>
              <a:rPr dirty="0" sz="1500" spc="1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FFFFFF"/>
                </a:solidFill>
                <a:latin typeface="Arial"/>
                <a:cs typeface="Arial"/>
              </a:rPr>
              <a:t>vistas,</a:t>
            </a:r>
            <a:r>
              <a:rPr dirty="0" sz="1500" spc="-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FFFFFF"/>
                </a:solidFill>
                <a:latin typeface="Arial"/>
                <a:cs typeface="Arial"/>
              </a:rPr>
              <a:t>según Aprueba_Plan_Tomo3_Admin.docx.</a:t>
            </a:r>
            <a:endParaRPr sz="15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73748" y="4477943"/>
            <a:ext cx="2191385" cy="1199515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306705" indent="-294005">
              <a:lnSpc>
                <a:spcPct val="100000"/>
              </a:lnSpc>
              <a:spcBef>
                <a:spcPts val="660"/>
              </a:spcBef>
              <a:buChar char="•"/>
              <a:tabLst>
                <a:tab pos="306705" algn="l"/>
              </a:tabLst>
            </a:pPr>
            <a:r>
              <a:rPr dirty="0" sz="1450" spc="60">
                <a:solidFill>
                  <a:srgbClr val="FFFFFF"/>
                </a:solidFill>
                <a:latin typeface="Microsoft Sans Serif"/>
                <a:cs typeface="Microsoft Sans Serif"/>
              </a:rPr>
              <a:t>Métricas</a:t>
            </a:r>
            <a:r>
              <a:rPr dirty="0" sz="1450" spc="-4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10">
                <a:solidFill>
                  <a:srgbClr val="FFFFFF"/>
                </a:solidFill>
                <a:latin typeface="Microsoft Sans Serif"/>
                <a:cs typeface="Microsoft Sans Serif"/>
              </a:rPr>
              <a:t>Comerciales</a:t>
            </a:r>
            <a:endParaRPr sz="1450">
              <a:latin typeface="Microsoft Sans Serif"/>
              <a:cs typeface="Microsoft Sans Serif"/>
            </a:endParaRPr>
          </a:p>
          <a:p>
            <a:pPr marL="306705" indent="-294005">
              <a:lnSpc>
                <a:spcPct val="100000"/>
              </a:lnSpc>
              <a:spcBef>
                <a:spcPts val="565"/>
              </a:spcBef>
              <a:buChar char="•"/>
              <a:tabLst>
                <a:tab pos="306705" algn="l"/>
              </a:tabLst>
            </a:pPr>
            <a:r>
              <a:rPr dirty="0" sz="1450" spc="40">
                <a:solidFill>
                  <a:srgbClr val="FFFFFF"/>
                </a:solidFill>
                <a:latin typeface="Microsoft Sans Serif"/>
                <a:cs typeface="Microsoft Sans Serif"/>
              </a:rPr>
              <a:t>Operativa</a:t>
            </a:r>
            <a:endParaRPr sz="1450">
              <a:latin typeface="Microsoft Sans Serif"/>
              <a:cs typeface="Microsoft Sans Serif"/>
            </a:endParaRPr>
          </a:p>
          <a:p>
            <a:pPr marL="306705" indent="-294005">
              <a:lnSpc>
                <a:spcPct val="100000"/>
              </a:lnSpc>
              <a:spcBef>
                <a:spcPts val="575"/>
              </a:spcBef>
              <a:buChar char="•"/>
              <a:tabLst>
                <a:tab pos="306705" algn="l"/>
              </a:tabLst>
            </a:pPr>
            <a:r>
              <a:rPr dirty="0" sz="1450" spc="50">
                <a:solidFill>
                  <a:srgbClr val="FFFFFF"/>
                </a:solidFill>
                <a:latin typeface="Microsoft Sans Serif"/>
                <a:cs typeface="Microsoft Sans Serif"/>
              </a:rPr>
              <a:t>Soporte</a:t>
            </a:r>
            <a:endParaRPr sz="1450">
              <a:latin typeface="Microsoft Sans Serif"/>
              <a:cs typeface="Microsoft Sans Serif"/>
            </a:endParaRPr>
          </a:p>
          <a:p>
            <a:pPr marL="306705" indent="-294005">
              <a:lnSpc>
                <a:spcPct val="100000"/>
              </a:lnSpc>
              <a:spcBef>
                <a:spcPts val="580"/>
              </a:spcBef>
              <a:buChar char="•"/>
              <a:tabLst>
                <a:tab pos="306705" algn="l"/>
              </a:tabLst>
            </a:pPr>
            <a:r>
              <a:rPr dirty="0" sz="1450" spc="50">
                <a:solidFill>
                  <a:srgbClr val="FFFFFF"/>
                </a:solidFill>
                <a:latin typeface="Microsoft Sans Serif"/>
                <a:cs typeface="Microsoft Sans Serif"/>
              </a:rPr>
              <a:t>Tutores</a:t>
            </a:r>
            <a:r>
              <a:rPr dirty="0" sz="1450" spc="-4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65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dirty="0" sz="145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10">
                <a:solidFill>
                  <a:srgbClr val="FFFFFF"/>
                </a:solidFill>
                <a:latin typeface="Microsoft Sans Serif"/>
                <a:cs typeface="Microsoft Sans Serif"/>
              </a:rPr>
              <a:t>Planes</a:t>
            </a:r>
            <a:endParaRPr sz="14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716" y="541477"/>
            <a:ext cx="6838315" cy="5892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700" spc="135"/>
              <a:t>Sponsors</a:t>
            </a:r>
            <a:r>
              <a:rPr dirty="0" sz="3700" spc="-120"/>
              <a:t> </a:t>
            </a:r>
            <a:r>
              <a:rPr dirty="0" sz="3700" spc="-50"/>
              <a:t>y</a:t>
            </a:r>
            <a:r>
              <a:rPr dirty="0" sz="3700" spc="-145"/>
              <a:t> </a:t>
            </a:r>
            <a:r>
              <a:rPr dirty="0" sz="3700"/>
              <a:t>Fidelidad,</a:t>
            </a:r>
            <a:r>
              <a:rPr dirty="0" sz="3700" spc="-135"/>
              <a:t> </a:t>
            </a:r>
            <a:r>
              <a:rPr dirty="0" sz="3700" spc="114"/>
              <a:t>en</a:t>
            </a:r>
            <a:r>
              <a:rPr dirty="0" sz="3700" spc="-140"/>
              <a:t> </a:t>
            </a:r>
            <a:r>
              <a:rPr dirty="0" sz="3700" spc="-10"/>
              <a:t>detalle</a:t>
            </a:r>
            <a:endParaRPr sz="3700"/>
          </a:p>
        </p:txBody>
      </p:sp>
      <p:grpSp>
        <p:nvGrpSpPr>
          <p:cNvPr id="3" name="object 3"/>
          <p:cNvGrpSpPr/>
          <p:nvPr/>
        </p:nvGrpSpPr>
        <p:grpSpPr>
          <a:xfrm>
            <a:off x="640610" y="2046069"/>
            <a:ext cx="5358130" cy="2053589"/>
            <a:chOff x="640610" y="2046069"/>
            <a:chExt cx="5358130" cy="2053589"/>
          </a:xfrm>
        </p:grpSpPr>
        <p:sp>
          <p:nvSpPr>
            <p:cNvPr id="4" name="object 4"/>
            <p:cNvSpPr/>
            <p:nvPr/>
          </p:nvSpPr>
          <p:spPr>
            <a:xfrm>
              <a:off x="665971" y="2071342"/>
              <a:ext cx="5332730" cy="2003425"/>
            </a:xfrm>
            <a:custGeom>
              <a:avLst/>
              <a:gdLst/>
              <a:ahLst/>
              <a:cxnLst/>
              <a:rect l="l" t="t" r="r" b="b"/>
              <a:pathLst>
                <a:path w="5332730" h="2003425">
                  <a:moveTo>
                    <a:pt x="5266094" y="0"/>
                  </a:moveTo>
                  <a:lnTo>
                    <a:pt x="66053" y="0"/>
                  </a:lnTo>
                  <a:lnTo>
                    <a:pt x="19347" y="19290"/>
                  </a:lnTo>
                  <a:lnTo>
                    <a:pt x="0" y="65867"/>
                  </a:lnTo>
                  <a:lnTo>
                    <a:pt x="0" y="1937061"/>
                  </a:lnTo>
                  <a:lnTo>
                    <a:pt x="19347" y="1983608"/>
                  </a:lnTo>
                  <a:lnTo>
                    <a:pt x="66053" y="2002889"/>
                  </a:lnTo>
                  <a:lnTo>
                    <a:pt x="5266094" y="2002889"/>
                  </a:lnTo>
                  <a:lnTo>
                    <a:pt x="5291946" y="1997716"/>
                  </a:lnTo>
                  <a:lnTo>
                    <a:pt x="5313018" y="1983608"/>
                  </a:lnTo>
                  <a:lnTo>
                    <a:pt x="5327205" y="1962684"/>
                  </a:lnTo>
                  <a:lnTo>
                    <a:pt x="5332402" y="1937061"/>
                  </a:lnTo>
                  <a:lnTo>
                    <a:pt x="5332402" y="65867"/>
                  </a:lnTo>
                  <a:lnTo>
                    <a:pt x="5327205" y="40226"/>
                  </a:lnTo>
                  <a:lnTo>
                    <a:pt x="5313018" y="19290"/>
                  </a:lnTo>
                  <a:lnTo>
                    <a:pt x="5291946" y="5175"/>
                  </a:lnTo>
                  <a:lnTo>
                    <a:pt x="5266094" y="0"/>
                  </a:lnTo>
                  <a:close/>
                </a:path>
              </a:pathLst>
            </a:custGeom>
            <a:solidFill>
              <a:srgbClr val="F4F7F9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65971" y="2071342"/>
              <a:ext cx="5266690" cy="2003425"/>
            </a:xfrm>
            <a:custGeom>
              <a:avLst/>
              <a:gdLst/>
              <a:ahLst/>
              <a:cxnLst/>
              <a:rect l="l" t="t" r="r" b="b"/>
              <a:pathLst>
                <a:path w="5266690" h="2003425">
                  <a:moveTo>
                    <a:pt x="40405" y="5288"/>
                  </a:moveTo>
                  <a:lnTo>
                    <a:pt x="40790" y="5085"/>
                  </a:lnTo>
                </a:path>
                <a:path w="5266690" h="2003425">
                  <a:moveTo>
                    <a:pt x="66053" y="0"/>
                  </a:moveTo>
                  <a:lnTo>
                    <a:pt x="5266094" y="0"/>
                  </a:lnTo>
                </a:path>
                <a:path w="5266690" h="2003425">
                  <a:moveTo>
                    <a:pt x="5266094" y="2002888"/>
                  </a:moveTo>
                  <a:lnTo>
                    <a:pt x="66053" y="2002888"/>
                  </a:lnTo>
                </a:path>
                <a:path w="5266690" h="2003425">
                  <a:moveTo>
                    <a:pt x="0" y="1937061"/>
                  </a:moveTo>
                  <a:lnTo>
                    <a:pt x="0" y="65867"/>
                  </a:lnTo>
                </a:path>
                <a:path w="5266690" h="2003425">
                  <a:moveTo>
                    <a:pt x="5100" y="40674"/>
                  </a:moveTo>
                  <a:lnTo>
                    <a:pt x="5245" y="40255"/>
                  </a:lnTo>
                </a:path>
              </a:pathLst>
            </a:custGeom>
            <a:ln w="50633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91332" y="2096614"/>
              <a:ext cx="5281930" cy="568960"/>
            </a:xfrm>
            <a:custGeom>
              <a:avLst/>
              <a:gdLst/>
              <a:ahLst/>
              <a:cxnLst/>
              <a:rect l="l" t="t" r="r" b="b"/>
              <a:pathLst>
                <a:path w="5281930" h="568960">
                  <a:moveTo>
                    <a:pt x="5240733" y="0"/>
                  </a:moveTo>
                  <a:lnTo>
                    <a:pt x="40692" y="0"/>
                  </a:lnTo>
                  <a:lnTo>
                    <a:pt x="3197" y="24789"/>
                  </a:lnTo>
                  <a:lnTo>
                    <a:pt x="0" y="40594"/>
                  </a:lnTo>
                  <a:lnTo>
                    <a:pt x="0" y="568638"/>
                  </a:lnTo>
                  <a:lnTo>
                    <a:pt x="5281680" y="568638"/>
                  </a:lnTo>
                  <a:lnTo>
                    <a:pt x="5281680" y="40594"/>
                  </a:lnTo>
                  <a:lnTo>
                    <a:pt x="5278440" y="24789"/>
                  </a:lnTo>
                  <a:lnTo>
                    <a:pt x="5269627" y="11886"/>
                  </a:lnTo>
                  <a:lnTo>
                    <a:pt x="5256604" y="3188"/>
                  </a:lnTo>
                  <a:lnTo>
                    <a:pt x="5240733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863295" y="2821305"/>
            <a:ext cx="4542790" cy="1000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55">
                <a:solidFill>
                  <a:srgbClr val="404154"/>
                </a:solidFill>
                <a:latin typeface="Palatino Linotype"/>
                <a:cs typeface="Palatino Linotype"/>
              </a:rPr>
              <a:t>Sponsors</a:t>
            </a:r>
            <a:endParaRPr sz="1850">
              <a:latin typeface="Palatino Linotype"/>
              <a:cs typeface="Palatino Linotype"/>
            </a:endParaRPr>
          </a:p>
          <a:p>
            <a:pPr marL="12700" marR="5080">
              <a:lnSpc>
                <a:spcPct val="132400"/>
              </a:lnSpc>
              <a:spcBef>
                <a:spcPts val="850"/>
              </a:spcBef>
            </a:pPr>
            <a:r>
              <a:rPr dirty="0" sz="1450" spc="-55">
                <a:solidFill>
                  <a:srgbClr val="404154"/>
                </a:solidFill>
                <a:latin typeface="Microsoft Sans Serif"/>
                <a:cs typeface="Microsoft Sans Serif"/>
              </a:rPr>
              <a:t>CRUD</a:t>
            </a:r>
            <a:r>
              <a:rPr dirty="0" sz="1450" spc="6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75">
                <a:solidFill>
                  <a:srgbClr val="404154"/>
                </a:solidFill>
                <a:latin typeface="Microsoft Sans Serif"/>
                <a:cs typeface="Microsoft Sans Serif"/>
              </a:rPr>
              <a:t>completo</a:t>
            </a:r>
            <a:r>
              <a:rPr dirty="0" sz="1450" spc="7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60">
                <a:solidFill>
                  <a:srgbClr val="404154"/>
                </a:solidFill>
                <a:latin typeface="Microsoft Sans Serif"/>
                <a:cs typeface="Microsoft Sans Serif"/>
              </a:rPr>
              <a:t>(alta,</a:t>
            </a:r>
            <a:r>
              <a:rPr dirty="0" sz="1450" spc="5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edición,</a:t>
            </a:r>
            <a:r>
              <a:rPr dirty="0" sz="1450" spc="5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pausa,</a:t>
            </a:r>
            <a:r>
              <a:rPr dirty="0" sz="1450" spc="5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65">
                <a:solidFill>
                  <a:srgbClr val="404154"/>
                </a:solidFill>
                <a:latin typeface="Microsoft Sans Serif"/>
                <a:cs typeface="Microsoft Sans Serif"/>
              </a:rPr>
              <a:t>baja)</a:t>
            </a:r>
            <a:r>
              <a:rPr dirty="0" sz="1450" spc="4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15">
                <a:solidFill>
                  <a:srgbClr val="404154"/>
                </a:solidFill>
                <a:latin typeface="Microsoft Sans Serif"/>
                <a:cs typeface="Microsoft Sans Serif"/>
              </a:rPr>
              <a:t>y </a:t>
            </a:r>
            <a:r>
              <a:rPr dirty="0" sz="1450" spc="60">
                <a:solidFill>
                  <a:srgbClr val="404154"/>
                </a:solidFill>
                <a:latin typeface="Microsoft Sans Serif"/>
                <a:cs typeface="Microsoft Sans Serif"/>
              </a:rPr>
              <a:t>seguimiento</a:t>
            </a:r>
            <a:r>
              <a:rPr dirty="0" sz="1450" spc="3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de</a:t>
            </a:r>
            <a:r>
              <a:rPr dirty="0" sz="1450" spc="4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60">
                <a:solidFill>
                  <a:srgbClr val="404154"/>
                </a:solidFill>
                <a:latin typeface="Microsoft Sans Serif"/>
                <a:cs typeface="Microsoft Sans Serif"/>
              </a:rPr>
              <a:t>aportes</a:t>
            </a:r>
            <a:r>
              <a:rPr dirty="0" sz="1450" spc="4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mensuales</a:t>
            </a:r>
            <a:r>
              <a:rPr dirty="0" sz="1450" spc="-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80">
                <a:solidFill>
                  <a:srgbClr val="404154"/>
                </a:solidFill>
                <a:latin typeface="Microsoft Sans Serif"/>
                <a:cs typeface="Microsoft Sans Serif"/>
              </a:rPr>
              <a:t>por</a:t>
            </a:r>
            <a:r>
              <a:rPr dirty="0" sz="1450" spc="4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10">
                <a:solidFill>
                  <a:srgbClr val="404154"/>
                </a:solidFill>
                <a:latin typeface="Microsoft Sans Serif"/>
                <a:cs typeface="Microsoft Sans Serif"/>
              </a:rPr>
              <a:t>auspiciador.</a:t>
            </a:r>
            <a:endParaRPr sz="145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169491" y="2046069"/>
            <a:ext cx="5358130" cy="2053589"/>
            <a:chOff x="6169491" y="2046069"/>
            <a:chExt cx="5358130" cy="2053589"/>
          </a:xfrm>
        </p:grpSpPr>
        <p:sp>
          <p:nvSpPr>
            <p:cNvPr id="9" name="object 9"/>
            <p:cNvSpPr/>
            <p:nvPr/>
          </p:nvSpPr>
          <p:spPr>
            <a:xfrm>
              <a:off x="6194852" y="2071342"/>
              <a:ext cx="5332730" cy="2003425"/>
            </a:xfrm>
            <a:custGeom>
              <a:avLst/>
              <a:gdLst/>
              <a:ahLst/>
              <a:cxnLst/>
              <a:rect l="l" t="t" r="r" b="b"/>
              <a:pathLst>
                <a:path w="5332730" h="2003425">
                  <a:moveTo>
                    <a:pt x="5266184" y="0"/>
                  </a:moveTo>
                  <a:lnTo>
                    <a:pt x="66054" y="0"/>
                  </a:lnTo>
                  <a:lnTo>
                    <a:pt x="19347" y="19290"/>
                  </a:lnTo>
                  <a:lnTo>
                    <a:pt x="0" y="65867"/>
                  </a:lnTo>
                  <a:lnTo>
                    <a:pt x="0" y="1937061"/>
                  </a:lnTo>
                  <a:lnTo>
                    <a:pt x="19348" y="1983608"/>
                  </a:lnTo>
                  <a:lnTo>
                    <a:pt x="66055" y="2002889"/>
                  </a:lnTo>
                  <a:lnTo>
                    <a:pt x="5266185" y="2002889"/>
                  </a:lnTo>
                  <a:lnTo>
                    <a:pt x="5292037" y="1997716"/>
                  </a:lnTo>
                  <a:lnTo>
                    <a:pt x="5313110" y="1983608"/>
                  </a:lnTo>
                  <a:lnTo>
                    <a:pt x="5327297" y="1962684"/>
                  </a:lnTo>
                  <a:lnTo>
                    <a:pt x="5332494" y="1937061"/>
                  </a:lnTo>
                  <a:lnTo>
                    <a:pt x="5332493" y="65867"/>
                  </a:lnTo>
                  <a:lnTo>
                    <a:pt x="5327296" y="40226"/>
                  </a:lnTo>
                  <a:lnTo>
                    <a:pt x="5313109" y="19290"/>
                  </a:lnTo>
                  <a:lnTo>
                    <a:pt x="5292036" y="5175"/>
                  </a:lnTo>
                  <a:lnTo>
                    <a:pt x="5266184" y="0"/>
                  </a:lnTo>
                  <a:close/>
                </a:path>
              </a:pathLst>
            </a:custGeom>
            <a:solidFill>
              <a:srgbClr val="F4F7F9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194852" y="2071342"/>
              <a:ext cx="5266690" cy="2003425"/>
            </a:xfrm>
            <a:custGeom>
              <a:avLst/>
              <a:gdLst/>
              <a:ahLst/>
              <a:cxnLst/>
              <a:rect l="l" t="t" r="r" b="b"/>
              <a:pathLst>
                <a:path w="5266690" h="2003425">
                  <a:moveTo>
                    <a:pt x="40405" y="5288"/>
                  </a:moveTo>
                  <a:lnTo>
                    <a:pt x="40791" y="5085"/>
                  </a:lnTo>
                </a:path>
                <a:path w="5266690" h="2003425">
                  <a:moveTo>
                    <a:pt x="66054" y="0"/>
                  </a:moveTo>
                  <a:lnTo>
                    <a:pt x="5266184" y="0"/>
                  </a:lnTo>
                </a:path>
                <a:path w="5266690" h="2003425">
                  <a:moveTo>
                    <a:pt x="5266185" y="2002888"/>
                  </a:moveTo>
                  <a:lnTo>
                    <a:pt x="66055" y="2002888"/>
                  </a:lnTo>
                </a:path>
                <a:path w="5266690" h="2003425">
                  <a:moveTo>
                    <a:pt x="0" y="1937061"/>
                  </a:moveTo>
                  <a:lnTo>
                    <a:pt x="0" y="65867"/>
                  </a:lnTo>
                </a:path>
                <a:path w="5266690" h="2003425">
                  <a:moveTo>
                    <a:pt x="5100" y="40674"/>
                  </a:moveTo>
                  <a:lnTo>
                    <a:pt x="5245" y="40255"/>
                  </a:lnTo>
                </a:path>
              </a:pathLst>
            </a:custGeom>
            <a:ln w="50634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220213" y="2096615"/>
              <a:ext cx="5281930" cy="568960"/>
            </a:xfrm>
            <a:custGeom>
              <a:avLst/>
              <a:gdLst/>
              <a:ahLst/>
              <a:cxnLst/>
              <a:rect l="l" t="t" r="r" b="b"/>
              <a:pathLst>
                <a:path w="5281930" h="568960">
                  <a:moveTo>
                    <a:pt x="5240822" y="0"/>
                  </a:moveTo>
                  <a:lnTo>
                    <a:pt x="40693" y="0"/>
                  </a:lnTo>
                  <a:lnTo>
                    <a:pt x="3198" y="24789"/>
                  </a:lnTo>
                  <a:lnTo>
                    <a:pt x="0" y="40594"/>
                  </a:lnTo>
                  <a:lnTo>
                    <a:pt x="0" y="568638"/>
                  </a:lnTo>
                  <a:lnTo>
                    <a:pt x="5281771" y="568638"/>
                  </a:lnTo>
                  <a:lnTo>
                    <a:pt x="5281770" y="40594"/>
                  </a:lnTo>
                  <a:lnTo>
                    <a:pt x="5278530" y="24789"/>
                  </a:lnTo>
                  <a:lnTo>
                    <a:pt x="5269717" y="11886"/>
                  </a:lnTo>
                  <a:lnTo>
                    <a:pt x="5256694" y="3188"/>
                  </a:lnTo>
                  <a:lnTo>
                    <a:pt x="5240822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648716" y="1576197"/>
            <a:ext cx="8298180" cy="951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20">
                <a:solidFill>
                  <a:srgbClr val="404154"/>
                </a:solidFill>
                <a:latin typeface="Microsoft Sans Serif"/>
                <a:cs typeface="Microsoft Sans Serif"/>
              </a:rPr>
              <a:t>El</a:t>
            </a:r>
            <a:r>
              <a:rPr dirty="0" sz="1450" spc="10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50">
                <a:solidFill>
                  <a:srgbClr val="404154"/>
                </a:solidFill>
                <a:latin typeface="Microsoft Sans Serif"/>
                <a:cs typeface="Microsoft Sans Serif"/>
              </a:rPr>
              <a:t>corazón</a:t>
            </a:r>
            <a:r>
              <a:rPr dirty="0" sz="1450" spc="8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del</a:t>
            </a:r>
            <a:r>
              <a:rPr dirty="0" sz="1450" spc="8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50">
                <a:solidFill>
                  <a:srgbClr val="404154"/>
                </a:solidFill>
                <a:latin typeface="Microsoft Sans Serif"/>
                <a:cs typeface="Microsoft Sans Serif"/>
              </a:rPr>
              <a:t>entregable</a:t>
            </a:r>
            <a:r>
              <a:rPr dirty="0" sz="1450" spc="6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evaluable:</a:t>
            </a:r>
            <a:r>
              <a:rPr dirty="0" sz="1450" spc="7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60">
                <a:solidFill>
                  <a:srgbClr val="404154"/>
                </a:solidFill>
                <a:latin typeface="Microsoft Sans Serif"/>
                <a:cs typeface="Microsoft Sans Serif"/>
              </a:rPr>
              <a:t>conecta</a:t>
            </a:r>
            <a:r>
              <a:rPr dirty="0" sz="1450" spc="11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el</a:t>
            </a:r>
            <a:r>
              <a:rPr dirty="0" sz="1450" spc="8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esfuerzo</a:t>
            </a:r>
            <a:r>
              <a:rPr dirty="0" sz="1450" spc="5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del</a:t>
            </a:r>
            <a:r>
              <a:rPr dirty="0" sz="1450" spc="8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65">
                <a:solidFill>
                  <a:srgbClr val="404154"/>
                </a:solidFill>
                <a:latin typeface="Microsoft Sans Serif"/>
                <a:cs typeface="Microsoft Sans Serif"/>
              </a:rPr>
              <a:t>alumno</a:t>
            </a:r>
            <a:r>
              <a:rPr dirty="0" sz="1450" spc="14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60">
                <a:solidFill>
                  <a:srgbClr val="404154"/>
                </a:solidFill>
                <a:latin typeface="Microsoft Sans Serif"/>
                <a:cs typeface="Microsoft Sans Serif"/>
              </a:rPr>
              <a:t>con</a:t>
            </a:r>
            <a:r>
              <a:rPr dirty="0" sz="1450" spc="10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recompensas</a:t>
            </a:r>
            <a:r>
              <a:rPr dirty="0" sz="1450" spc="5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10">
                <a:solidFill>
                  <a:srgbClr val="404154"/>
                </a:solidFill>
                <a:latin typeface="Microsoft Sans Serif"/>
                <a:cs typeface="Microsoft Sans Serif"/>
              </a:rPr>
              <a:t>reales.</a:t>
            </a:r>
            <a:endParaRPr sz="14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450">
              <a:latin typeface="Microsoft Sans Serif"/>
              <a:cs typeface="Microsoft Sans Serif"/>
            </a:endParaRPr>
          </a:p>
          <a:p>
            <a:pPr marL="2640330">
              <a:lnSpc>
                <a:spcPct val="100000"/>
              </a:lnSpc>
              <a:tabLst>
                <a:tab pos="8139430" algn="l"/>
              </a:tabLst>
            </a:pPr>
            <a:r>
              <a:rPr dirty="0" sz="2200" spc="-515">
                <a:solidFill>
                  <a:srgbClr val="404154"/>
                </a:solidFill>
                <a:latin typeface="Palatino Linotype"/>
                <a:cs typeface="Palatino Linotype"/>
              </a:rPr>
              <a:t>1</a:t>
            </a:r>
            <a:r>
              <a:rPr dirty="0" sz="2200">
                <a:solidFill>
                  <a:srgbClr val="404154"/>
                </a:solidFill>
                <a:latin typeface="Palatino Linotype"/>
                <a:cs typeface="Palatino Linotype"/>
              </a:rPr>
              <a:t>	</a:t>
            </a:r>
            <a:r>
              <a:rPr dirty="0" sz="2200" spc="-50">
                <a:solidFill>
                  <a:srgbClr val="404154"/>
                </a:solidFill>
                <a:latin typeface="Palatino Linotype"/>
                <a:cs typeface="Palatino Linotype"/>
              </a:rPr>
              <a:t>2</a:t>
            </a:r>
            <a:endParaRPr sz="2200">
              <a:latin typeface="Palatino Linotype"/>
              <a:cs typeface="Palatino Linotyp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92671" y="2821305"/>
            <a:ext cx="4344670" cy="1000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60">
                <a:solidFill>
                  <a:srgbClr val="404154"/>
                </a:solidFill>
                <a:latin typeface="Palatino Linotype"/>
                <a:cs typeface="Palatino Linotype"/>
              </a:rPr>
              <a:t>Beneficios</a:t>
            </a:r>
            <a:endParaRPr sz="1850">
              <a:latin typeface="Palatino Linotype"/>
              <a:cs typeface="Palatino Linotype"/>
            </a:endParaRPr>
          </a:p>
          <a:p>
            <a:pPr marL="12700" marR="5080">
              <a:lnSpc>
                <a:spcPct val="132400"/>
              </a:lnSpc>
              <a:spcBef>
                <a:spcPts val="850"/>
              </a:spcBef>
            </a:pPr>
            <a:r>
              <a:rPr dirty="0" sz="1450" spc="20">
                <a:solidFill>
                  <a:srgbClr val="404154"/>
                </a:solidFill>
                <a:latin typeface="Microsoft Sans Serif"/>
                <a:cs typeface="Microsoft Sans Serif"/>
              </a:rPr>
              <a:t>Catálogo</a:t>
            </a:r>
            <a:r>
              <a:rPr dirty="0" sz="1450" spc="8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20">
                <a:solidFill>
                  <a:srgbClr val="404154"/>
                </a:solidFill>
                <a:latin typeface="Microsoft Sans Serif"/>
                <a:cs typeface="Microsoft Sans Serif"/>
              </a:rPr>
              <a:t>de</a:t>
            </a:r>
            <a:r>
              <a:rPr dirty="0" sz="1450" spc="5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20">
                <a:solidFill>
                  <a:srgbClr val="404154"/>
                </a:solidFill>
                <a:latin typeface="Microsoft Sans Serif"/>
                <a:cs typeface="Microsoft Sans Serif"/>
              </a:rPr>
              <a:t>recompensas</a:t>
            </a:r>
            <a:r>
              <a:rPr dirty="0" sz="1450" spc="2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60">
                <a:solidFill>
                  <a:srgbClr val="404154"/>
                </a:solidFill>
                <a:latin typeface="Microsoft Sans Serif"/>
                <a:cs typeface="Microsoft Sans Serif"/>
              </a:rPr>
              <a:t>con</a:t>
            </a:r>
            <a:r>
              <a:rPr dirty="0" sz="1450" spc="8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65">
                <a:solidFill>
                  <a:srgbClr val="404154"/>
                </a:solidFill>
                <a:latin typeface="Microsoft Sans Serif"/>
                <a:cs typeface="Microsoft Sans Serif"/>
              </a:rPr>
              <a:t>costo </a:t>
            </a:r>
            <a:r>
              <a:rPr dirty="0" sz="1450" spc="20">
                <a:solidFill>
                  <a:srgbClr val="404154"/>
                </a:solidFill>
                <a:latin typeface="Microsoft Sans Serif"/>
                <a:cs typeface="Microsoft Sans Serif"/>
              </a:rPr>
              <a:t>en</a:t>
            </a:r>
            <a:r>
              <a:rPr dirty="0" sz="1450" spc="6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10">
                <a:solidFill>
                  <a:srgbClr val="404154"/>
                </a:solidFill>
                <a:latin typeface="Microsoft Sans Serif"/>
                <a:cs typeface="Microsoft Sans Serif"/>
              </a:rPr>
              <a:t>medallas, </a:t>
            </a:r>
            <a:r>
              <a:rPr dirty="0" sz="1450" spc="60">
                <a:solidFill>
                  <a:srgbClr val="404154"/>
                </a:solidFill>
                <a:latin typeface="Microsoft Sans Serif"/>
                <a:cs typeface="Microsoft Sans Serif"/>
              </a:rPr>
              <a:t>gestión</a:t>
            </a:r>
            <a:r>
              <a:rPr dirty="0" sz="1450" spc="2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de</a:t>
            </a:r>
            <a:r>
              <a:rPr dirty="0" sz="1450" spc="4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80">
                <a:solidFill>
                  <a:srgbClr val="404154"/>
                </a:solidFill>
                <a:latin typeface="Microsoft Sans Serif"/>
                <a:cs typeface="Microsoft Sans Serif"/>
              </a:rPr>
              <a:t>stock</a:t>
            </a:r>
            <a:r>
              <a:rPr dirty="0" sz="1450" spc="5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65">
                <a:solidFill>
                  <a:srgbClr val="404154"/>
                </a:solidFill>
                <a:latin typeface="Microsoft Sans Serif"/>
                <a:cs typeface="Microsoft Sans Serif"/>
              </a:rPr>
              <a:t>y</a:t>
            </a:r>
            <a:r>
              <a:rPr dirty="0" sz="1450" spc="5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vigencia</a:t>
            </a:r>
            <a:r>
              <a:rPr dirty="0" sz="1450" spc="5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de</a:t>
            </a:r>
            <a:r>
              <a:rPr dirty="0" sz="1450" spc="4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45">
                <a:solidFill>
                  <a:srgbClr val="404154"/>
                </a:solidFill>
                <a:latin typeface="Microsoft Sans Serif"/>
                <a:cs typeface="Microsoft Sans Serif"/>
              </a:rPr>
              <a:t>promociones.</a:t>
            </a:r>
            <a:endParaRPr sz="1450">
              <a:latin typeface="Microsoft Sans Serif"/>
              <a:cs typeface="Microsoft Sans Serif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40610" y="4244439"/>
            <a:ext cx="5358130" cy="2053589"/>
            <a:chOff x="640610" y="4244439"/>
            <a:chExt cx="5358130" cy="2053589"/>
          </a:xfrm>
        </p:grpSpPr>
        <p:sp>
          <p:nvSpPr>
            <p:cNvPr id="15" name="object 15"/>
            <p:cNvSpPr/>
            <p:nvPr/>
          </p:nvSpPr>
          <p:spPr>
            <a:xfrm>
              <a:off x="665971" y="4269712"/>
              <a:ext cx="5332730" cy="2003425"/>
            </a:xfrm>
            <a:custGeom>
              <a:avLst/>
              <a:gdLst/>
              <a:ahLst/>
              <a:cxnLst/>
              <a:rect l="l" t="t" r="r" b="b"/>
              <a:pathLst>
                <a:path w="5332730" h="2003425">
                  <a:moveTo>
                    <a:pt x="5266094" y="0"/>
                  </a:moveTo>
                  <a:lnTo>
                    <a:pt x="66053" y="0"/>
                  </a:lnTo>
                  <a:lnTo>
                    <a:pt x="40343" y="5175"/>
                  </a:lnTo>
                  <a:lnTo>
                    <a:pt x="19347" y="19290"/>
                  </a:lnTo>
                  <a:lnTo>
                    <a:pt x="5191" y="40226"/>
                  </a:lnTo>
                  <a:lnTo>
                    <a:pt x="0" y="65867"/>
                  </a:lnTo>
                  <a:lnTo>
                    <a:pt x="0" y="1937061"/>
                  </a:lnTo>
                  <a:lnTo>
                    <a:pt x="5191" y="1962684"/>
                  </a:lnTo>
                  <a:lnTo>
                    <a:pt x="19347" y="1983608"/>
                  </a:lnTo>
                  <a:lnTo>
                    <a:pt x="40343" y="1997716"/>
                  </a:lnTo>
                  <a:lnTo>
                    <a:pt x="66053" y="2002889"/>
                  </a:lnTo>
                  <a:lnTo>
                    <a:pt x="5266094" y="2002889"/>
                  </a:lnTo>
                  <a:lnTo>
                    <a:pt x="5291946" y="1997716"/>
                  </a:lnTo>
                  <a:lnTo>
                    <a:pt x="5313018" y="1983608"/>
                  </a:lnTo>
                  <a:lnTo>
                    <a:pt x="5327205" y="1962684"/>
                  </a:lnTo>
                  <a:lnTo>
                    <a:pt x="5332402" y="1937061"/>
                  </a:lnTo>
                  <a:lnTo>
                    <a:pt x="5332402" y="65867"/>
                  </a:lnTo>
                  <a:lnTo>
                    <a:pt x="5327205" y="40226"/>
                  </a:lnTo>
                  <a:lnTo>
                    <a:pt x="5313018" y="19290"/>
                  </a:lnTo>
                  <a:lnTo>
                    <a:pt x="5291946" y="5175"/>
                  </a:lnTo>
                  <a:lnTo>
                    <a:pt x="5266094" y="0"/>
                  </a:lnTo>
                  <a:close/>
                </a:path>
              </a:pathLst>
            </a:custGeom>
            <a:solidFill>
              <a:srgbClr val="F4F7F9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65971" y="4269712"/>
              <a:ext cx="5266690" cy="2003425"/>
            </a:xfrm>
            <a:custGeom>
              <a:avLst/>
              <a:gdLst/>
              <a:ahLst/>
              <a:cxnLst/>
              <a:rect l="l" t="t" r="r" b="b"/>
              <a:pathLst>
                <a:path w="5266690" h="2003425">
                  <a:moveTo>
                    <a:pt x="40405" y="5289"/>
                  </a:moveTo>
                  <a:lnTo>
                    <a:pt x="40790" y="5085"/>
                  </a:lnTo>
                </a:path>
                <a:path w="5266690" h="2003425">
                  <a:moveTo>
                    <a:pt x="66053" y="0"/>
                  </a:moveTo>
                  <a:lnTo>
                    <a:pt x="5266094" y="0"/>
                  </a:lnTo>
                </a:path>
                <a:path w="5266690" h="2003425">
                  <a:moveTo>
                    <a:pt x="5266094" y="2002888"/>
                  </a:moveTo>
                  <a:lnTo>
                    <a:pt x="66053" y="2002888"/>
                  </a:lnTo>
                </a:path>
                <a:path w="5266690" h="2003425">
                  <a:moveTo>
                    <a:pt x="0" y="1937061"/>
                  </a:moveTo>
                  <a:lnTo>
                    <a:pt x="0" y="65867"/>
                  </a:lnTo>
                </a:path>
                <a:path w="5266690" h="2003425">
                  <a:moveTo>
                    <a:pt x="5100" y="40674"/>
                  </a:moveTo>
                  <a:lnTo>
                    <a:pt x="5245" y="40255"/>
                  </a:lnTo>
                </a:path>
              </a:pathLst>
            </a:custGeom>
            <a:ln w="50633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91332" y="4294984"/>
              <a:ext cx="5281930" cy="568960"/>
            </a:xfrm>
            <a:custGeom>
              <a:avLst/>
              <a:gdLst/>
              <a:ahLst/>
              <a:cxnLst/>
              <a:rect l="l" t="t" r="r" b="b"/>
              <a:pathLst>
                <a:path w="5281930" h="568960">
                  <a:moveTo>
                    <a:pt x="5240733" y="0"/>
                  </a:moveTo>
                  <a:lnTo>
                    <a:pt x="40692" y="0"/>
                  </a:lnTo>
                  <a:lnTo>
                    <a:pt x="24853" y="3188"/>
                  </a:lnTo>
                  <a:lnTo>
                    <a:pt x="11918" y="11886"/>
                  </a:lnTo>
                  <a:lnTo>
                    <a:pt x="3197" y="24789"/>
                  </a:lnTo>
                  <a:lnTo>
                    <a:pt x="0" y="40594"/>
                  </a:lnTo>
                  <a:lnTo>
                    <a:pt x="0" y="568638"/>
                  </a:lnTo>
                  <a:lnTo>
                    <a:pt x="5281680" y="568638"/>
                  </a:lnTo>
                  <a:lnTo>
                    <a:pt x="5281680" y="40594"/>
                  </a:lnTo>
                  <a:lnTo>
                    <a:pt x="5278440" y="24789"/>
                  </a:lnTo>
                  <a:lnTo>
                    <a:pt x="5269627" y="11886"/>
                  </a:lnTo>
                  <a:lnTo>
                    <a:pt x="5256604" y="3188"/>
                  </a:lnTo>
                  <a:lnTo>
                    <a:pt x="5240733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91332" y="4863623"/>
              <a:ext cx="5281295" cy="0"/>
            </a:xfrm>
            <a:custGeom>
              <a:avLst/>
              <a:gdLst/>
              <a:ahLst/>
              <a:cxnLst/>
              <a:rect l="l" t="t" r="r" b="b"/>
              <a:pathLst>
                <a:path w="5281295" h="0">
                  <a:moveTo>
                    <a:pt x="5281152" y="0"/>
                  </a:moveTo>
                  <a:lnTo>
                    <a:pt x="0" y="0"/>
                  </a:lnTo>
                </a:path>
              </a:pathLst>
            </a:custGeom>
            <a:ln w="12636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3240151" y="4366005"/>
            <a:ext cx="18224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80">
                <a:solidFill>
                  <a:srgbClr val="404154"/>
                </a:solidFill>
                <a:latin typeface="Palatino Linotype"/>
                <a:cs typeface="Palatino Linotype"/>
              </a:rPr>
              <a:t>3</a:t>
            </a:r>
            <a:endParaRPr sz="2200">
              <a:latin typeface="Palatino Linotype"/>
              <a:cs typeface="Palatino Linotyp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63295" y="5020183"/>
            <a:ext cx="4929505" cy="1000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40">
                <a:solidFill>
                  <a:srgbClr val="404154"/>
                </a:solidFill>
                <a:latin typeface="Palatino Linotype"/>
                <a:cs typeface="Palatino Linotype"/>
              </a:rPr>
              <a:t>Conciliación</a:t>
            </a:r>
            <a:endParaRPr sz="1850">
              <a:latin typeface="Palatino Linotype"/>
              <a:cs typeface="Palatino Linotype"/>
            </a:endParaRPr>
          </a:p>
          <a:p>
            <a:pPr marL="12700" marR="5080">
              <a:lnSpc>
                <a:spcPct val="132400"/>
              </a:lnSpc>
              <a:spcBef>
                <a:spcPts val="850"/>
              </a:spcBef>
            </a:pP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Panel</a:t>
            </a:r>
            <a:r>
              <a:rPr dirty="0" sz="1450" spc="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de</a:t>
            </a:r>
            <a:r>
              <a:rPr dirty="0" sz="1450" spc="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70">
                <a:solidFill>
                  <a:srgbClr val="404154"/>
                </a:solidFill>
                <a:latin typeface="Microsoft Sans Serif"/>
                <a:cs typeface="Microsoft Sans Serif"/>
              </a:rPr>
              <a:t>control:</a:t>
            </a:r>
            <a:r>
              <a:rPr dirty="0" sz="1450" spc="3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45">
                <a:solidFill>
                  <a:srgbClr val="404154"/>
                </a:solidFill>
                <a:latin typeface="Microsoft Sans Serif"/>
                <a:cs typeface="Microsoft Sans Serif"/>
              </a:rPr>
              <a:t>beneficios</a:t>
            </a:r>
            <a:r>
              <a:rPr dirty="0" sz="1450" spc="-1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55">
                <a:solidFill>
                  <a:srgbClr val="404154"/>
                </a:solidFill>
                <a:latin typeface="Microsoft Sans Serif"/>
                <a:cs typeface="Microsoft Sans Serif"/>
              </a:rPr>
              <a:t>ofrecidos</a:t>
            </a:r>
            <a:r>
              <a:rPr dirty="0" sz="1450" spc="-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vs. </a:t>
            </a:r>
            <a:r>
              <a:rPr dirty="0" sz="1450" spc="60">
                <a:solidFill>
                  <a:srgbClr val="404154"/>
                </a:solidFill>
                <a:latin typeface="Microsoft Sans Serif"/>
                <a:cs typeface="Microsoft Sans Serif"/>
              </a:rPr>
              <a:t>efectivamente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canjeados</a:t>
            </a:r>
            <a:r>
              <a:rPr dirty="0" sz="1450" spc="13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80">
                <a:solidFill>
                  <a:srgbClr val="404154"/>
                </a:solidFill>
                <a:latin typeface="Microsoft Sans Serif"/>
                <a:cs typeface="Microsoft Sans Serif"/>
              </a:rPr>
              <a:t>o</a:t>
            </a:r>
            <a:r>
              <a:rPr dirty="0" sz="1450" spc="12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35">
                <a:solidFill>
                  <a:srgbClr val="404154"/>
                </a:solidFill>
                <a:latin typeface="Microsoft Sans Serif"/>
                <a:cs typeface="Microsoft Sans Serif"/>
              </a:rPr>
              <a:t>cobrados.</a:t>
            </a:r>
            <a:endParaRPr sz="1450">
              <a:latin typeface="Microsoft Sans Serif"/>
              <a:cs typeface="Microsoft Sans Serif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169491" y="4244439"/>
            <a:ext cx="5358130" cy="2053589"/>
            <a:chOff x="6169491" y="4244439"/>
            <a:chExt cx="5358130" cy="2053589"/>
          </a:xfrm>
        </p:grpSpPr>
        <p:sp>
          <p:nvSpPr>
            <p:cNvPr id="22" name="object 22"/>
            <p:cNvSpPr/>
            <p:nvPr/>
          </p:nvSpPr>
          <p:spPr>
            <a:xfrm>
              <a:off x="6194852" y="4269712"/>
              <a:ext cx="5332730" cy="2003425"/>
            </a:xfrm>
            <a:custGeom>
              <a:avLst/>
              <a:gdLst/>
              <a:ahLst/>
              <a:cxnLst/>
              <a:rect l="l" t="t" r="r" b="b"/>
              <a:pathLst>
                <a:path w="5332730" h="2003425">
                  <a:moveTo>
                    <a:pt x="5266184" y="0"/>
                  </a:moveTo>
                  <a:lnTo>
                    <a:pt x="66054" y="0"/>
                  </a:lnTo>
                  <a:lnTo>
                    <a:pt x="40343" y="5175"/>
                  </a:lnTo>
                  <a:lnTo>
                    <a:pt x="19347" y="19290"/>
                  </a:lnTo>
                  <a:lnTo>
                    <a:pt x="5191" y="40226"/>
                  </a:lnTo>
                  <a:lnTo>
                    <a:pt x="0" y="65867"/>
                  </a:lnTo>
                  <a:lnTo>
                    <a:pt x="0" y="1937061"/>
                  </a:lnTo>
                  <a:lnTo>
                    <a:pt x="5191" y="1962684"/>
                  </a:lnTo>
                  <a:lnTo>
                    <a:pt x="19348" y="1983608"/>
                  </a:lnTo>
                  <a:lnTo>
                    <a:pt x="40344" y="1997716"/>
                  </a:lnTo>
                  <a:lnTo>
                    <a:pt x="66055" y="2002889"/>
                  </a:lnTo>
                  <a:lnTo>
                    <a:pt x="5266185" y="2002889"/>
                  </a:lnTo>
                  <a:lnTo>
                    <a:pt x="5292037" y="1997716"/>
                  </a:lnTo>
                  <a:lnTo>
                    <a:pt x="5313110" y="1983608"/>
                  </a:lnTo>
                  <a:lnTo>
                    <a:pt x="5327297" y="1962684"/>
                  </a:lnTo>
                  <a:lnTo>
                    <a:pt x="5332494" y="1937061"/>
                  </a:lnTo>
                  <a:lnTo>
                    <a:pt x="5332493" y="65867"/>
                  </a:lnTo>
                  <a:lnTo>
                    <a:pt x="5327296" y="40226"/>
                  </a:lnTo>
                  <a:lnTo>
                    <a:pt x="5313109" y="19290"/>
                  </a:lnTo>
                  <a:lnTo>
                    <a:pt x="5292036" y="5175"/>
                  </a:lnTo>
                  <a:lnTo>
                    <a:pt x="5266184" y="0"/>
                  </a:lnTo>
                  <a:close/>
                </a:path>
              </a:pathLst>
            </a:custGeom>
            <a:solidFill>
              <a:srgbClr val="F4F7F9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194852" y="4269712"/>
              <a:ext cx="5266690" cy="2003425"/>
            </a:xfrm>
            <a:custGeom>
              <a:avLst/>
              <a:gdLst/>
              <a:ahLst/>
              <a:cxnLst/>
              <a:rect l="l" t="t" r="r" b="b"/>
              <a:pathLst>
                <a:path w="5266690" h="2003425">
                  <a:moveTo>
                    <a:pt x="40405" y="5289"/>
                  </a:moveTo>
                  <a:lnTo>
                    <a:pt x="40791" y="5085"/>
                  </a:lnTo>
                </a:path>
                <a:path w="5266690" h="2003425">
                  <a:moveTo>
                    <a:pt x="66054" y="0"/>
                  </a:moveTo>
                  <a:lnTo>
                    <a:pt x="5266184" y="0"/>
                  </a:lnTo>
                </a:path>
                <a:path w="5266690" h="2003425">
                  <a:moveTo>
                    <a:pt x="5266185" y="2002888"/>
                  </a:moveTo>
                  <a:lnTo>
                    <a:pt x="66055" y="2002888"/>
                  </a:lnTo>
                </a:path>
                <a:path w="5266690" h="2003425">
                  <a:moveTo>
                    <a:pt x="0" y="1937061"/>
                  </a:moveTo>
                  <a:lnTo>
                    <a:pt x="0" y="65867"/>
                  </a:lnTo>
                </a:path>
                <a:path w="5266690" h="2003425">
                  <a:moveTo>
                    <a:pt x="5100" y="40674"/>
                  </a:moveTo>
                  <a:lnTo>
                    <a:pt x="5245" y="40255"/>
                  </a:lnTo>
                </a:path>
              </a:pathLst>
            </a:custGeom>
            <a:ln w="50634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220213" y="4294985"/>
              <a:ext cx="5281930" cy="568960"/>
            </a:xfrm>
            <a:custGeom>
              <a:avLst/>
              <a:gdLst/>
              <a:ahLst/>
              <a:cxnLst/>
              <a:rect l="l" t="t" r="r" b="b"/>
              <a:pathLst>
                <a:path w="5281930" h="568960">
                  <a:moveTo>
                    <a:pt x="5240822" y="0"/>
                  </a:moveTo>
                  <a:lnTo>
                    <a:pt x="40693" y="0"/>
                  </a:lnTo>
                  <a:lnTo>
                    <a:pt x="24854" y="3188"/>
                  </a:lnTo>
                  <a:lnTo>
                    <a:pt x="11919" y="11886"/>
                  </a:lnTo>
                  <a:lnTo>
                    <a:pt x="3198" y="24789"/>
                  </a:lnTo>
                  <a:lnTo>
                    <a:pt x="0" y="40594"/>
                  </a:lnTo>
                  <a:lnTo>
                    <a:pt x="0" y="568638"/>
                  </a:lnTo>
                  <a:lnTo>
                    <a:pt x="5281771" y="568638"/>
                  </a:lnTo>
                  <a:lnTo>
                    <a:pt x="5281770" y="40594"/>
                  </a:lnTo>
                  <a:lnTo>
                    <a:pt x="5278530" y="24789"/>
                  </a:lnTo>
                  <a:lnTo>
                    <a:pt x="5269717" y="11886"/>
                  </a:lnTo>
                  <a:lnTo>
                    <a:pt x="5256694" y="3188"/>
                  </a:lnTo>
                  <a:lnTo>
                    <a:pt x="5240822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220214" y="4863623"/>
              <a:ext cx="5281295" cy="0"/>
            </a:xfrm>
            <a:custGeom>
              <a:avLst/>
              <a:gdLst/>
              <a:ahLst/>
              <a:cxnLst/>
              <a:rect l="l" t="t" r="r" b="b"/>
              <a:pathLst>
                <a:path w="5281295" h="0">
                  <a:moveTo>
                    <a:pt x="5281242" y="0"/>
                  </a:moveTo>
                  <a:lnTo>
                    <a:pt x="0" y="0"/>
                  </a:lnTo>
                </a:path>
              </a:pathLst>
            </a:custGeom>
            <a:ln w="12636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8777478" y="4366005"/>
            <a:ext cx="16764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50">
                <a:solidFill>
                  <a:srgbClr val="404154"/>
                </a:solidFill>
                <a:latin typeface="Palatino Linotype"/>
                <a:cs typeface="Palatino Linotype"/>
              </a:rPr>
              <a:t>4</a:t>
            </a:r>
            <a:endParaRPr sz="2200">
              <a:latin typeface="Palatino Linotype"/>
              <a:cs typeface="Palatino Linotyp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392671" y="5020183"/>
            <a:ext cx="4335780" cy="1000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60">
                <a:solidFill>
                  <a:srgbClr val="404154"/>
                </a:solidFill>
                <a:latin typeface="Palatino Linotype"/>
                <a:cs typeface="Palatino Linotype"/>
              </a:rPr>
              <a:t>Conexión</a:t>
            </a:r>
            <a:r>
              <a:rPr dirty="0" sz="1850" spc="-105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850" spc="65">
                <a:solidFill>
                  <a:srgbClr val="404154"/>
                </a:solidFill>
                <a:latin typeface="Palatino Linotype"/>
                <a:cs typeface="Palatino Linotype"/>
              </a:rPr>
              <a:t>con</a:t>
            </a:r>
            <a:r>
              <a:rPr dirty="0" sz="1850" spc="-105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850">
                <a:solidFill>
                  <a:srgbClr val="404154"/>
                </a:solidFill>
                <a:latin typeface="Palatino Linotype"/>
                <a:cs typeface="Palatino Linotype"/>
              </a:rPr>
              <a:t>el</a:t>
            </a:r>
            <a:r>
              <a:rPr dirty="0" sz="1850" spc="-105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850" spc="45">
                <a:solidFill>
                  <a:srgbClr val="404154"/>
                </a:solidFill>
                <a:latin typeface="Palatino Linotype"/>
                <a:cs typeface="Palatino Linotype"/>
              </a:rPr>
              <a:t>alumno</a:t>
            </a:r>
            <a:endParaRPr sz="1850">
              <a:latin typeface="Palatino Linotype"/>
              <a:cs typeface="Palatino Linotype"/>
            </a:endParaRPr>
          </a:p>
          <a:p>
            <a:pPr marL="12700" marR="5080">
              <a:lnSpc>
                <a:spcPct val="132400"/>
              </a:lnSpc>
              <a:spcBef>
                <a:spcPts val="850"/>
              </a:spcBef>
            </a:pP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Medallas</a:t>
            </a:r>
            <a:r>
              <a:rPr dirty="0" sz="1450" spc="12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50">
                <a:solidFill>
                  <a:srgbClr val="404154"/>
                </a:solidFill>
                <a:latin typeface="Microsoft Sans Serif"/>
                <a:cs typeface="Microsoft Sans Serif"/>
              </a:rPr>
              <a:t>parametrizadas</a:t>
            </a:r>
            <a:r>
              <a:rPr dirty="0" sz="1450" spc="4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80">
                <a:solidFill>
                  <a:srgbClr val="404154"/>
                </a:solidFill>
                <a:latin typeface="Microsoft Sans Serif"/>
                <a:cs typeface="Microsoft Sans Serif"/>
              </a:rPr>
              <a:t>por</a:t>
            </a:r>
            <a:r>
              <a:rPr dirty="0" sz="1450" spc="9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acción:</a:t>
            </a:r>
            <a:r>
              <a:rPr dirty="0" sz="1450" spc="14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55">
                <a:solidFill>
                  <a:srgbClr val="404154"/>
                </a:solidFill>
                <a:latin typeface="Microsoft Sans Serif"/>
                <a:cs typeface="Microsoft Sans Serif"/>
              </a:rPr>
              <a:t>login</a:t>
            </a:r>
            <a:r>
              <a:rPr dirty="0" sz="1450" spc="14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10">
                <a:solidFill>
                  <a:srgbClr val="404154"/>
                </a:solidFill>
                <a:latin typeface="Microsoft Sans Serif"/>
                <a:cs typeface="Microsoft Sans Serif"/>
              </a:rPr>
              <a:t>diario, </a:t>
            </a:r>
            <a:r>
              <a:rPr dirty="0" sz="1450" spc="10">
                <a:solidFill>
                  <a:srgbClr val="404154"/>
                </a:solidFill>
                <a:latin typeface="Microsoft Sans Serif"/>
                <a:cs typeface="Microsoft Sans Serif"/>
              </a:rPr>
              <a:t>respuestas</a:t>
            </a:r>
            <a:r>
              <a:rPr dirty="0" sz="1450" spc="-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45">
                <a:solidFill>
                  <a:srgbClr val="404154"/>
                </a:solidFill>
                <a:latin typeface="Microsoft Sans Serif"/>
                <a:cs typeface="Microsoft Sans Serif"/>
              </a:rPr>
              <a:t>correctas,</a:t>
            </a:r>
            <a:r>
              <a:rPr dirty="0" sz="1450" spc="-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75">
                <a:solidFill>
                  <a:srgbClr val="404154"/>
                </a:solidFill>
                <a:latin typeface="Microsoft Sans Serif"/>
                <a:cs typeface="Microsoft Sans Serif"/>
              </a:rPr>
              <a:t>compra</a:t>
            </a:r>
            <a:r>
              <a:rPr dirty="0" sz="1450" spc="5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10">
                <a:solidFill>
                  <a:srgbClr val="404154"/>
                </a:solidFill>
                <a:latin typeface="Microsoft Sans Serif"/>
                <a:cs typeface="Microsoft Sans Serif"/>
              </a:rPr>
              <a:t>de</a:t>
            </a:r>
            <a:r>
              <a:rPr dirty="0" sz="1450" spc="4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10">
                <a:solidFill>
                  <a:srgbClr val="404154"/>
                </a:solidFill>
                <a:latin typeface="Microsoft Sans Serif"/>
                <a:cs typeface="Microsoft Sans Serif"/>
              </a:rPr>
              <a:t>planes.</a:t>
            </a:r>
            <a:endParaRPr sz="14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68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700" spc="55"/>
              <a:t>Módulos</a:t>
            </a:r>
            <a:r>
              <a:rPr dirty="0" sz="3700" spc="-229"/>
              <a:t> </a:t>
            </a:r>
            <a:r>
              <a:rPr dirty="0" sz="3700" spc="100"/>
              <a:t>complementarios</a:t>
            </a:r>
            <a:endParaRPr sz="3700"/>
          </a:p>
        </p:txBody>
      </p:sp>
      <p:sp>
        <p:nvSpPr>
          <p:cNvPr id="3" name="object 3"/>
          <p:cNvSpPr txBox="1"/>
          <p:nvPr/>
        </p:nvSpPr>
        <p:spPr>
          <a:xfrm>
            <a:off x="648716" y="1780412"/>
            <a:ext cx="5974080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La</a:t>
            </a:r>
            <a:r>
              <a:rPr dirty="0" sz="1450" spc="4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50">
                <a:solidFill>
                  <a:srgbClr val="404154"/>
                </a:solidFill>
                <a:latin typeface="Microsoft Sans Serif"/>
                <a:cs typeface="Microsoft Sans Serif"/>
              </a:rPr>
              <a:t>visión</a:t>
            </a:r>
            <a:r>
              <a:rPr dirty="0" sz="1450" spc="3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70">
                <a:solidFill>
                  <a:srgbClr val="404154"/>
                </a:solidFill>
                <a:latin typeface="Microsoft Sans Serif"/>
                <a:cs typeface="Microsoft Sans Serif"/>
              </a:rPr>
              <a:t>completa</a:t>
            </a:r>
            <a:r>
              <a:rPr dirty="0" sz="1450" spc="6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de</a:t>
            </a:r>
            <a:r>
              <a:rPr dirty="0" sz="1450" spc="1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la</a:t>
            </a:r>
            <a:r>
              <a:rPr dirty="0" sz="1450" spc="6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consola,</a:t>
            </a:r>
            <a:r>
              <a:rPr dirty="0" sz="1450" spc="5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50">
                <a:solidFill>
                  <a:srgbClr val="404154"/>
                </a:solidFill>
                <a:latin typeface="Microsoft Sans Serif"/>
                <a:cs typeface="Microsoft Sans Serif"/>
              </a:rPr>
              <a:t>más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allá</a:t>
            </a:r>
            <a:r>
              <a:rPr dirty="0" sz="1450" spc="7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del</a:t>
            </a:r>
            <a:r>
              <a:rPr dirty="0" sz="1450" spc="2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50">
                <a:solidFill>
                  <a:srgbClr val="404154"/>
                </a:solidFill>
                <a:latin typeface="Microsoft Sans Serif"/>
                <a:cs typeface="Microsoft Sans Serif"/>
              </a:rPr>
              <a:t>entregable</a:t>
            </a:r>
            <a:r>
              <a:rPr dirty="0" sz="1450" spc="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60">
                <a:solidFill>
                  <a:srgbClr val="404154"/>
                </a:solidFill>
                <a:latin typeface="Microsoft Sans Serif"/>
                <a:cs typeface="Microsoft Sans Serif"/>
              </a:rPr>
              <a:t>prioritario.</a:t>
            </a:r>
            <a:endParaRPr sz="145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48780" y="2258568"/>
            <a:ext cx="5365750" cy="1830705"/>
            <a:chOff x="648780" y="2258568"/>
            <a:chExt cx="5365750" cy="1830705"/>
          </a:xfrm>
        </p:grpSpPr>
        <p:sp>
          <p:nvSpPr>
            <p:cNvPr id="5" name="object 5"/>
            <p:cNvSpPr/>
            <p:nvPr/>
          </p:nvSpPr>
          <p:spPr>
            <a:xfrm>
              <a:off x="661479" y="2271268"/>
              <a:ext cx="5340350" cy="1805305"/>
            </a:xfrm>
            <a:custGeom>
              <a:avLst/>
              <a:gdLst/>
              <a:ahLst/>
              <a:cxnLst/>
              <a:rect l="l" t="t" r="r" b="b"/>
              <a:pathLst>
                <a:path w="5340350" h="1805304">
                  <a:moveTo>
                    <a:pt x="5260403" y="0"/>
                  </a:moveTo>
                  <a:lnTo>
                    <a:pt x="79375" y="0"/>
                  </a:lnTo>
                  <a:lnTo>
                    <a:pt x="48477" y="6223"/>
                  </a:lnTo>
                  <a:lnTo>
                    <a:pt x="23247" y="23209"/>
                  </a:lnTo>
                  <a:lnTo>
                    <a:pt x="6237" y="48434"/>
                  </a:lnTo>
                  <a:lnTo>
                    <a:pt x="0" y="79375"/>
                  </a:lnTo>
                  <a:lnTo>
                    <a:pt x="0" y="1725676"/>
                  </a:lnTo>
                  <a:lnTo>
                    <a:pt x="6237" y="1756562"/>
                  </a:lnTo>
                  <a:lnTo>
                    <a:pt x="23247" y="1781794"/>
                  </a:lnTo>
                  <a:lnTo>
                    <a:pt x="48477" y="1798810"/>
                  </a:lnTo>
                  <a:lnTo>
                    <a:pt x="79375" y="1805051"/>
                  </a:lnTo>
                  <a:lnTo>
                    <a:pt x="5260403" y="1805051"/>
                  </a:lnTo>
                  <a:lnTo>
                    <a:pt x="5291290" y="1798810"/>
                  </a:lnTo>
                  <a:lnTo>
                    <a:pt x="5316521" y="1781794"/>
                  </a:lnTo>
                  <a:lnTo>
                    <a:pt x="5333537" y="1756562"/>
                  </a:lnTo>
                  <a:lnTo>
                    <a:pt x="5339778" y="1725676"/>
                  </a:lnTo>
                  <a:lnTo>
                    <a:pt x="5339778" y="79375"/>
                  </a:lnTo>
                  <a:lnTo>
                    <a:pt x="5333537" y="48434"/>
                  </a:lnTo>
                  <a:lnTo>
                    <a:pt x="5316521" y="23209"/>
                  </a:lnTo>
                  <a:lnTo>
                    <a:pt x="5291290" y="6223"/>
                  </a:lnTo>
                  <a:lnTo>
                    <a:pt x="5260403" y="0"/>
                  </a:lnTo>
                  <a:close/>
                </a:path>
              </a:pathLst>
            </a:custGeom>
            <a:solidFill>
              <a:srgbClr val="F4F7F9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61479" y="2271268"/>
              <a:ext cx="5340350" cy="1805305"/>
            </a:xfrm>
            <a:custGeom>
              <a:avLst/>
              <a:gdLst/>
              <a:ahLst/>
              <a:cxnLst/>
              <a:rect l="l" t="t" r="r" b="b"/>
              <a:pathLst>
                <a:path w="5340350" h="1805304">
                  <a:moveTo>
                    <a:pt x="0" y="79375"/>
                  </a:moveTo>
                  <a:lnTo>
                    <a:pt x="6237" y="48434"/>
                  </a:lnTo>
                  <a:lnTo>
                    <a:pt x="23247" y="23209"/>
                  </a:lnTo>
                  <a:lnTo>
                    <a:pt x="48477" y="6223"/>
                  </a:lnTo>
                  <a:lnTo>
                    <a:pt x="79375" y="0"/>
                  </a:lnTo>
                  <a:lnTo>
                    <a:pt x="5260403" y="0"/>
                  </a:lnTo>
                  <a:lnTo>
                    <a:pt x="5291290" y="6223"/>
                  </a:lnTo>
                  <a:lnTo>
                    <a:pt x="5316521" y="23209"/>
                  </a:lnTo>
                  <a:lnTo>
                    <a:pt x="5333537" y="48434"/>
                  </a:lnTo>
                  <a:lnTo>
                    <a:pt x="5339778" y="79375"/>
                  </a:lnTo>
                  <a:lnTo>
                    <a:pt x="5339778" y="1725676"/>
                  </a:lnTo>
                  <a:lnTo>
                    <a:pt x="5333537" y="1756562"/>
                  </a:lnTo>
                  <a:lnTo>
                    <a:pt x="5316521" y="1781794"/>
                  </a:lnTo>
                  <a:lnTo>
                    <a:pt x="5291290" y="1798810"/>
                  </a:lnTo>
                  <a:lnTo>
                    <a:pt x="5260403" y="1805051"/>
                  </a:lnTo>
                  <a:lnTo>
                    <a:pt x="79375" y="1805051"/>
                  </a:lnTo>
                  <a:lnTo>
                    <a:pt x="48477" y="1798810"/>
                  </a:lnTo>
                  <a:lnTo>
                    <a:pt x="23247" y="1781794"/>
                  </a:lnTo>
                  <a:lnTo>
                    <a:pt x="6237" y="1756562"/>
                  </a:lnTo>
                  <a:lnTo>
                    <a:pt x="0" y="1725676"/>
                  </a:lnTo>
                  <a:lnTo>
                    <a:pt x="0" y="79375"/>
                  </a:lnTo>
                  <a:close/>
                </a:path>
              </a:pathLst>
            </a:custGeom>
            <a:ln w="25398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75880" y="2485644"/>
              <a:ext cx="1580515" cy="287655"/>
            </a:xfrm>
            <a:custGeom>
              <a:avLst/>
              <a:gdLst/>
              <a:ahLst/>
              <a:cxnLst/>
              <a:rect l="l" t="t" r="r" b="b"/>
              <a:pathLst>
                <a:path w="1580514" h="287655">
                  <a:moveTo>
                    <a:pt x="1516672" y="0"/>
                  </a:moveTo>
                  <a:lnTo>
                    <a:pt x="63512" y="0"/>
                  </a:lnTo>
                  <a:lnTo>
                    <a:pt x="38790" y="4992"/>
                  </a:lnTo>
                  <a:lnTo>
                    <a:pt x="18602" y="18605"/>
                  </a:lnTo>
                  <a:lnTo>
                    <a:pt x="4991" y="38790"/>
                  </a:lnTo>
                  <a:lnTo>
                    <a:pt x="0" y="63500"/>
                  </a:lnTo>
                  <a:lnTo>
                    <a:pt x="0" y="223646"/>
                  </a:lnTo>
                  <a:lnTo>
                    <a:pt x="4991" y="248356"/>
                  </a:lnTo>
                  <a:lnTo>
                    <a:pt x="18602" y="268541"/>
                  </a:lnTo>
                  <a:lnTo>
                    <a:pt x="38790" y="282154"/>
                  </a:lnTo>
                  <a:lnTo>
                    <a:pt x="63512" y="287146"/>
                  </a:lnTo>
                  <a:lnTo>
                    <a:pt x="1516672" y="287146"/>
                  </a:lnTo>
                  <a:lnTo>
                    <a:pt x="1541381" y="282154"/>
                  </a:lnTo>
                  <a:lnTo>
                    <a:pt x="1561566" y="268541"/>
                  </a:lnTo>
                  <a:lnTo>
                    <a:pt x="1575179" y="248356"/>
                  </a:lnTo>
                  <a:lnTo>
                    <a:pt x="1580172" y="223646"/>
                  </a:lnTo>
                  <a:lnTo>
                    <a:pt x="1580172" y="63500"/>
                  </a:lnTo>
                  <a:lnTo>
                    <a:pt x="1575179" y="38790"/>
                  </a:lnTo>
                  <a:lnTo>
                    <a:pt x="1561566" y="18605"/>
                  </a:lnTo>
                  <a:lnTo>
                    <a:pt x="1541381" y="4992"/>
                  </a:lnTo>
                  <a:lnTo>
                    <a:pt x="1516672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863295" y="2426046"/>
            <a:ext cx="4833620" cy="1395730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125730">
              <a:lnSpc>
                <a:spcPct val="100000"/>
              </a:lnSpc>
              <a:spcBef>
                <a:spcPts val="765"/>
              </a:spcBef>
            </a:pPr>
            <a:r>
              <a:rPr dirty="0" sz="1150" spc="-20">
                <a:solidFill>
                  <a:srgbClr val="404154"/>
                </a:solidFill>
                <a:latin typeface="Microsoft Sans Serif"/>
                <a:cs typeface="Microsoft Sans Serif"/>
              </a:rPr>
              <a:t>ÉPICAS</a:t>
            </a:r>
            <a:r>
              <a:rPr dirty="0" sz="1150" spc="-1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75">
                <a:solidFill>
                  <a:srgbClr val="404154"/>
                </a:solidFill>
                <a:latin typeface="Microsoft Sans Serif"/>
                <a:cs typeface="Microsoft Sans Serif"/>
              </a:rPr>
              <a:t>D-</a:t>
            </a:r>
            <a:r>
              <a:rPr dirty="0" sz="1150" spc="55">
                <a:solidFill>
                  <a:srgbClr val="404154"/>
                </a:solidFill>
                <a:latin typeface="Microsoft Sans Serif"/>
                <a:cs typeface="Microsoft Sans Serif"/>
              </a:rPr>
              <a:t>E2/D-</a:t>
            </a:r>
            <a:r>
              <a:rPr dirty="0" sz="1150" spc="-25">
                <a:solidFill>
                  <a:srgbClr val="404154"/>
                </a:solidFill>
                <a:latin typeface="Microsoft Sans Serif"/>
                <a:cs typeface="Microsoft Sans Serif"/>
              </a:rPr>
              <a:t>E3</a:t>
            </a:r>
            <a:endParaRPr sz="1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850" spc="50">
                <a:solidFill>
                  <a:srgbClr val="404154"/>
                </a:solidFill>
                <a:latin typeface="Palatino Linotype"/>
                <a:cs typeface="Palatino Linotype"/>
              </a:rPr>
              <a:t>Comercial</a:t>
            </a:r>
            <a:r>
              <a:rPr dirty="0" sz="1850" spc="-110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850" spc="-20">
                <a:solidFill>
                  <a:srgbClr val="404154"/>
                </a:solidFill>
                <a:latin typeface="Palatino Linotype"/>
                <a:cs typeface="Palatino Linotype"/>
              </a:rPr>
              <a:t>y</a:t>
            </a:r>
            <a:r>
              <a:rPr dirty="0" sz="1850" spc="-125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850" spc="65">
                <a:solidFill>
                  <a:srgbClr val="404154"/>
                </a:solidFill>
                <a:latin typeface="Palatino Linotype"/>
                <a:cs typeface="Palatino Linotype"/>
              </a:rPr>
              <a:t>Resumen</a:t>
            </a:r>
            <a:endParaRPr sz="1850">
              <a:latin typeface="Palatino Linotype"/>
              <a:cs typeface="Palatino Linotype"/>
            </a:endParaRPr>
          </a:p>
          <a:p>
            <a:pPr marL="12700" marR="5080">
              <a:lnSpc>
                <a:spcPct val="132400"/>
              </a:lnSpc>
              <a:spcBef>
                <a:spcPts val="844"/>
              </a:spcBef>
            </a:pPr>
            <a:r>
              <a:rPr dirty="0" sz="1450" spc="50">
                <a:solidFill>
                  <a:srgbClr val="404154"/>
                </a:solidFill>
                <a:latin typeface="Microsoft Sans Serif"/>
                <a:cs typeface="Microsoft Sans Serif"/>
              </a:rPr>
              <a:t>Embudo</a:t>
            </a:r>
            <a:r>
              <a:rPr dirty="0" sz="1450" spc="1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20">
                <a:solidFill>
                  <a:srgbClr val="404154"/>
                </a:solidFill>
                <a:latin typeface="Microsoft Sans Serif"/>
                <a:cs typeface="Microsoft Sans Serif"/>
              </a:rPr>
              <a:t>de</a:t>
            </a:r>
            <a:r>
              <a:rPr dirty="0" sz="1450" spc="1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20">
                <a:solidFill>
                  <a:srgbClr val="404154"/>
                </a:solidFill>
                <a:latin typeface="Microsoft Sans Serif"/>
                <a:cs typeface="Microsoft Sans Serif"/>
              </a:rPr>
              <a:t>conversión,</a:t>
            </a:r>
            <a:r>
              <a:rPr dirty="0" sz="1450" spc="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70">
                <a:solidFill>
                  <a:srgbClr val="404154"/>
                </a:solidFill>
                <a:latin typeface="Microsoft Sans Serif"/>
                <a:cs typeface="Microsoft Sans Serif"/>
              </a:rPr>
              <a:t>DAU/MAU,</a:t>
            </a:r>
            <a:r>
              <a:rPr dirty="0" sz="1450" spc="4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10">
                <a:solidFill>
                  <a:srgbClr val="404154"/>
                </a:solidFill>
                <a:latin typeface="Microsoft Sans Serif"/>
                <a:cs typeface="Microsoft Sans Serif"/>
              </a:rPr>
              <a:t>MRR</a:t>
            </a:r>
            <a:r>
              <a:rPr dirty="0" sz="1450" spc="2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65">
                <a:solidFill>
                  <a:srgbClr val="404154"/>
                </a:solidFill>
                <a:latin typeface="Microsoft Sans Serif"/>
                <a:cs typeface="Microsoft Sans Serif"/>
              </a:rPr>
              <a:t>y</a:t>
            </a:r>
            <a:r>
              <a:rPr dirty="0" sz="1450" spc="2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60">
                <a:solidFill>
                  <a:srgbClr val="404154"/>
                </a:solidFill>
                <a:latin typeface="Microsoft Sans Serif"/>
                <a:cs typeface="Microsoft Sans Serif"/>
              </a:rPr>
              <a:t>exportación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de </a:t>
            </a:r>
            <a:r>
              <a:rPr dirty="0" sz="1450" spc="55">
                <a:solidFill>
                  <a:srgbClr val="404154"/>
                </a:solidFill>
                <a:latin typeface="Microsoft Sans Serif"/>
                <a:cs typeface="Microsoft Sans Serif"/>
              </a:rPr>
              <a:t>reportes</a:t>
            </a:r>
            <a:r>
              <a:rPr dirty="0" sz="1450" spc="-3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a</a:t>
            </a:r>
            <a:r>
              <a:rPr dirty="0" sz="1450" spc="1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20">
                <a:solidFill>
                  <a:srgbClr val="404154"/>
                </a:solidFill>
                <a:latin typeface="Microsoft Sans Serif"/>
                <a:cs typeface="Microsoft Sans Serif"/>
              </a:rPr>
              <a:t>CSV.</a:t>
            </a:r>
            <a:endParaRPr sz="1450">
              <a:latin typeface="Microsoft Sans Serif"/>
              <a:cs typeface="Microsoft Sans Serif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177661" y="2258568"/>
            <a:ext cx="5365750" cy="1830705"/>
            <a:chOff x="6177661" y="2258568"/>
            <a:chExt cx="5365750" cy="1830705"/>
          </a:xfrm>
        </p:grpSpPr>
        <p:sp>
          <p:nvSpPr>
            <p:cNvPr id="10" name="object 10"/>
            <p:cNvSpPr/>
            <p:nvPr/>
          </p:nvSpPr>
          <p:spPr>
            <a:xfrm>
              <a:off x="6190361" y="2271268"/>
              <a:ext cx="5340350" cy="1805305"/>
            </a:xfrm>
            <a:custGeom>
              <a:avLst/>
              <a:gdLst/>
              <a:ahLst/>
              <a:cxnLst/>
              <a:rect l="l" t="t" r="r" b="b"/>
              <a:pathLst>
                <a:path w="5340350" h="1805304">
                  <a:moveTo>
                    <a:pt x="5260467" y="0"/>
                  </a:moveTo>
                  <a:lnTo>
                    <a:pt x="79375" y="0"/>
                  </a:lnTo>
                  <a:lnTo>
                    <a:pt x="48434" y="6223"/>
                  </a:lnTo>
                  <a:lnTo>
                    <a:pt x="23209" y="23209"/>
                  </a:lnTo>
                  <a:lnTo>
                    <a:pt x="6223" y="48434"/>
                  </a:lnTo>
                  <a:lnTo>
                    <a:pt x="0" y="79375"/>
                  </a:lnTo>
                  <a:lnTo>
                    <a:pt x="0" y="1725676"/>
                  </a:lnTo>
                  <a:lnTo>
                    <a:pt x="6223" y="1756562"/>
                  </a:lnTo>
                  <a:lnTo>
                    <a:pt x="23209" y="1781794"/>
                  </a:lnTo>
                  <a:lnTo>
                    <a:pt x="48434" y="1798810"/>
                  </a:lnTo>
                  <a:lnTo>
                    <a:pt x="79375" y="1805051"/>
                  </a:lnTo>
                  <a:lnTo>
                    <a:pt x="5260467" y="1805051"/>
                  </a:lnTo>
                  <a:lnTo>
                    <a:pt x="5291353" y="1798810"/>
                  </a:lnTo>
                  <a:lnTo>
                    <a:pt x="5316585" y="1781794"/>
                  </a:lnTo>
                  <a:lnTo>
                    <a:pt x="5333601" y="1756562"/>
                  </a:lnTo>
                  <a:lnTo>
                    <a:pt x="5339842" y="1725676"/>
                  </a:lnTo>
                  <a:lnTo>
                    <a:pt x="5339842" y="79375"/>
                  </a:lnTo>
                  <a:lnTo>
                    <a:pt x="5333601" y="48434"/>
                  </a:lnTo>
                  <a:lnTo>
                    <a:pt x="5316585" y="23209"/>
                  </a:lnTo>
                  <a:lnTo>
                    <a:pt x="5291353" y="6223"/>
                  </a:lnTo>
                  <a:lnTo>
                    <a:pt x="5260467" y="0"/>
                  </a:lnTo>
                  <a:close/>
                </a:path>
              </a:pathLst>
            </a:custGeom>
            <a:solidFill>
              <a:srgbClr val="F4F7F9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190361" y="2271268"/>
              <a:ext cx="5340350" cy="1805305"/>
            </a:xfrm>
            <a:custGeom>
              <a:avLst/>
              <a:gdLst/>
              <a:ahLst/>
              <a:cxnLst/>
              <a:rect l="l" t="t" r="r" b="b"/>
              <a:pathLst>
                <a:path w="5340350" h="1805304">
                  <a:moveTo>
                    <a:pt x="0" y="79375"/>
                  </a:moveTo>
                  <a:lnTo>
                    <a:pt x="6223" y="48434"/>
                  </a:lnTo>
                  <a:lnTo>
                    <a:pt x="23209" y="23209"/>
                  </a:lnTo>
                  <a:lnTo>
                    <a:pt x="48434" y="6223"/>
                  </a:lnTo>
                  <a:lnTo>
                    <a:pt x="79375" y="0"/>
                  </a:lnTo>
                  <a:lnTo>
                    <a:pt x="5260467" y="0"/>
                  </a:lnTo>
                  <a:lnTo>
                    <a:pt x="5291353" y="6223"/>
                  </a:lnTo>
                  <a:lnTo>
                    <a:pt x="5316585" y="23209"/>
                  </a:lnTo>
                  <a:lnTo>
                    <a:pt x="5333601" y="48434"/>
                  </a:lnTo>
                  <a:lnTo>
                    <a:pt x="5339842" y="79375"/>
                  </a:lnTo>
                  <a:lnTo>
                    <a:pt x="5339842" y="1725676"/>
                  </a:lnTo>
                  <a:lnTo>
                    <a:pt x="5333601" y="1756562"/>
                  </a:lnTo>
                  <a:lnTo>
                    <a:pt x="5316585" y="1781794"/>
                  </a:lnTo>
                  <a:lnTo>
                    <a:pt x="5291353" y="1798810"/>
                  </a:lnTo>
                  <a:lnTo>
                    <a:pt x="5260467" y="1805051"/>
                  </a:lnTo>
                  <a:lnTo>
                    <a:pt x="79375" y="1805051"/>
                  </a:lnTo>
                  <a:lnTo>
                    <a:pt x="48434" y="1798810"/>
                  </a:lnTo>
                  <a:lnTo>
                    <a:pt x="23209" y="1781794"/>
                  </a:lnTo>
                  <a:lnTo>
                    <a:pt x="6223" y="1756562"/>
                  </a:lnTo>
                  <a:lnTo>
                    <a:pt x="0" y="1725676"/>
                  </a:lnTo>
                  <a:lnTo>
                    <a:pt x="0" y="79375"/>
                  </a:lnTo>
                  <a:close/>
                </a:path>
              </a:pathLst>
            </a:custGeom>
            <a:ln w="25398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404737" y="2485644"/>
              <a:ext cx="1059180" cy="287655"/>
            </a:xfrm>
            <a:custGeom>
              <a:avLst/>
              <a:gdLst/>
              <a:ahLst/>
              <a:cxnLst/>
              <a:rect l="l" t="t" r="r" b="b"/>
              <a:pathLst>
                <a:path w="1059179" h="287655">
                  <a:moveTo>
                    <a:pt x="995044" y="0"/>
                  </a:moveTo>
                  <a:lnTo>
                    <a:pt x="63500" y="0"/>
                  </a:lnTo>
                  <a:lnTo>
                    <a:pt x="38790" y="4992"/>
                  </a:lnTo>
                  <a:lnTo>
                    <a:pt x="18605" y="18605"/>
                  </a:lnTo>
                  <a:lnTo>
                    <a:pt x="4992" y="38790"/>
                  </a:lnTo>
                  <a:lnTo>
                    <a:pt x="0" y="63500"/>
                  </a:lnTo>
                  <a:lnTo>
                    <a:pt x="0" y="223646"/>
                  </a:lnTo>
                  <a:lnTo>
                    <a:pt x="4992" y="248356"/>
                  </a:lnTo>
                  <a:lnTo>
                    <a:pt x="18605" y="268541"/>
                  </a:lnTo>
                  <a:lnTo>
                    <a:pt x="38790" y="282154"/>
                  </a:lnTo>
                  <a:lnTo>
                    <a:pt x="63500" y="287146"/>
                  </a:lnTo>
                  <a:lnTo>
                    <a:pt x="995044" y="287146"/>
                  </a:lnTo>
                  <a:lnTo>
                    <a:pt x="1019827" y="282154"/>
                  </a:lnTo>
                  <a:lnTo>
                    <a:pt x="1040050" y="268541"/>
                  </a:lnTo>
                  <a:lnTo>
                    <a:pt x="1053677" y="248356"/>
                  </a:lnTo>
                  <a:lnTo>
                    <a:pt x="1058671" y="223646"/>
                  </a:lnTo>
                  <a:lnTo>
                    <a:pt x="1058671" y="63500"/>
                  </a:lnTo>
                  <a:lnTo>
                    <a:pt x="1053677" y="38790"/>
                  </a:lnTo>
                  <a:lnTo>
                    <a:pt x="1040050" y="18605"/>
                  </a:lnTo>
                  <a:lnTo>
                    <a:pt x="1019827" y="4992"/>
                  </a:lnTo>
                  <a:lnTo>
                    <a:pt x="995044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45411" y="2957576"/>
              <a:ext cx="146050" cy="1143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89066" y="2957576"/>
              <a:ext cx="146050" cy="11430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6392671" y="2426046"/>
            <a:ext cx="4634230" cy="1395730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125730">
              <a:lnSpc>
                <a:spcPct val="100000"/>
              </a:lnSpc>
              <a:spcBef>
                <a:spcPts val="765"/>
              </a:spcBef>
            </a:pPr>
            <a:r>
              <a:rPr dirty="0" sz="1150" spc="-10">
                <a:solidFill>
                  <a:srgbClr val="404154"/>
                </a:solidFill>
                <a:latin typeface="Microsoft Sans Serif"/>
                <a:cs typeface="Microsoft Sans Serif"/>
              </a:rPr>
              <a:t>ÉPICA</a:t>
            </a:r>
            <a:r>
              <a:rPr dirty="0" sz="1150" spc="-5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75">
                <a:solidFill>
                  <a:srgbClr val="404154"/>
                </a:solidFill>
                <a:latin typeface="Microsoft Sans Serif"/>
                <a:cs typeface="Microsoft Sans Serif"/>
              </a:rPr>
              <a:t>D-</a:t>
            </a:r>
            <a:r>
              <a:rPr dirty="0" sz="1150" spc="-25">
                <a:solidFill>
                  <a:srgbClr val="404154"/>
                </a:solidFill>
                <a:latin typeface="Microsoft Sans Serif"/>
                <a:cs typeface="Microsoft Sans Serif"/>
              </a:rPr>
              <a:t>E5</a:t>
            </a:r>
            <a:endParaRPr sz="1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850" spc="-160">
                <a:solidFill>
                  <a:srgbClr val="404154"/>
                </a:solidFill>
                <a:latin typeface="Palatino Linotype"/>
                <a:cs typeface="Palatino Linotype"/>
              </a:rPr>
              <a:t>Operatia</a:t>
            </a:r>
            <a:r>
              <a:rPr dirty="0" sz="1850" spc="-90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850" spc="-20">
                <a:solidFill>
                  <a:srgbClr val="404154"/>
                </a:solidFill>
                <a:latin typeface="Palatino Linotype"/>
                <a:cs typeface="Palatino Linotype"/>
              </a:rPr>
              <a:t>y</a:t>
            </a:r>
            <a:r>
              <a:rPr dirty="0" sz="1850" spc="-80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850" spc="-35">
                <a:solidFill>
                  <a:srgbClr val="404154"/>
                </a:solidFill>
                <a:latin typeface="Palatino Linotype"/>
                <a:cs typeface="Palatino Linotype"/>
              </a:rPr>
              <a:t>Sericios</a:t>
            </a:r>
            <a:endParaRPr sz="1850">
              <a:latin typeface="Palatino Linotype"/>
              <a:cs typeface="Palatino Linotype"/>
            </a:endParaRPr>
          </a:p>
          <a:p>
            <a:pPr marL="12700" marR="5080">
              <a:lnSpc>
                <a:spcPct val="132400"/>
              </a:lnSpc>
              <a:spcBef>
                <a:spcPts val="844"/>
              </a:spcBef>
            </a:pPr>
            <a:r>
              <a:rPr dirty="0" sz="1450" spc="45">
                <a:solidFill>
                  <a:srgbClr val="404154"/>
                </a:solidFill>
                <a:latin typeface="Microsoft Sans Serif"/>
                <a:cs typeface="Microsoft Sans Serif"/>
              </a:rPr>
              <a:t>Disponibilidad</a:t>
            </a:r>
            <a:r>
              <a:rPr dirty="0" sz="1450" spc="5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10">
                <a:solidFill>
                  <a:srgbClr val="404154"/>
                </a:solidFill>
                <a:latin typeface="Microsoft Sans Serif"/>
                <a:cs typeface="Microsoft Sans Serif"/>
              </a:rPr>
              <a:t>en</a:t>
            </a:r>
            <a:r>
              <a:rPr dirty="0" sz="1450" spc="4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10">
                <a:solidFill>
                  <a:srgbClr val="404154"/>
                </a:solidFill>
                <a:latin typeface="Microsoft Sans Serif"/>
                <a:cs typeface="Microsoft Sans Serif"/>
              </a:rPr>
              <a:t>tiendas,</a:t>
            </a:r>
            <a:r>
              <a:rPr dirty="0" sz="1450" spc="2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55">
                <a:solidFill>
                  <a:srgbClr val="404154"/>
                </a:solidFill>
                <a:latin typeface="Microsoft Sans Serif"/>
                <a:cs typeface="Microsoft Sans Serif"/>
              </a:rPr>
              <a:t>estado</a:t>
            </a:r>
            <a:r>
              <a:rPr dirty="0" sz="1450" spc="2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10">
                <a:solidFill>
                  <a:srgbClr val="404154"/>
                </a:solidFill>
                <a:latin typeface="Microsoft Sans Serif"/>
                <a:cs typeface="Microsoft Sans Serif"/>
              </a:rPr>
              <a:t>de</a:t>
            </a:r>
            <a:r>
              <a:rPr dirty="0" sz="1450" spc="4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45">
                <a:solidFill>
                  <a:srgbClr val="404154"/>
                </a:solidFill>
                <a:latin typeface="Microsoft Sans Serif"/>
                <a:cs typeface="Microsoft Sans Serif"/>
              </a:rPr>
              <a:t>microservicios</a:t>
            </a:r>
            <a:r>
              <a:rPr dirty="0" sz="1450" spc="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15">
                <a:solidFill>
                  <a:srgbClr val="404154"/>
                </a:solidFill>
                <a:latin typeface="Microsoft Sans Serif"/>
                <a:cs typeface="Microsoft Sans Serif"/>
              </a:rPr>
              <a:t>y </a:t>
            </a:r>
            <a:r>
              <a:rPr dirty="0" sz="1450" spc="10">
                <a:solidFill>
                  <a:srgbClr val="404154"/>
                </a:solidFill>
                <a:latin typeface="Microsoft Sans Serif"/>
                <a:cs typeface="Microsoft Sans Serif"/>
              </a:rPr>
              <a:t>reinicio</a:t>
            </a:r>
            <a:r>
              <a:rPr dirty="0" sz="1450" spc="10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70">
                <a:solidFill>
                  <a:srgbClr val="404154"/>
                </a:solidFill>
                <a:latin typeface="Microsoft Sans Serif"/>
                <a:cs typeface="Microsoft Sans Serif"/>
              </a:rPr>
              <a:t>auditado</a:t>
            </a:r>
            <a:r>
              <a:rPr dirty="0" sz="1450" spc="10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10">
                <a:solidFill>
                  <a:srgbClr val="404154"/>
                </a:solidFill>
                <a:latin typeface="Microsoft Sans Serif"/>
                <a:cs typeface="Microsoft Sans Serif"/>
              </a:rPr>
              <a:t>de</a:t>
            </a:r>
            <a:r>
              <a:rPr dirty="0" sz="1450" spc="8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35">
                <a:solidFill>
                  <a:srgbClr val="404154"/>
                </a:solidFill>
                <a:latin typeface="Microsoft Sans Serif"/>
                <a:cs typeface="Microsoft Sans Serif"/>
              </a:rPr>
              <a:t>contenedores.</a:t>
            </a:r>
            <a:endParaRPr sz="1450">
              <a:latin typeface="Microsoft Sans Serif"/>
              <a:cs typeface="Microsoft Sans Serif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48780" y="4252595"/>
            <a:ext cx="5365750" cy="1830705"/>
            <a:chOff x="648780" y="4252595"/>
            <a:chExt cx="5365750" cy="1830705"/>
          </a:xfrm>
        </p:grpSpPr>
        <p:sp>
          <p:nvSpPr>
            <p:cNvPr id="17" name="object 17"/>
            <p:cNvSpPr/>
            <p:nvPr/>
          </p:nvSpPr>
          <p:spPr>
            <a:xfrm>
              <a:off x="661479" y="4265294"/>
              <a:ext cx="5340350" cy="1805305"/>
            </a:xfrm>
            <a:custGeom>
              <a:avLst/>
              <a:gdLst/>
              <a:ahLst/>
              <a:cxnLst/>
              <a:rect l="l" t="t" r="r" b="b"/>
              <a:pathLst>
                <a:path w="5340350" h="1805304">
                  <a:moveTo>
                    <a:pt x="5260403" y="0"/>
                  </a:moveTo>
                  <a:lnTo>
                    <a:pt x="79375" y="0"/>
                  </a:lnTo>
                  <a:lnTo>
                    <a:pt x="48477" y="6240"/>
                  </a:lnTo>
                  <a:lnTo>
                    <a:pt x="23247" y="23256"/>
                  </a:lnTo>
                  <a:lnTo>
                    <a:pt x="6237" y="48488"/>
                  </a:lnTo>
                  <a:lnTo>
                    <a:pt x="0" y="79374"/>
                  </a:lnTo>
                  <a:lnTo>
                    <a:pt x="0" y="1725726"/>
                  </a:lnTo>
                  <a:lnTo>
                    <a:pt x="6237" y="1756624"/>
                  </a:lnTo>
                  <a:lnTo>
                    <a:pt x="23247" y="1781854"/>
                  </a:lnTo>
                  <a:lnTo>
                    <a:pt x="48477" y="1798864"/>
                  </a:lnTo>
                  <a:lnTo>
                    <a:pt x="79375" y="1805101"/>
                  </a:lnTo>
                  <a:lnTo>
                    <a:pt x="5260403" y="1805101"/>
                  </a:lnTo>
                  <a:lnTo>
                    <a:pt x="5291290" y="1798864"/>
                  </a:lnTo>
                  <a:lnTo>
                    <a:pt x="5316521" y="1781854"/>
                  </a:lnTo>
                  <a:lnTo>
                    <a:pt x="5333537" y="1756624"/>
                  </a:lnTo>
                  <a:lnTo>
                    <a:pt x="5339778" y="1725726"/>
                  </a:lnTo>
                  <a:lnTo>
                    <a:pt x="5339778" y="79374"/>
                  </a:lnTo>
                  <a:lnTo>
                    <a:pt x="5333537" y="48488"/>
                  </a:lnTo>
                  <a:lnTo>
                    <a:pt x="5316521" y="23256"/>
                  </a:lnTo>
                  <a:lnTo>
                    <a:pt x="5291290" y="6240"/>
                  </a:lnTo>
                  <a:lnTo>
                    <a:pt x="5260403" y="0"/>
                  </a:lnTo>
                  <a:close/>
                </a:path>
              </a:pathLst>
            </a:custGeom>
            <a:solidFill>
              <a:srgbClr val="F4F7F9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61479" y="4265294"/>
              <a:ext cx="5340350" cy="1805305"/>
            </a:xfrm>
            <a:custGeom>
              <a:avLst/>
              <a:gdLst/>
              <a:ahLst/>
              <a:cxnLst/>
              <a:rect l="l" t="t" r="r" b="b"/>
              <a:pathLst>
                <a:path w="5340350" h="1805304">
                  <a:moveTo>
                    <a:pt x="0" y="79374"/>
                  </a:moveTo>
                  <a:lnTo>
                    <a:pt x="6237" y="48488"/>
                  </a:lnTo>
                  <a:lnTo>
                    <a:pt x="23247" y="23256"/>
                  </a:lnTo>
                  <a:lnTo>
                    <a:pt x="48477" y="6240"/>
                  </a:lnTo>
                  <a:lnTo>
                    <a:pt x="79375" y="0"/>
                  </a:lnTo>
                  <a:lnTo>
                    <a:pt x="5260403" y="0"/>
                  </a:lnTo>
                  <a:lnTo>
                    <a:pt x="5291290" y="6240"/>
                  </a:lnTo>
                  <a:lnTo>
                    <a:pt x="5316521" y="23256"/>
                  </a:lnTo>
                  <a:lnTo>
                    <a:pt x="5333537" y="48488"/>
                  </a:lnTo>
                  <a:lnTo>
                    <a:pt x="5339778" y="79374"/>
                  </a:lnTo>
                  <a:lnTo>
                    <a:pt x="5339778" y="1725726"/>
                  </a:lnTo>
                  <a:lnTo>
                    <a:pt x="5333537" y="1756624"/>
                  </a:lnTo>
                  <a:lnTo>
                    <a:pt x="5316521" y="1781854"/>
                  </a:lnTo>
                  <a:lnTo>
                    <a:pt x="5291290" y="1798864"/>
                  </a:lnTo>
                  <a:lnTo>
                    <a:pt x="5260403" y="1805101"/>
                  </a:lnTo>
                  <a:lnTo>
                    <a:pt x="79375" y="1805101"/>
                  </a:lnTo>
                  <a:lnTo>
                    <a:pt x="48477" y="1798864"/>
                  </a:lnTo>
                  <a:lnTo>
                    <a:pt x="23247" y="1781854"/>
                  </a:lnTo>
                  <a:lnTo>
                    <a:pt x="6237" y="1756624"/>
                  </a:lnTo>
                  <a:lnTo>
                    <a:pt x="0" y="1725726"/>
                  </a:lnTo>
                  <a:lnTo>
                    <a:pt x="0" y="79374"/>
                  </a:lnTo>
                  <a:close/>
                </a:path>
              </a:pathLst>
            </a:custGeom>
            <a:ln w="25398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875880" y="4479670"/>
              <a:ext cx="1069340" cy="287655"/>
            </a:xfrm>
            <a:custGeom>
              <a:avLst/>
              <a:gdLst/>
              <a:ahLst/>
              <a:cxnLst/>
              <a:rect l="l" t="t" r="r" b="b"/>
              <a:pathLst>
                <a:path w="1069339" h="287654">
                  <a:moveTo>
                    <a:pt x="1005370" y="0"/>
                  </a:moveTo>
                  <a:lnTo>
                    <a:pt x="63512" y="0"/>
                  </a:lnTo>
                  <a:lnTo>
                    <a:pt x="38790" y="4994"/>
                  </a:lnTo>
                  <a:lnTo>
                    <a:pt x="18602" y="18621"/>
                  </a:lnTo>
                  <a:lnTo>
                    <a:pt x="4991" y="38844"/>
                  </a:lnTo>
                  <a:lnTo>
                    <a:pt x="0" y="63626"/>
                  </a:lnTo>
                  <a:lnTo>
                    <a:pt x="0" y="223646"/>
                  </a:lnTo>
                  <a:lnTo>
                    <a:pt x="4991" y="248356"/>
                  </a:lnTo>
                  <a:lnTo>
                    <a:pt x="18602" y="268541"/>
                  </a:lnTo>
                  <a:lnTo>
                    <a:pt x="38790" y="282154"/>
                  </a:lnTo>
                  <a:lnTo>
                    <a:pt x="63512" y="287146"/>
                  </a:lnTo>
                  <a:lnTo>
                    <a:pt x="1005370" y="287146"/>
                  </a:lnTo>
                  <a:lnTo>
                    <a:pt x="1030079" y="282154"/>
                  </a:lnTo>
                  <a:lnTo>
                    <a:pt x="1050264" y="268541"/>
                  </a:lnTo>
                  <a:lnTo>
                    <a:pt x="1063877" y="248356"/>
                  </a:lnTo>
                  <a:lnTo>
                    <a:pt x="1068870" y="223646"/>
                  </a:lnTo>
                  <a:lnTo>
                    <a:pt x="1068870" y="63626"/>
                  </a:lnTo>
                  <a:lnTo>
                    <a:pt x="1063877" y="38844"/>
                  </a:lnTo>
                  <a:lnTo>
                    <a:pt x="1050264" y="18621"/>
                  </a:lnTo>
                  <a:lnTo>
                    <a:pt x="1030079" y="4994"/>
                  </a:lnTo>
                  <a:lnTo>
                    <a:pt x="1005370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863295" y="4421244"/>
            <a:ext cx="4750435" cy="1395095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125730">
              <a:lnSpc>
                <a:spcPct val="100000"/>
              </a:lnSpc>
              <a:spcBef>
                <a:spcPts val="760"/>
              </a:spcBef>
            </a:pPr>
            <a:r>
              <a:rPr dirty="0" sz="1150" spc="-10">
                <a:solidFill>
                  <a:srgbClr val="404154"/>
                </a:solidFill>
                <a:latin typeface="Microsoft Sans Serif"/>
                <a:cs typeface="Microsoft Sans Serif"/>
              </a:rPr>
              <a:t>ÉPICA</a:t>
            </a:r>
            <a:r>
              <a:rPr dirty="0" sz="1150" spc="-5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70">
                <a:solidFill>
                  <a:srgbClr val="404154"/>
                </a:solidFill>
                <a:latin typeface="Microsoft Sans Serif"/>
                <a:cs typeface="Microsoft Sans Serif"/>
              </a:rPr>
              <a:t>D-</a:t>
            </a:r>
            <a:r>
              <a:rPr dirty="0" sz="1150" spc="-25">
                <a:solidFill>
                  <a:srgbClr val="404154"/>
                </a:solidFill>
                <a:latin typeface="Microsoft Sans Serif"/>
                <a:cs typeface="Microsoft Sans Serif"/>
              </a:rPr>
              <a:t>E6</a:t>
            </a:r>
            <a:endParaRPr sz="1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850" spc="75">
                <a:solidFill>
                  <a:srgbClr val="404154"/>
                </a:solidFill>
                <a:latin typeface="Palatino Linotype"/>
                <a:cs typeface="Palatino Linotype"/>
              </a:rPr>
              <a:t>Usuarios</a:t>
            </a:r>
            <a:r>
              <a:rPr dirty="0" sz="1850" spc="-110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850" spc="-20">
                <a:solidFill>
                  <a:srgbClr val="404154"/>
                </a:solidFill>
                <a:latin typeface="Palatino Linotype"/>
                <a:cs typeface="Palatino Linotype"/>
              </a:rPr>
              <a:t>y</a:t>
            </a:r>
            <a:r>
              <a:rPr dirty="0" sz="1850" spc="-114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850" spc="-10">
                <a:solidFill>
                  <a:srgbClr val="404154"/>
                </a:solidFill>
                <a:latin typeface="Palatino Linotype"/>
                <a:cs typeface="Palatino Linotype"/>
              </a:rPr>
              <a:t>Soporte</a:t>
            </a:r>
            <a:endParaRPr sz="1850">
              <a:latin typeface="Palatino Linotype"/>
              <a:cs typeface="Palatino Linotype"/>
            </a:endParaRPr>
          </a:p>
          <a:p>
            <a:pPr marL="12700" marR="5080">
              <a:lnSpc>
                <a:spcPct val="132400"/>
              </a:lnSpc>
              <a:spcBef>
                <a:spcPts val="850"/>
              </a:spcBef>
            </a:pP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Gestión</a:t>
            </a:r>
            <a:r>
              <a:rPr dirty="0" sz="1450" spc="4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de</a:t>
            </a:r>
            <a:r>
              <a:rPr dirty="0" sz="1450" spc="6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cuentas,</a:t>
            </a:r>
            <a:r>
              <a:rPr dirty="0" sz="1450" spc="6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80">
                <a:solidFill>
                  <a:srgbClr val="404154"/>
                </a:solidFill>
                <a:latin typeface="Microsoft Sans Serif"/>
                <a:cs typeface="Microsoft Sans Serif"/>
              </a:rPr>
              <a:t>tickets</a:t>
            </a:r>
            <a:r>
              <a:rPr dirty="0" sz="1450" spc="4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de</a:t>
            </a:r>
            <a:r>
              <a:rPr dirty="0" sz="1450" spc="6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50">
                <a:solidFill>
                  <a:srgbClr val="404154"/>
                </a:solidFill>
                <a:latin typeface="Microsoft Sans Serif"/>
                <a:cs typeface="Microsoft Sans Serif"/>
              </a:rPr>
              <a:t>ayuda</a:t>
            </a:r>
            <a:r>
              <a:rPr dirty="0" sz="1450" spc="9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65">
                <a:solidFill>
                  <a:srgbClr val="404154"/>
                </a:solidFill>
                <a:latin typeface="Microsoft Sans Serif"/>
                <a:cs typeface="Microsoft Sans Serif"/>
              </a:rPr>
              <a:t>y</a:t>
            </a:r>
            <a:r>
              <a:rPr dirty="0" sz="1450" spc="7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60">
                <a:solidFill>
                  <a:srgbClr val="404154"/>
                </a:solidFill>
                <a:latin typeface="Microsoft Sans Serif"/>
                <a:cs typeface="Microsoft Sans Serif"/>
              </a:rPr>
              <a:t>moderación</a:t>
            </a:r>
            <a:r>
              <a:rPr dirty="0" sz="1450" spc="6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25">
                <a:solidFill>
                  <a:srgbClr val="404154"/>
                </a:solidFill>
                <a:latin typeface="Microsoft Sans Serif"/>
                <a:cs typeface="Microsoft Sans Serif"/>
              </a:rPr>
              <a:t>de </a:t>
            </a:r>
            <a:r>
              <a:rPr dirty="0" sz="1450" spc="20">
                <a:solidFill>
                  <a:srgbClr val="404154"/>
                </a:solidFill>
                <a:latin typeface="Microsoft Sans Serif"/>
                <a:cs typeface="Microsoft Sans Serif"/>
              </a:rPr>
              <a:t>recorrección</a:t>
            </a:r>
            <a:r>
              <a:rPr dirty="0" sz="1450" spc="12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20">
                <a:solidFill>
                  <a:srgbClr val="404154"/>
                </a:solidFill>
                <a:latin typeface="Microsoft Sans Serif"/>
                <a:cs typeface="Microsoft Sans Serif"/>
              </a:rPr>
              <a:t>de</a:t>
            </a:r>
            <a:r>
              <a:rPr dirty="0" sz="1450" spc="12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45">
                <a:solidFill>
                  <a:srgbClr val="404154"/>
                </a:solidFill>
                <a:latin typeface="Microsoft Sans Serif"/>
                <a:cs typeface="Microsoft Sans Serif"/>
              </a:rPr>
              <a:t>preguntas.</a:t>
            </a:r>
            <a:endParaRPr sz="1450">
              <a:latin typeface="Microsoft Sans Serif"/>
              <a:cs typeface="Microsoft Sans Serif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177661" y="4252595"/>
            <a:ext cx="5365750" cy="1830705"/>
            <a:chOff x="6177661" y="4252595"/>
            <a:chExt cx="5365750" cy="1830705"/>
          </a:xfrm>
        </p:grpSpPr>
        <p:sp>
          <p:nvSpPr>
            <p:cNvPr id="22" name="object 22"/>
            <p:cNvSpPr/>
            <p:nvPr/>
          </p:nvSpPr>
          <p:spPr>
            <a:xfrm>
              <a:off x="6190361" y="4265294"/>
              <a:ext cx="5340350" cy="1805305"/>
            </a:xfrm>
            <a:custGeom>
              <a:avLst/>
              <a:gdLst/>
              <a:ahLst/>
              <a:cxnLst/>
              <a:rect l="l" t="t" r="r" b="b"/>
              <a:pathLst>
                <a:path w="5340350" h="1805304">
                  <a:moveTo>
                    <a:pt x="5260467" y="0"/>
                  </a:moveTo>
                  <a:lnTo>
                    <a:pt x="79375" y="0"/>
                  </a:lnTo>
                  <a:lnTo>
                    <a:pt x="48434" y="6240"/>
                  </a:lnTo>
                  <a:lnTo>
                    <a:pt x="23209" y="23256"/>
                  </a:lnTo>
                  <a:lnTo>
                    <a:pt x="6223" y="48488"/>
                  </a:lnTo>
                  <a:lnTo>
                    <a:pt x="0" y="79374"/>
                  </a:lnTo>
                  <a:lnTo>
                    <a:pt x="0" y="1725752"/>
                  </a:lnTo>
                  <a:lnTo>
                    <a:pt x="6223" y="1756657"/>
                  </a:lnTo>
                  <a:lnTo>
                    <a:pt x="23209" y="1781890"/>
                  </a:lnTo>
                  <a:lnTo>
                    <a:pt x="48434" y="1798902"/>
                  </a:lnTo>
                  <a:lnTo>
                    <a:pt x="79375" y="1805139"/>
                  </a:lnTo>
                  <a:lnTo>
                    <a:pt x="5260467" y="1805139"/>
                  </a:lnTo>
                  <a:lnTo>
                    <a:pt x="5291353" y="1798902"/>
                  </a:lnTo>
                  <a:lnTo>
                    <a:pt x="5316585" y="1781890"/>
                  </a:lnTo>
                  <a:lnTo>
                    <a:pt x="5333601" y="1756657"/>
                  </a:lnTo>
                  <a:lnTo>
                    <a:pt x="5339842" y="1725752"/>
                  </a:lnTo>
                  <a:lnTo>
                    <a:pt x="5339842" y="79374"/>
                  </a:lnTo>
                  <a:lnTo>
                    <a:pt x="5333601" y="48488"/>
                  </a:lnTo>
                  <a:lnTo>
                    <a:pt x="5316585" y="23256"/>
                  </a:lnTo>
                  <a:lnTo>
                    <a:pt x="5291353" y="6240"/>
                  </a:lnTo>
                  <a:lnTo>
                    <a:pt x="5260467" y="0"/>
                  </a:lnTo>
                  <a:close/>
                </a:path>
              </a:pathLst>
            </a:custGeom>
            <a:solidFill>
              <a:srgbClr val="F4F7F9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190361" y="4265294"/>
              <a:ext cx="5340350" cy="1805305"/>
            </a:xfrm>
            <a:custGeom>
              <a:avLst/>
              <a:gdLst/>
              <a:ahLst/>
              <a:cxnLst/>
              <a:rect l="l" t="t" r="r" b="b"/>
              <a:pathLst>
                <a:path w="5340350" h="1805304">
                  <a:moveTo>
                    <a:pt x="0" y="79374"/>
                  </a:moveTo>
                  <a:lnTo>
                    <a:pt x="6223" y="48488"/>
                  </a:lnTo>
                  <a:lnTo>
                    <a:pt x="23209" y="23256"/>
                  </a:lnTo>
                  <a:lnTo>
                    <a:pt x="48434" y="6240"/>
                  </a:lnTo>
                  <a:lnTo>
                    <a:pt x="79375" y="0"/>
                  </a:lnTo>
                  <a:lnTo>
                    <a:pt x="5260467" y="0"/>
                  </a:lnTo>
                  <a:lnTo>
                    <a:pt x="5291353" y="6240"/>
                  </a:lnTo>
                  <a:lnTo>
                    <a:pt x="5316585" y="23256"/>
                  </a:lnTo>
                  <a:lnTo>
                    <a:pt x="5333601" y="48488"/>
                  </a:lnTo>
                  <a:lnTo>
                    <a:pt x="5339842" y="79374"/>
                  </a:lnTo>
                  <a:lnTo>
                    <a:pt x="5339842" y="1725752"/>
                  </a:lnTo>
                  <a:lnTo>
                    <a:pt x="5333601" y="1756657"/>
                  </a:lnTo>
                  <a:lnTo>
                    <a:pt x="5316585" y="1781890"/>
                  </a:lnTo>
                  <a:lnTo>
                    <a:pt x="5291353" y="1798902"/>
                  </a:lnTo>
                  <a:lnTo>
                    <a:pt x="5260467" y="1805139"/>
                  </a:lnTo>
                  <a:lnTo>
                    <a:pt x="79375" y="1805139"/>
                  </a:lnTo>
                  <a:lnTo>
                    <a:pt x="48434" y="1798902"/>
                  </a:lnTo>
                  <a:lnTo>
                    <a:pt x="23209" y="1781890"/>
                  </a:lnTo>
                  <a:lnTo>
                    <a:pt x="6223" y="1756657"/>
                  </a:lnTo>
                  <a:lnTo>
                    <a:pt x="0" y="1725752"/>
                  </a:lnTo>
                  <a:lnTo>
                    <a:pt x="0" y="79374"/>
                  </a:lnTo>
                  <a:close/>
                </a:path>
              </a:pathLst>
            </a:custGeom>
            <a:ln w="25398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404737" y="4479670"/>
              <a:ext cx="1061085" cy="287655"/>
            </a:xfrm>
            <a:custGeom>
              <a:avLst/>
              <a:gdLst/>
              <a:ahLst/>
              <a:cxnLst/>
              <a:rect l="l" t="t" r="r" b="b"/>
              <a:pathLst>
                <a:path w="1061084" h="287654">
                  <a:moveTo>
                    <a:pt x="997331" y="0"/>
                  </a:moveTo>
                  <a:lnTo>
                    <a:pt x="63500" y="0"/>
                  </a:lnTo>
                  <a:lnTo>
                    <a:pt x="38790" y="4994"/>
                  </a:lnTo>
                  <a:lnTo>
                    <a:pt x="18605" y="18621"/>
                  </a:lnTo>
                  <a:lnTo>
                    <a:pt x="4992" y="38844"/>
                  </a:lnTo>
                  <a:lnTo>
                    <a:pt x="0" y="63626"/>
                  </a:lnTo>
                  <a:lnTo>
                    <a:pt x="0" y="223646"/>
                  </a:lnTo>
                  <a:lnTo>
                    <a:pt x="4992" y="248356"/>
                  </a:lnTo>
                  <a:lnTo>
                    <a:pt x="18605" y="268541"/>
                  </a:lnTo>
                  <a:lnTo>
                    <a:pt x="38790" y="282154"/>
                  </a:lnTo>
                  <a:lnTo>
                    <a:pt x="63500" y="287146"/>
                  </a:lnTo>
                  <a:lnTo>
                    <a:pt x="997331" y="287146"/>
                  </a:lnTo>
                  <a:lnTo>
                    <a:pt x="1022040" y="282154"/>
                  </a:lnTo>
                  <a:lnTo>
                    <a:pt x="1042225" y="268541"/>
                  </a:lnTo>
                  <a:lnTo>
                    <a:pt x="1055838" y="248356"/>
                  </a:lnTo>
                  <a:lnTo>
                    <a:pt x="1060831" y="223646"/>
                  </a:lnTo>
                  <a:lnTo>
                    <a:pt x="1060831" y="63626"/>
                  </a:lnTo>
                  <a:lnTo>
                    <a:pt x="1055838" y="38844"/>
                  </a:lnTo>
                  <a:lnTo>
                    <a:pt x="1042225" y="18621"/>
                  </a:lnTo>
                  <a:lnTo>
                    <a:pt x="1022040" y="4994"/>
                  </a:lnTo>
                  <a:lnTo>
                    <a:pt x="997331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392671" y="4421244"/>
            <a:ext cx="4702175" cy="1395095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125730">
              <a:lnSpc>
                <a:spcPct val="100000"/>
              </a:lnSpc>
              <a:spcBef>
                <a:spcPts val="760"/>
              </a:spcBef>
            </a:pPr>
            <a:r>
              <a:rPr dirty="0" sz="1150" spc="-10">
                <a:solidFill>
                  <a:srgbClr val="404154"/>
                </a:solidFill>
                <a:latin typeface="Microsoft Sans Serif"/>
                <a:cs typeface="Microsoft Sans Serif"/>
              </a:rPr>
              <a:t>ÉPICA</a:t>
            </a:r>
            <a:r>
              <a:rPr dirty="0" sz="1150" spc="-5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75">
                <a:solidFill>
                  <a:srgbClr val="404154"/>
                </a:solidFill>
                <a:latin typeface="Microsoft Sans Serif"/>
                <a:cs typeface="Microsoft Sans Serif"/>
              </a:rPr>
              <a:t>D-</a:t>
            </a:r>
            <a:r>
              <a:rPr dirty="0" sz="1150" spc="-25">
                <a:solidFill>
                  <a:srgbClr val="404154"/>
                </a:solidFill>
                <a:latin typeface="Microsoft Sans Serif"/>
                <a:cs typeface="Microsoft Sans Serif"/>
              </a:rPr>
              <a:t>E7</a:t>
            </a:r>
            <a:endParaRPr sz="1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850">
                <a:solidFill>
                  <a:srgbClr val="404154"/>
                </a:solidFill>
                <a:latin typeface="Palatino Linotype"/>
                <a:cs typeface="Palatino Linotype"/>
              </a:rPr>
              <a:t>Tutores</a:t>
            </a:r>
            <a:r>
              <a:rPr dirty="0" sz="1850" spc="-20">
                <a:solidFill>
                  <a:srgbClr val="404154"/>
                </a:solidFill>
                <a:latin typeface="Palatino Linotype"/>
                <a:cs typeface="Palatino Linotype"/>
              </a:rPr>
              <a:t> y</a:t>
            </a:r>
            <a:r>
              <a:rPr dirty="0" sz="1850" spc="-5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850" spc="65">
                <a:solidFill>
                  <a:srgbClr val="404154"/>
                </a:solidFill>
                <a:latin typeface="Palatino Linotype"/>
                <a:cs typeface="Palatino Linotype"/>
              </a:rPr>
              <a:t>Planes</a:t>
            </a:r>
            <a:endParaRPr sz="1850">
              <a:latin typeface="Palatino Linotype"/>
              <a:cs typeface="Palatino Linotype"/>
            </a:endParaRPr>
          </a:p>
          <a:p>
            <a:pPr marL="12700" marR="5080">
              <a:lnSpc>
                <a:spcPct val="132400"/>
              </a:lnSpc>
              <a:spcBef>
                <a:spcPts val="850"/>
              </a:spcBef>
            </a:pPr>
            <a:r>
              <a:rPr dirty="0" sz="1450" spc="60">
                <a:solidFill>
                  <a:srgbClr val="404154"/>
                </a:solidFill>
                <a:latin typeface="Microsoft Sans Serif"/>
                <a:cs typeface="Microsoft Sans Serif"/>
              </a:rPr>
              <a:t>Acreditación</a:t>
            </a:r>
            <a:r>
              <a:rPr dirty="0" sz="1450" spc="4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20">
                <a:solidFill>
                  <a:srgbClr val="404154"/>
                </a:solidFill>
                <a:latin typeface="Microsoft Sans Serif"/>
                <a:cs typeface="Microsoft Sans Serif"/>
              </a:rPr>
              <a:t>de</a:t>
            </a:r>
            <a:r>
              <a:rPr dirty="0" sz="1450" spc="4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20">
                <a:solidFill>
                  <a:srgbClr val="404154"/>
                </a:solidFill>
                <a:latin typeface="Microsoft Sans Serif"/>
                <a:cs typeface="Microsoft Sans Serif"/>
              </a:rPr>
              <a:t>profesores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50">
                <a:solidFill>
                  <a:srgbClr val="404154"/>
                </a:solidFill>
                <a:latin typeface="Microsoft Sans Serif"/>
                <a:cs typeface="Microsoft Sans Serif"/>
              </a:rPr>
              <a:t>particulares</a:t>
            </a:r>
            <a:r>
              <a:rPr dirty="0" sz="1450" spc="2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65">
                <a:solidFill>
                  <a:srgbClr val="404154"/>
                </a:solidFill>
                <a:latin typeface="Microsoft Sans Serif"/>
                <a:cs typeface="Microsoft Sans Serif"/>
              </a:rPr>
              <a:t>y</a:t>
            </a:r>
            <a:r>
              <a:rPr dirty="0" sz="1450" spc="6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65">
                <a:solidFill>
                  <a:srgbClr val="404154"/>
                </a:solidFill>
                <a:latin typeface="Microsoft Sans Serif"/>
                <a:cs typeface="Microsoft Sans Serif"/>
              </a:rPr>
              <a:t>constructor </a:t>
            </a:r>
            <a:r>
              <a:rPr dirty="0" sz="1450" spc="75">
                <a:solidFill>
                  <a:srgbClr val="404154"/>
                </a:solidFill>
                <a:latin typeface="Microsoft Sans Serif"/>
                <a:cs typeface="Microsoft Sans Serif"/>
              </a:rPr>
              <a:t>interactivo</a:t>
            </a:r>
            <a:r>
              <a:rPr dirty="0" sz="1450" spc="-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de</a:t>
            </a:r>
            <a:r>
              <a:rPr dirty="0" sz="1450" spc="1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10">
                <a:solidFill>
                  <a:srgbClr val="404154"/>
                </a:solidFill>
                <a:latin typeface="Microsoft Sans Serif"/>
                <a:cs typeface="Microsoft Sans Serif"/>
              </a:rPr>
              <a:t>planes.</a:t>
            </a:r>
            <a:endParaRPr sz="14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46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46" y="6858000"/>
                </a:lnTo>
                <a:lnTo>
                  <a:pt x="12191746" y="0"/>
                </a:lnTo>
                <a:close/>
              </a:path>
            </a:pathLst>
          </a:custGeom>
          <a:solidFill>
            <a:srgbClr val="F4F7F9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743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700" spc="85"/>
              <a:t>Arquitectura</a:t>
            </a:r>
            <a:r>
              <a:rPr dirty="0" sz="3700" spc="-260"/>
              <a:t> </a:t>
            </a:r>
            <a:r>
              <a:rPr dirty="0" sz="3700" spc="-50"/>
              <a:t>y</a:t>
            </a:r>
            <a:r>
              <a:rPr dirty="0" sz="3700" spc="-254"/>
              <a:t> </a:t>
            </a:r>
            <a:r>
              <a:rPr dirty="0" sz="3700" spc="245"/>
              <a:t>stack</a:t>
            </a:r>
            <a:r>
              <a:rPr dirty="0" sz="3700" spc="-254"/>
              <a:t> </a:t>
            </a:r>
            <a:r>
              <a:rPr dirty="0" sz="3700" spc="65"/>
              <a:t>tecnológico</a:t>
            </a:r>
            <a:endParaRPr sz="3700"/>
          </a:p>
        </p:txBody>
      </p:sp>
      <p:grpSp>
        <p:nvGrpSpPr>
          <p:cNvPr id="7" name="object 7"/>
          <p:cNvGrpSpPr/>
          <p:nvPr/>
        </p:nvGrpSpPr>
        <p:grpSpPr>
          <a:xfrm>
            <a:off x="640610" y="1992977"/>
            <a:ext cx="5358130" cy="1849120"/>
            <a:chOff x="640610" y="1992977"/>
            <a:chExt cx="5358130" cy="1849120"/>
          </a:xfrm>
        </p:grpSpPr>
        <p:sp>
          <p:nvSpPr>
            <p:cNvPr id="8" name="object 8"/>
            <p:cNvSpPr/>
            <p:nvPr/>
          </p:nvSpPr>
          <p:spPr>
            <a:xfrm>
              <a:off x="665971" y="2018215"/>
              <a:ext cx="5332730" cy="1798320"/>
            </a:xfrm>
            <a:custGeom>
              <a:avLst/>
              <a:gdLst/>
              <a:ahLst/>
              <a:cxnLst/>
              <a:rect l="l" t="t" r="r" b="b"/>
              <a:pathLst>
                <a:path w="5332730" h="1798320">
                  <a:moveTo>
                    <a:pt x="5266094" y="0"/>
                  </a:moveTo>
                  <a:lnTo>
                    <a:pt x="101442" y="0"/>
                  </a:lnTo>
                  <a:lnTo>
                    <a:pt x="61956" y="7936"/>
                  </a:lnTo>
                  <a:lnTo>
                    <a:pt x="29712" y="29575"/>
                  </a:lnTo>
                  <a:lnTo>
                    <a:pt x="7971" y="61665"/>
                  </a:lnTo>
                  <a:lnTo>
                    <a:pt x="0" y="100951"/>
                  </a:lnTo>
                  <a:lnTo>
                    <a:pt x="0" y="1697262"/>
                  </a:lnTo>
                  <a:lnTo>
                    <a:pt x="7971" y="1736557"/>
                  </a:lnTo>
                  <a:lnTo>
                    <a:pt x="29712" y="1768646"/>
                  </a:lnTo>
                  <a:lnTo>
                    <a:pt x="61956" y="1790281"/>
                  </a:lnTo>
                  <a:lnTo>
                    <a:pt x="101442" y="1798214"/>
                  </a:lnTo>
                  <a:lnTo>
                    <a:pt x="5266094" y="1798215"/>
                  </a:lnTo>
                  <a:lnTo>
                    <a:pt x="5291946" y="1793049"/>
                  </a:lnTo>
                  <a:lnTo>
                    <a:pt x="5313018" y="1778961"/>
                  </a:lnTo>
                  <a:lnTo>
                    <a:pt x="5327205" y="1758066"/>
                  </a:lnTo>
                  <a:lnTo>
                    <a:pt x="5332402" y="1732479"/>
                  </a:lnTo>
                  <a:lnTo>
                    <a:pt x="5332402" y="65724"/>
                  </a:lnTo>
                  <a:lnTo>
                    <a:pt x="5327205" y="40149"/>
                  </a:lnTo>
                  <a:lnTo>
                    <a:pt x="5313018" y="19257"/>
                  </a:lnTo>
                  <a:lnTo>
                    <a:pt x="5291946" y="5167"/>
                  </a:lnTo>
                  <a:lnTo>
                    <a:pt x="5266094" y="0"/>
                  </a:lnTo>
                  <a:close/>
                </a:path>
              </a:pathLst>
            </a:custGeom>
            <a:solidFill>
              <a:srgbClr val="F4F7F9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65971" y="2018215"/>
              <a:ext cx="5266690" cy="1798320"/>
            </a:xfrm>
            <a:custGeom>
              <a:avLst/>
              <a:gdLst/>
              <a:ahLst/>
              <a:cxnLst/>
              <a:rect l="l" t="t" r="r" b="b"/>
              <a:pathLst>
                <a:path w="5266690" h="1798320">
                  <a:moveTo>
                    <a:pt x="60437" y="8955"/>
                  </a:moveTo>
                  <a:lnTo>
                    <a:pt x="62644" y="7797"/>
                  </a:lnTo>
                </a:path>
                <a:path w="5266690" h="1798320">
                  <a:moveTo>
                    <a:pt x="101442" y="0"/>
                  </a:moveTo>
                  <a:lnTo>
                    <a:pt x="5266094" y="0"/>
                  </a:lnTo>
                </a:path>
                <a:path w="5266690" h="1798320">
                  <a:moveTo>
                    <a:pt x="5266094" y="1798214"/>
                  </a:moveTo>
                  <a:lnTo>
                    <a:pt x="101442" y="1798214"/>
                  </a:lnTo>
                </a:path>
                <a:path w="5266690" h="1798320">
                  <a:moveTo>
                    <a:pt x="0" y="1697261"/>
                  </a:moveTo>
                  <a:lnTo>
                    <a:pt x="0" y="100951"/>
                  </a:lnTo>
                </a:path>
                <a:path w="5266690" h="1798320">
                  <a:moveTo>
                    <a:pt x="7830" y="62361"/>
                  </a:moveTo>
                  <a:lnTo>
                    <a:pt x="8057" y="61710"/>
                  </a:lnTo>
                </a:path>
              </a:pathLst>
            </a:custGeom>
            <a:ln w="50598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65971" y="2018215"/>
              <a:ext cx="101600" cy="1798320"/>
            </a:xfrm>
            <a:custGeom>
              <a:avLst/>
              <a:gdLst/>
              <a:ahLst/>
              <a:cxnLst/>
              <a:rect l="l" t="t" r="r" b="b"/>
              <a:pathLst>
                <a:path w="101600" h="1798320">
                  <a:moveTo>
                    <a:pt x="101442" y="0"/>
                  </a:moveTo>
                  <a:lnTo>
                    <a:pt x="40343" y="5167"/>
                  </a:lnTo>
                  <a:lnTo>
                    <a:pt x="5191" y="40149"/>
                  </a:lnTo>
                  <a:lnTo>
                    <a:pt x="0" y="65723"/>
                  </a:lnTo>
                  <a:lnTo>
                    <a:pt x="0" y="1732479"/>
                  </a:lnTo>
                  <a:lnTo>
                    <a:pt x="19347" y="1778961"/>
                  </a:lnTo>
                  <a:lnTo>
                    <a:pt x="66053" y="1798214"/>
                  </a:lnTo>
                  <a:lnTo>
                    <a:pt x="101442" y="1798214"/>
                  </a:lnTo>
                  <a:lnTo>
                    <a:pt x="101442" y="0"/>
                  </a:lnTo>
                  <a:close/>
                </a:path>
              </a:pathLst>
            </a:custGeom>
            <a:solidFill>
              <a:srgbClr val="4867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977480" y="2228215"/>
              <a:ext cx="1049020" cy="287020"/>
            </a:xfrm>
            <a:custGeom>
              <a:avLst/>
              <a:gdLst/>
              <a:ahLst/>
              <a:cxnLst/>
              <a:rect l="l" t="t" r="r" b="b"/>
              <a:pathLst>
                <a:path w="1049020" h="287019">
                  <a:moveTo>
                    <a:pt x="985177" y="0"/>
                  </a:moveTo>
                  <a:lnTo>
                    <a:pt x="63512" y="0"/>
                  </a:lnTo>
                  <a:lnTo>
                    <a:pt x="38790" y="4974"/>
                  </a:lnTo>
                  <a:lnTo>
                    <a:pt x="18602" y="18557"/>
                  </a:lnTo>
                  <a:lnTo>
                    <a:pt x="4991" y="38736"/>
                  </a:lnTo>
                  <a:lnTo>
                    <a:pt x="0" y="63500"/>
                  </a:lnTo>
                  <a:lnTo>
                    <a:pt x="0" y="223520"/>
                  </a:lnTo>
                  <a:lnTo>
                    <a:pt x="4991" y="248283"/>
                  </a:lnTo>
                  <a:lnTo>
                    <a:pt x="18602" y="268462"/>
                  </a:lnTo>
                  <a:lnTo>
                    <a:pt x="38790" y="282045"/>
                  </a:lnTo>
                  <a:lnTo>
                    <a:pt x="63512" y="287020"/>
                  </a:lnTo>
                  <a:lnTo>
                    <a:pt x="985177" y="287020"/>
                  </a:lnTo>
                  <a:lnTo>
                    <a:pt x="1009886" y="282045"/>
                  </a:lnTo>
                  <a:lnTo>
                    <a:pt x="1030071" y="268462"/>
                  </a:lnTo>
                  <a:lnTo>
                    <a:pt x="1043684" y="248283"/>
                  </a:lnTo>
                  <a:lnTo>
                    <a:pt x="1048677" y="223520"/>
                  </a:lnTo>
                  <a:lnTo>
                    <a:pt x="1048677" y="63500"/>
                  </a:lnTo>
                  <a:lnTo>
                    <a:pt x="1043684" y="38736"/>
                  </a:lnTo>
                  <a:lnTo>
                    <a:pt x="1030071" y="18557"/>
                  </a:lnTo>
                  <a:lnTo>
                    <a:pt x="1009886" y="4974"/>
                  </a:lnTo>
                  <a:lnTo>
                    <a:pt x="985177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964793" y="2168490"/>
            <a:ext cx="4274820" cy="1395730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125730">
              <a:lnSpc>
                <a:spcPct val="100000"/>
              </a:lnSpc>
              <a:spcBef>
                <a:spcPts val="765"/>
              </a:spcBef>
            </a:pPr>
            <a:r>
              <a:rPr dirty="0" sz="1150" spc="-10">
                <a:solidFill>
                  <a:srgbClr val="404154"/>
                </a:solidFill>
                <a:latin typeface="Microsoft Sans Serif"/>
                <a:cs typeface="Microsoft Sans Serif"/>
              </a:rPr>
              <a:t>FRONTEND</a:t>
            </a:r>
            <a:endParaRPr sz="1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850" spc="85">
                <a:solidFill>
                  <a:srgbClr val="404154"/>
                </a:solidFill>
                <a:latin typeface="Palatino Linotype"/>
                <a:cs typeface="Palatino Linotype"/>
              </a:rPr>
              <a:t>React</a:t>
            </a:r>
            <a:r>
              <a:rPr dirty="0" sz="1850" spc="-105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850" spc="-95">
                <a:solidFill>
                  <a:srgbClr val="404154"/>
                </a:solidFill>
                <a:latin typeface="Palatino Linotype"/>
                <a:cs typeface="Palatino Linotype"/>
              </a:rPr>
              <a:t>18</a:t>
            </a:r>
            <a:r>
              <a:rPr dirty="0" sz="1850" spc="-114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850" spc="-220">
                <a:solidFill>
                  <a:srgbClr val="404154"/>
                </a:solidFill>
                <a:latin typeface="Palatino Linotype"/>
                <a:cs typeface="Palatino Linotype"/>
              </a:rPr>
              <a:t>+</a:t>
            </a:r>
            <a:r>
              <a:rPr dirty="0" sz="1850" spc="-114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850" spc="65">
                <a:solidFill>
                  <a:srgbClr val="404154"/>
                </a:solidFill>
                <a:latin typeface="Palatino Linotype"/>
                <a:cs typeface="Palatino Linotype"/>
              </a:rPr>
              <a:t>Vite</a:t>
            </a:r>
            <a:r>
              <a:rPr dirty="0" sz="1850" spc="-110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850" spc="-220">
                <a:solidFill>
                  <a:srgbClr val="404154"/>
                </a:solidFill>
                <a:latin typeface="Palatino Linotype"/>
                <a:cs typeface="Palatino Linotype"/>
              </a:rPr>
              <a:t>+</a:t>
            </a:r>
            <a:r>
              <a:rPr dirty="0" sz="1850" spc="-114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850" spc="85">
                <a:solidFill>
                  <a:srgbClr val="404154"/>
                </a:solidFill>
                <a:latin typeface="Palatino Linotype"/>
                <a:cs typeface="Palatino Linotype"/>
              </a:rPr>
              <a:t>React</a:t>
            </a:r>
            <a:r>
              <a:rPr dirty="0" sz="1850" spc="-114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850" spc="45">
                <a:solidFill>
                  <a:srgbClr val="404154"/>
                </a:solidFill>
                <a:latin typeface="Palatino Linotype"/>
                <a:cs typeface="Palatino Linotype"/>
              </a:rPr>
              <a:t>Router</a:t>
            </a:r>
            <a:endParaRPr sz="1850">
              <a:latin typeface="Palatino Linotype"/>
              <a:cs typeface="Palatino Linotype"/>
            </a:endParaRPr>
          </a:p>
          <a:p>
            <a:pPr marL="12700" marR="5080">
              <a:lnSpc>
                <a:spcPct val="132400"/>
              </a:lnSpc>
              <a:spcBef>
                <a:spcPts val="844"/>
              </a:spcBef>
            </a:pP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Diseño</a:t>
            </a:r>
            <a:r>
              <a:rPr dirty="0" sz="1450" spc="1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60">
                <a:solidFill>
                  <a:srgbClr val="404154"/>
                </a:solidFill>
                <a:latin typeface="Microsoft Sans Serif"/>
                <a:cs typeface="Microsoft Sans Serif"/>
              </a:rPr>
              <a:t>con</a:t>
            </a:r>
            <a:r>
              <a:rPr dirty="0" sz="1450" spc="3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70">
                <a:solidFill>
                  <a:srgbClr val="404154"/>
                </a:solidFill>
                <a:latin typeface="Microsoft Sans Serif"/>
                <a:cs typeface="Microsoft Sans Serif"/>
              </a:rPr>
              <a:t>tokens</a:t>
            </a:r>
            <a:r>
              <a:rPr dirty="0" sz="1450" spc="1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50">
                <a:solidFill>
                  <a:srgbClr val="404154"/>
                </a:solidFill>
                <a:latin typeface="Microsoft Sans Serif"/>
                <a:cs typeface="Microsoft Sans Serif"/>
              </a:rPr>
              <a:t>institucionales,</a:t>
            </a:r>
            <a:r>
              <a:rPr dirty="0" sz="1450" spc="3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55">
                <a:solidFill>
                  <a:srgbClr val="404154"/>
                </a:solidFill>
                <a:latin typeface="Microsoft Sans Serif"/>
                <a:cs typeface="Microsoft Sans Serif"/>
              </a:rPr>
              <a:t>componentes </a:t>
            </a:r>
            <a:r>
              <a:rPr dirty="0" sz="1450" spc="50">
                <a:solidFill>
                  <a:srgbClr val="404154"/>
                </a:solidFill>
                <a:latin typeface="Microsoft Sans Serif"/>
                <a:cs typeface="Microsoft Sans Serif"/>
              </a:rPr>
              <a:t>modulares</a:t>
            </a:r>
            <a:r>
              <a:rPr dirty="0" sz="1450" spc="-4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65">
                <a:solidFill>
                  <a:srgbClr val="404154"/>
                </a:solidFill>
                <a:latin typeface="Microsoft Sans Serif"/>
                <a:cs typeface="Microsoft Sans Serif"/>
              </a:rPr>
              <a:t>y</a:t>
            </a:r>
            <a:r>
              <a:rPr dirty="0" sz="1450" spc="-3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60">
                <a:solidFill>
                  <a:srgbClr val="404154"/>
                </a:solidFill>
                <a:latin typeface="Microsoft Sans Serif"/>
                <a:cs typeface="Microsoft Sans Serif"/>
              </a:rPr>
              <a:t>gráficos</a:t>
            </a:r>
            <a:r>
              <a:rPr dirty="0" sz="1450" spc="-3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40">
                <a:solidFill>
                  <a:srgbClr val="404154"/>
                </a:solidFill>
                <a:latin typeface="Microsoft Sans Serif"/>
                <a:cs typeface="Microsoft Sans Serif"/>
              </a:rPr>
              <a:t>SVG</a:t>
            </a:r>
            <a:r>
              <a:rPr dirty="0" sz="1450" spc="-1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10">
                <a:solidFill>
                  <a:srgbClr val="404154"/>
                </a:solidFill>
                <a:latin typeface="Microsoft Sans Serif"/>
                <a:cs typeface="Microsoft Sans Serif"/>
              </a:rPr>
              <a:t>ligeros.</a:t>
            </a:r>
            <a:endParaRPr sz="1450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169491" y="1992977"/>
            <a:ext cx="5358130" cy="1849120"/>
            <a:chOff x="6169491" y="1992977"/>
            <a:chExt cx="5358130" cy="1849120"/>
          </a:xfrm>
        </p:grpSpPr>
        <p:sp>
          <p:nvSpPr>
            <p:cNvPr id="14" name="object 14"/>
            <p:cNvSpPr/>
            <p:nvPr/>
          </p:nvSpPr>
          <p:spPr>
            <a:xfrm>
              <a:off x="6194852" y="2018215"/>
              <a:ext cx="5332730" cy="1798320"/>
            </a:xfrm>
            <a:custGeom>
              <a:avLst/>
              <a:gdLst/>
              <a:ahLst/>
              <a:cxnLst/>
              <a:rect l="l" t="t" r="r" b="b"/>
              <a:pathLst>
                <a:path w="5332730" h="1798320">
                  <a:moveTo>
                    <a:pt x="5266184" y="0"/>
                  </a:moveTo>
                  <a:lnTo>
                    <a:pt x="101444" y="0"/>
                  </a:lnTo>
                  <a:lnTo>
                    <a:pt x="61957" y="7936"/>
                  </a:lnTo>
                  <a:lnTo>
                    <a:pt x="29712" y="29575"/>
                  </a:lnTo>
                  <a:lnTo>
                    <a:pt x="7972" y="61665"/>
                  </a:lnTo>
                  <a:lnTo>
                    <a:pt x="0" y="100951"/>
                  </a:lnTo>
                  <a:lnTo>
                    <a:pt x="0" y="1697262"/>
                  </a:lnTo>
                  <a:lnTo>
                    <a:pt x="7972" y="1736557"/>
                  </a:lnTo>
                  <a:lnTo>
                    <a:pt x="29713" y="1768646"/>
                  </a:lnTo>
                  <a:lnTo>
                    <a:pt x="61958" y="1790281"/>
                  </a:lnTo>
                  <a:lnTo>
                    <a:pt x="101445" y="1798214"/>
                  </a:lnTo>
                  <a:lnTo>
                    <a:pt x="5266185" y="1798215"/>
                  </a:lnTo>
                  <a:lnTo>
                    <a:pt x="5292037" y="1793049"/>
                  </a:lnTo>
                  <a:lnTo>
                    <a:pt x="5313110" y="1778961"/>
                  </a:lnTo>
                  <a:lnTo>
                    <a:pt x="5327297" y="1758066"/>
                  </a:lnTo>
                  <a:lnTo>
                    <a:pt x="5332494" y="1732479"/>
                  </a:lnTo>
                  <a:lnTo>
                    <a:pt x="5332493" y="65724"/>
                  </a:lnTo>
                  <a:lnTo>
                    <a:pt x="5327296" y="40149"/>
                  </a:lnTo>
                  <a:lnTo>
                    <a:pt x="5313109" y="19257"/>
                  </a:lnTo>
                  <a:lnTo>
                    <a:pt x="5292036" y="5167"/>
                  </a:lnTo>
                  <a:lnTo>
                    <a:pt x="5266184" y="0"/>
                  </a:lnTo>
                  <a:close/>
                </a:path>
              </a:pathLst>
            </a:custGeom>
            <a:solidFill>
              <a:srgbClr val="F4F7F9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194852" y="2018215"/>
              <a:ext cx="5266690" cy="1798320"/>
            </a:xfrm>
            <a:custGeom>
              <a:avLst/>
              <a:gdLst/>
              <a:ahLst/>
              <a:cxnLst/>
              <a:rect l="l" t="t" r="r" b="b"/>
              <a:pathLst>
                <a:path w="5266690" h="1798320">
                  <a:moveTo>
                    <a:pt x="60438" y="8955"/>
                  </a:moveTo>
                  <a:lnTo>
                    <a:pt x="62645" y="7797"/>
                  </a:lnTo>
                </a:path>
                <a:path w="5266690" h="1798320">
                  <a:moveTo>
                    <a:pt x="101444" y="0"/>
                  </a:moveTo>
                  <a:lnTo>
                    <a:pt x="5266184" y="0"/>
                  </a:lnTo>
                </a:path>
                <a:path w="5266690" h="1798320">
                  <a:moveTo>
                    <a:pt x="5266185" y="1798214"/>
                  </a:moveTo>
                  <a:lnTo>
                    <a:pt x="101445" y="1798214"/>
                  </a:lnTo>
                </a:path>
                <a:path w="5266690" h="1798320">
                  <a:moveTo>
                    <a:pt x="0" y="1697261"/>
                  </a:moveTo>
                  <a:lnTo>
                    <a:pt x="0" y="100951"/>
                  </a:lnTo>
                </a:path>
                <a:path w="5266690" h="1798320">
                  <a:moveTo>
                    <a:pt x="7830" y="62361"/>
                  </a:moveTo>
                  <a:lnTo>
                    <a:pt x="8057" y="61710"/>
                  </a:lnTo>
                </a:path>
              </a:pathLst>
            </a:custGeom>
            <a:ln w="50599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194852" y="2018215"/>
              <a:ext cx="101600" cy="1798320"/>
            </a:xfrm>
            <a:custGeom>
              <a:avLst/>
              <a:gdLst/>
              <a:ahLst/>
              <a:cxnLst/>
              <a:rect l="l" t="t" r="r" b="b"/>
              <a:pathLst>
                <a:path w="101600" h="1798320">
                  <a:moveTo>
                    <a:pt x="101444" y="0"/>
                  </a:moveTo>
                  <a:lnTo>
                    <a:pt x="40343" y="5167"/>
                  </a:lnTo>
                  <a:lnTo>
                    <a:pt x="5191" y="40149"/>
                  </a:lnTo>
                  <a:lnTo>
                    <a:pt x="0" y="65723"/>
                  </a:lnTo>
                  <a:lnTo>
                    <a:pt x="0" y="1732479"/>
                  </a:lnTo>
                  <a:lnTo>
                    <a:pt x="19348" y="1778961"/>
                  </a:lnTo>
                  <a:lnTo>
                    <a:pt x="66055" y="1798214"/>
                  </a:lnTo>
                  <a:lnTo>
                    <a:pt x="101445" y="1798214"/>
                  </a:lnTo>
                  <a:lnTo>
                    <a:pt x="101444" y="0"/>
                  </a:lnTo>
                  <a:close/>
                </a:path>
              </a:pathLst>
            </a:custGeom>
            <a:solidFill>
              <a:srgbClr val="4867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506337" y="2228214"/>
              <a:ext cx="947419" cy="287020"/>
            </a:xfrm>
            <a:custGeom>
              <a:avLst/>
              <a:gdLst/>
              <a:ahLst/>
              <a:cxnLst/>
              <a:rect l="l" t="t" r="r" b="b"/>
              <a:pathLst>
                <a:path w="947420" h="287019">
                  <a:moveTo>
                    <a:pt x="883666" y="0"/>
                  </a:moveTo>
                  <a:lnTo>
                    <a:pt x="63500" y="0"/>
                  </a:lnTo>
                  <a:lnTo>
                    <a:pt x="38790" y="4974"/>
                  </a:lnTo>
                  <a:lnTo>
                    <a:pt x="18605" y="18557"/>
                  </a:lnTo>
                  <a:lnTo>
                    <a:pt x="4992" y="38736"/>
                  </a:lnTo>
                  <a:lnTo>
                    <a:pt x="0" y="63500"/>
                  </a:lnTo>
                  <a:lnTo>
                    <a:pt x="0" y="223520"/>
                  </a:lnTo>
                  <a:lnTo>
                    <a:pt x="4992" y="248283"/>
                  </a:lnTo>
                  <a:lnTo>
                    <a:pt x="18605" y="268462"/>
                  </a:lnTo>
                  <a:lnTo>
                    <a:pt x="38790" y="282045"/>
                  </a:lnTo>
                  <a:lnTo>
                    <a:pt x="63500" y="287020"/>
                  </a:lnTo>
                  <a:lnTo>
                    <a:pt x="883666" y="287020"/>
                  </a:lnTo>
                  <a:lnTo>
                    <a:pt x="908375" y="282045"/>
                  </a:lnTo>
                  <a:lnTo>
                    <a:pt x="928560" y="268462"/>
                  </a:lnTo>
                  <a:lnTo>
                    <a:pt x="942173" y="248283"/>
                  </a:lnTo>
                  <a:lnTo>
                    <a:pt x="947166" y="223520"/>
                  </a:lnTo>
                  <a:lnTo>
                    <a:pt x="947166" y="63500"/>
                  </a:lnTo>
                  <a:lnTo>
                    <a:pt x="942173" y="38736"/>
                  </a:lnTo>
                  <a:lnTo>
                    <a:pt x="928560" y="18557"/>
                  </a:lnTo>
                  <a:lnTo>
                    <a:pt x="908375" y="4974"/>
                  </a:lnTo>
                  <a:lnTo>
                    <a:pt x="883666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6494526" y="2168490"/>
            <a:ext cx="4599305" cy="1395730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125730">
              <a:lnSpc>
                <a:spcPct val="100000"/>
              </a:lnSpc>
              <a:spcBef>
                <a:spcPts val="765"/>
              </a:spcBef>
            </a:pPr>
            <a:r>
              <a:rPr dirty="0" sz="1150" spc="-10">
                <a:solidFill>
                  <a:srgbClr val="404154"/>
                </a:solidFill>
                <a:latin typeface="Microsoft Sans Serif"/>
                <a:cs typeface="Microsoft Sans Serif"/>
              </a:rPr>
              <a:t>BACKEND</a:t>
            </a:r>
            <a:endParaRPr sz="1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850">
                <a:solidFill>
                  <a:srgbClr val="404154"/>
                </a:solidFill>
                <a:latin typeface="Palatino Linotype"/>
                <a:cs typeface="Palatino Linotype"/>
              </a:rPr>
              <a:t>Node.js</a:t>
            </a:r>
            <a:r>
              <a:rPr dirty="0" sz="1850" spc="-25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850" spc="-220">
                <a:solidFill>
                  <a:srgbClr val="404154"/>
                </a:solidFill>
                <a:latin typeface="Palatino Linotype"/>
                <a:cs typeface="Palatino Linotype"/>
              </a:rPr>
              <a:t>+</a:t>
            </a:r>
            <a:r>
              <a:rPr dirty="0" sz="1850" spc="-40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850" spc="80">
                <a:solidFill>
                  <a:srgbClr val="404154"/>
                </a:solidFill>
                <a:latin typeface="Palatino Linotype"/>
                <a:cs typeface="Palatino Linotype"/>
              </a:rPr>
              <a:t>Express</a:t>
            </a:r>
            <a:endParaRPr sz="1850">
              <a:latin typeface="Palatino Linotype"/>
              <a:cs typeface="Palatino Linotype"/>
            </a:endParaRPr>
          </a:p>
          <a:p>
            <a:pPr marL="12700" marR="5080">
              <a:lnSpc>
                <a:spcPct val="132400"/>
              </a:lnSpc>
              <a:spcBef>
                <a:spcPts val="844"/>
              </a:spcBef>
            </a:pPr>
            <a:r>
              <a:rPr dirty="0" sz="1450" spc="55">
                <a:solidFill>
                  <a:srgbClr val="404154"/>
                </a:solidFill>
                <a:latin typeface="Microsoft Sans Serif"/>
                <a:cs typeface="Microsoft Sans Serif"/>
              </a:rPr>
              <a:t>API</a:t>
            </a:r>
            <a:r>
              <a:rPr dirty="0" sz="1450" spc="4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75">
                <a:solidFill>
                  <a:srgbClr val="404154"/>
                </a:solidFill>
                <a:latin typeface="Microsoft Sans Serif"/>
                <a:cs typeface="Microsoft Sans Serif"/>
              </a:rPr>
              <a:t>REST</a:t>
            </a:r>
            <a:r>
              <a:rPr dirty="0" sz="1450" spc="7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60">
                <a:solidFill>
                  <a:srgbClr val="404154"/>
                </a:solidFill>
                <a:latin typeface="Microsoft Sans Serif"/>
                <a:cs typeface="Microsoft Sans Serif"/>
              </a:rPr>
              <a:t>con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respuesta </a:t>
            </a:r>
            <a:r>
              <a:rPr dirty="0" sz="1450" spc="45">
                <a:solidFill>
                  <a:srgbClr val="404154"/>
                </a:solidFill>
                <a:latin typeface="Microsoft Sans Serif"/>
                <a:cs typeface="Microsoft Sans Serif"/>
              </a:rPr>
              <a:t>estandarizada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70">
                <a:solidFill>
                  <a:srgbClr val="404154"/>
                </a:solidFill>
                <a:latin typeface="Microsoft Sans Serif"/>
                <a:cs typeface="Microsoft Sans Serif"/>
              </a:rPr>
              <a:t>({data,</a:t>
            </a:r>
            <a:r>
              <a:rPr dirty="0" sz="1450" spc="2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10">
                <a:solidFill>
                  <a:srgbClr val="404154"/>
                </a:solidFill>
                <a:latin typeface="Microsoft Sans Serif"/>
                <a:cs typeface="Microsoft Sans Serif"/>
              </a:rPr>
              <a:t>error, </a:t>
            </a:r>
            <a:r>
              <a:rPr dirty="0" sz="1450" spc="95">
                <a:solidFill>
                  <a:srgbClr val="404154"/>
                </a:solidFill>
                <a:latin typeface="Microsoft Sans Serif"/>
                <a:cs typeface="Microsoft Sans Serif"/>
              </a:rPr>
              <a:t>meta})</a:t>
            </a:r>
            <a:r>
              <a:rPr dirty="0" sz="1450" spc="-3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60">
                <a:solidFill>
                  <a:srgbClr val="404154"/>
                </a:solidFill>
                <a:latin typeface="Microsoft Sans Serif"/>
                <a:cs typeface="Microsoft Sans Serif"/>
              </a:rPr>
              <a:t>bajo</a:t>
            </a:r>
            <a:r>
              <a:rPr dirty="0" sz="1450" spc="-1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90">
                <a:solidFill>
                  <a:srgbClr val="404154"/>
                </a:solidFill>
                <a:latin typeface="Microsoft Sans Serif"/>
                <a:cs typeface="Microsoft Sans Serif"/>
              </a:rPr>
              <a:t>/api/v1/admin/*.</a:t>
            </a:r>
            <a:endParaRPr sz="1450">
              <a:latin typeface="Microsoft Sans Serif"/>
              <a:cs typeface="Microsoft Sans Serif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40610" y="3987017"/>
            <a:ext cx="5358130" cy="1849120"/>
            <a:chOff x="640610" y="3987017"/>
            <a:chExt cx="5358130" cy="1849120"/>
          </a:xfrm>
        </p:grpSpPr>
        <p:sp>
          <p:nvSpPr>
            <p:cNvPr id="20" name="object 20"/>
            <p:cNvSpPr/>
            <p:nvPr/>
          </p:nvSpPr>
          <p:spPr>
            <a:xfrm>
              <a:off x="665971" y="4012255"/>
              <a:ext cx="5332730" cy="1798320"/>
            </a:xfrm>
            <a:custGeom>
              <a:avLst/>
              <a:gdLst/>
              <a:ahLst/>
              <a:cxnLst/>
              <a:rect l="l" t="t" r="r" b="b"/>
              <a:pathLst>
                <a:path w="5332730" h="1798320">
                  <a:moveTo>
                    <a:pt x="5266094" y="0"/>
                  </a:moveTo>
                  <a:lnTo>
                    <a:pt x="101442" y="0"/>
                  </a:lnTo>
                  <a:lnTo>
                    <a:pt x="61956" y="7936"/>
                  </a:lnTo>
                  <a:lnTo>
                    <a:pt x="29712" y="29575"/>
                  </a:lnTo>
                  <a:lnTo>
                    <a:pt x="7971" y="61665"/>
                  </a:lnTo>
                  <a:lnTo>
                    <a:pt x="0" y="100951"/>
                  </a:lnTo>
                  <a:lnTo>
                    <a:pt x="0" y="1697262"/>
                  </a:lnTo>
                  <a:lnTo>
                    <a:pt x="7971" y="1736557"/>
                  </a:lnTo>
                  <a:lnTo>
                    <a:pt x="29712" y="1768646"/>
                  </a:lnTo>
                  <a:lnTo>
                    <a:pt x="61956" y="1790281"/>
                  </a:lnTo>
                  <a:lnTo>
                    <a:pt x="101442" y="1798214"/>
                  </a:lnTo>
                  <a:lnTo>
                    <a:pt x="5266094" y="1798214"/>
                  </a:lnTo>
                  <a:lnTo>
                    <a:pt x="5291946" y="1793049"/>
                  </a:lnTo>
                  <a:lnTo>
                    <a:pt x="5313018" y="1778961"/>
                  </a:lnTo>
                  <a:lnTo>
                    <a:pt x="5327205" y="1758066"/>
                  </a:lnTo>
                  <a:lnTo>
                    <a:pt x="5332402" y="1732479"/>
                  </a:lnTo>
                  <a:lnTo>
                    <a:pt x="5332402" y="65723"/>
                  </a:lnTo>
                  <a:lnTo>
                    <a:pt x="5327205" y="40149"/>
                  </a:lnTo>
                  <a:lnTo>
                    <a:pt x="5313018" y="19257"/>
                  </a:lnTo>
                  <a:lnTo>
                    <a:pt x="5291946" y="5167"/>
                  </a:lnTo>
                  <a:lnTo>
                    <a:pt x="5266094" y="0"/>
                  </a:lnTo>
                  <a:close/>
                </a:path>
              </a:pathLst>
            </a:custGeom>
            <a:solidFill>
              <a:srgbClr val="F4F7F9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65971" y="4012255"/>
              <a:ext cx="5266690" cy="1798320"/>
            </a:xfrm>
            <a:custGeom>
              <a:avLst/>
              <a:gdLst/>
              <a:ahLst/>
              <a:cxnLst/>
              <a:rect l="l" t="t" r="r" b="b"/>
              <a:pathLst>
                <a:path w="5266690" h="1798320">
                  <a:moveTo>
                    <a:pt x="60437" y="8955"/>
                  </a:moveTo>
                  <a:lnTo>
                    <a:pt x="62644" y="7797"/>
                  </a:lnTo>
                </a:path>
                <a:path w="5266690" h="1798320">
                  <a:moveTo>
                    <a:pt x="101442" y="0"/>
                  </a:moveTo>
                  <a:lnTo>
                    <a:pt x="5266094" y="0"/>
                  </a:lnTo>
                </a:path>
                <a:path w="5266690" h="1798320">
                  <a:moveTo>
                    <a:pt x="5266094" y="1798214"/>
                  </a:moveTo>
                  <a:lnTo>
                    <a:pt x="101442" y="1798214"/>
                  </a:lnTo>
                </a:path>
                <a:path w="5266690" h="1798320">
                  <a:moveTo>
                    <a:pt x="0" y="1697262"/>
                  </a:moveTo>
                  <a:lnTo>
                    <a:pt x="0" y="100951"/>
                  </a:lnTo>
                </a:path>
                <a:path w="5266690" h="1798320">
                  <a:moveTo>
                    <a:pt x="7830" y="62361"/>
                  </a:moveTo>
                  <a:lnTo>
                    <a:pt x="8057" y="61711"/>
                  </a:lnTo>
                </a:path>
              </a:pathLst>
            </a:custGeom>
            <a:ln w="50598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65971" y="4012255"/>
              <a:ext cx="101600" cy="1798320"/>
            </a:xfrm>
            <a:custGeom>
              <a:avLst/>
              <a:gdLst/>
              <a:ahLst/>
              <a:cxnLst/>
              <a:rect l="l" t="t" r="r" b="b"/>
              <a:pathLst>
                <a:path w="101600" h="1798320">
                  <a:moveTo>
                    <a:pt x="101442" y="0"/>
                  </a:moveTo>
                  <a:lnTo>
                    <a:pt x="66053" y="0"/>
                  </a:lnTo>
                  <a:lnTo>
                    <a:pt x="40343" y="5167"/>
                  </a:lnTo>
                  <a:lnTo>
                    <a:pt x="19347" y="19257"/>
                  </a:lnTo>
                  <a:lnTo>
                    <a:pt x="5191" y="40149"/>
                  </a:lnTo>
                  <a:lnTo>
                    <a:pt x="0" y="65723"/>
                  </a:lnTo>
                  <a:lnTo>
                    <a:pt x="0" y="1732479"/>
                  </a:lnTo>
                  <a:lnTo>
                    <a:pt x="5191" y="1758066"/>
                  </a:lnTo>
                  <a:lnTo>
                    <a:pt x="19347" y="1778961"/>
                  </a:lnTo>
                  <a:lnTo>
                    <a:pt x="40343" y="1793049"/>
                  </a:lnTo>
                  <a:lnTo>
                    <a:pt x="66053" y="1798214"/>
                  </a:lnTo>
                  <a:lnTo>
                    <a:pt x="101442" y="1798214"/>
                  </a:lnTo>
                  <a:lnTo>
                    <a:pt x="101442" y="0"/>
                  </a:lnTo>
                  <a:close/>
                </a:path>
              </a:pathLst>
            </a:custGeom>
            <a:solidFill>
              <a:srgbClr val="4867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977480" y="4222241"/>
              <a:ext cx="741680" cy="287655"/>
            </a:xfrm>
            <a:custGeom>
              <a:avLst/>
              <a:gdLst/>
              <a:ahLst/>
              <a:cxnLst/>
              <a:rect l="l" t="t" r="r" b="b"/>
              <a:pathLst>
                <a:path w="741680" h="287654">
                  <a:moveTo>
                    <a:pt x="677964" y="0"/>
                  </a:moveTo>
                  <a:lnTo>
                    <a:pt x="63512" y="0"/>
                  </a:lnTo>
                  <a:lnTo>
                    <a:pt x="38790" y="4992"/>
                  </a:lnTo>
                  <a:lnTo>
                    <a:pt x="18602" y="18605"/>
                  </a:lnTo>
                  <a:lnTo>
                    <a:pt x="4991" y="38790"/>
                  </a:lnTo>
                  <a:lnTo>
                    <a:pt x="0" y="63499"/>
                  </a:lnTo>
                  <a:lnTo>
                    <a:pt x="0" y="223646"/>
                  </a:lnTo>
                  <a:lnTo>
                    <a:pt x="4991" y="248356"/>
                  </a:lnTo>
                  <a:lnTo>
                    <a:pt x="18602" y="268541"/>
                  </a:lnTo>
                  <a:lnTo>
                    <a:pt x="38790" y="282154"/>
                  </a:lnTo>
                  <a:lnTo>
                    <a:pt x="63512" y="287146"/>
                  </a:lnTo>
                  <a:lnTo>
                    <a:pt x="677964" y="287146"/>
                  </a:lnTo>
                  <a:lnTo>
                    <a:pt x="702673" y="282154"/>
                  </a:lnTo>
                  <a:lnTo>
                    <a:pt x="722858" y="268541"/>
                  </a:lnTo>
                  <a:lnTo>
                    <a:pt x="736471" y="248356"/>
                  </a:lnTo>
                  <a:lnTo>
                    <a:pt x="741464" y="223646"/>
                  </a:lnTo>
                  <a:lnTo>
                    <a:pt x="741464" y="63499"/>
                  </a:lnTo>
                  <a:lnTo>
                    <a:pt x="736471" y="38790"/>
                  </a:lnTo>
                  <a:lnTo>
                    <a:pt x="722858" y="18605"/>
                  </a:lnTo>
                  <a:lnTo>
                    <a:pt x="702673" y="4992"/>
                  </a:lnTo>
                  <a:lnTo>
                    <a:pt x="677964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964793" y="4163152"/>
            <a:ext cx="4239260" cy="1395095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125730">
              <a:lnSpc>
                <a:spcPct val="100000"/>
              </a:lnSpc>
              <a:spcBef>
                <a:spcPts val="765"/>
              </a:spcBef>
            </a:pPr>
            <a:r>
              <a:rPr dirty="0" sz="1150" spc="-10">
                <a:solidFill>
                  <a:srgbClr val="404154"/>
                </a:solidFill>
                <a:latin typeface="Microsoft Sans Serif"/>
                <a:cs typeface="Microsoft Sans Serif"/>
              </a:rPr>
              <a:t>DATOS</a:t>
            </a:r>
            <a:endParaRPr sz="1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850" spc="70">
                <a:solidFill>
                  <a:srgbClr val="404154"/>
                </a:solidFill>
                <a:latin typeface="Palatino Linotype"/>
                <a:cs typeface="Palatino Linotype"/>
              </a:rPr>
              <a:t>Firebase</a:t>
            </a:r>
            <a:r>
              <a:rPr dirty="0" sz="1850" spc="-85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850">
                <a:solidFill>
                  <a:srgbClr val="404154"/>
                </a:solidFill>
                <a:latin typeface="Palatino Linotype"/>
                <a:cs typeface="Palatino Linotype"/>
              </a:rPr>
              <a:t>Admin</a:t>
            </a:r>
            <a:r>
              <a:rPr dirty="0" sz="1850" spc="-70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850" spc="120">
                <a:solidFill>
                  <a:srgbClr val="404154"/>
                </a:solidFill>
                <a:latin typeface="Palatino Linotype"/>
                <a:cs typeface="Palatino Linotype"/>
              </a:rPr>
              <a:t>SDK</a:t>
            </a:r>
            <a:r>
              <a:rPr dirty="0" sz="1850" spc="-80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850" spc="-10">
                <a:solidFill>
                  <a:srgbClr val="404154"/>
                </a:solidFill>
                <a:latin typeface="Palatino Linotype"/>
                <a:cs typeface="Palatino Linotype"/>
              </a:rPr>
              <a:t>(Firestore)</a:t>
            </a:r>
            <a:endParaRPr sz="1850">
              <a:latin typeface="Palatino Linotype"/>
              <a:cs typeface="Palatino Linotype"/>
            </a:endParaRPr>
          </a:p>
          <a:p>
            <a:pPr marL="12700" marR="5080">
              <a:lnSpc>
                <a:spcPct val="132400"/>
              </a:lnSpc>
              <a:spcBef>
                <a:spcPts val="844"/>
              </a:spcBef>
            </a:pPr>
            <a:r>
              <a:rPr dirty="0" sz="1450" spc="10">
                <a:solidFill>
                  <a:srgbClr val="404154"/>
                </a:solidFill>
                <a:latin typeface="Microsoft Sans Serif"/>
                <a:cs typeface="Microsoft Sans Serif"/>
              </a:rPr>
              <a:t>Persistencia</a:t>
            </a:r>
            <a:r>
              <a:rPr dirty="0" sz="1450" spc="4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10">
                <a:solidFill>
                  <a:srgbClr val="404154"/>
                </a:solidFill>
                <a:latin typeface="Microsoft Sans Serif"/>
                <a:cs typeface="Microsoft Sans Serif"/>
              </a:rPr>
              <a:t>en</a:t>
            </a:r>
            <a:r>
              <a:rPr dirty="0" sz="1450" spc="5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10">
                <a:solidFill>
                  <a:srgbClr val="404154"/>
                </a:solidFill>
                <a:latin typeface="Microsoft Sans Serif"/>
                <a:cs typeface="Microsoft Sans Serif"/>
              </a:rPr>
              <a:t>la</a:t>
            </a:r>
            <a:r>
              <a:rPr dirty="0" sz="1450" spc="7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10">
                <a:solidFill>
                  <a:srgbClr val="404154"/>
                </a:solidFill>
                <a:latin typeface="Microsoft Sans Serif"/>
                <a:cs typeface="Microsoft Sans Serif"/>
              </a:rPr>
              <a:t>nube,</a:t>
            </a:r>
            <a:r>
              <a:rPr dirty="0" sz="1450" spc="3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60">
                <a:solidFill>
                  <a:srgbClr val="404154"/>
                </a:solidFill>
                <a:latin typeface="Microsoft Sans Serif"/>
                <a:cs typeface="Microsoft Sans Serif"/>
              </a:rPr>
              <a:t>con</a:t>
            </a:r>
            <a:r>
              <a:rPr dirty="0" sz="1450" spc="7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55">
                <a:solidFill>
                  <a:srgbClr val="404154"/>
                </a:solidFill>
                <a:latin typeface="Microsoft Sans Serif"/>
                <a:cs typeface="Microsoft Sans Serif"/>
              </a:rPr>
              <a:t>emulador</a:t>
            </a:r>
            <a:r>
              <a:rPr dirty="0" sz="1450" spc="5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10">
                <a:solidFill>
                  <a:srgbClr val="404154"/>
                </a:solidFill>
                <a:latin typeface="Microsoft Sans Serif"/>
                <a:cs typeface="Microsoft Sans Serif"/>
              </a:rPr>
              <a:t>local</a:t>
            </a:r>
            <a:r>
              <a:rPr dirty="0" sz="1450" spc="8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35">
                <a:solidFill>
                  <a:srgbClr val="404154"/>
                </a:solidFill>
                <a:latin typeface="Microsoft Sans Serif"/>
                <a:cs typeface="Microsoft Sans Serif"/>
              </a:rPr>
              <a:t>para </a:t>
            </a:r>
            <a:r>
              <a:rPr dirty="0" sz="1450" spc="10">
                <a:solidFill>
                  <a:srgbClr val="404154"/>
                </a:solidFill>
                <a:latin typeface="Microsoft Sans Serif"/>
                <a:cs typeface="Microsoft Sans Serif"/>
              </a:rPr>
              <a:t>desarrollo</a:t>
            </a:r>
            <a:r>
              <a:rPr dirty="0" sz="1450" spc="28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20">
                <a:solidFill>
                  <a:srgbClr val="404154"/>
                </a:solidFill>
                <a:latin typeface="Microsoft Sans Serif"/>
                <a:cs typeface="Microsoft Sans Serif"/>
              </a:rPr>
              <a:t>ágil.</a:t>
            </a:r>
            <a:endParaRPr sz="1450">
              <a:latin typeface="Microsoft Sans Serif"/>
              <a:cs typeface="Microsoft Sans Serif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169491" y="3987017"/>
            <a:ext cx="5358130" cy="1849120"/>
            <a:chOff x="6169491" y="3987017"/>
            <a:chExt cx="5358130" cy="1849120"/>
          </a:xfrm>
        </p:grpSpPr>
        <p:sp>
          <p:nvSpPr>
            <p:cNvPr id="26" name="object 26"/>
            <p:cNvSpPr/>
            <p:nvPr/>
          </p:nvSpPr>
          <p:spPr>
            <a:xfrm>
              <a:off x="6194852" y="4012255"/>
              <a:ext cx="5332730" cy="1798320"/>
            </a:xfrm>
            <a:custGeom>
              <a:avLst/>
              <a:gdLst/>
              <a:ahLst/>
              <a:cxnLst/>
              <a:rect l="l" t="t" r="r" b="b"/>
              <a:pathLst>
                <a:path w="5332730" h="1798320">
                  <a:moveTo>
                    <a:pt x="5266184" y="0"/>
                  </a:moveTo>
                  <a:lnTo>
                    <a:pt x="101444" y="0"/>
                  </a:lnTo>
                  <a:lnTo>
                    <a:pt x="61957" y="7936"/>
                  </a:lnTo>
                  <a:lnTo>
                    <a:pt x="29712" y="29575"/>
                  </a:lnTo>
                  <a:lnTo>
                    <a:pt x="7972" y="61665"/>
                  </a:lnTo>
                  <a:lnTo>
                    <a:pt x="0" y="100951"/>
                  </a:lnTo>
                  <a:lnTo>
                    <a:pt x="0" y="1697262"/>
                  </a:lnTo>
                  <a:lnTo>
                    <a:pt x="7972" y="1736557"/>
                  </a:lnTo>
                  <a:lnTo>
                    <a:pt x="29713" y="1768646"/>
                  </a:lnTo>
                  <a:lnTo>
                    <a:pt x="61958" y="1790281"/>
                  </a:lnTo>
                  <a:lnTo>
                    <a:pt x="101445" y="1798214"/>
                  </a:lnTo>
                  <a:lnTo>
                    <a:pt x="5266185" y="1798214"/>
                  </a:lnTo>
                  <a:lnTo>
                    <a:pt x="5292037" y="1793049"/>
                  </a:lnTo>
                  <a:lnTo>
                    <a:pt x="5313110" y="1778961"/>
                  </a:lnTo>
                  <a:lnTo>
                    <a:pt x="5327297" y="1758066"/>
                  </a:lnTo>
                  <a:lnTo>
                    <a:pt x="5332494" y="1732479"/>
                  </a:lnTo>
                  <a:lnTo>
                    <a:pt x="5332493" y="65723"/>
                  </a:lnTo>
                  <a:lnTo>
                    <a:pt x="5327296" y="40149"/>
                  </a:lnTo>
                  <a:lnTo>
                    <a:pt x="5313109" y="19257"/>
                  </a:lnTo>
                  <a:lnTo>
                    <a:pt x="5292036" y="5167"/>
                  </a:lnTo>
                  <a:lnTo>
                    <a:pt x="5266184" y="0"/>
                  </a:lnTo>
                  <a:close/>
                </a:path>
              </a:pathLst>
            </a:custGeom>
            <a:solidFill>
              <a:srgbClr val="F4F7F9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194852" y="4012255"/>
              <a:ext cx="5266690" cy="1798320"/>
            </a:xfrm>
            <a:custGeom>
              <a:avLst/>
              <a:gdLst/>
              <a:ahLst/>
              <a:cxnLst/>
              <a:rect l="l" t="t" r="r" b="b"/>
              <a:pathLst>
                <a:path w="5266690" h="1798320">
                  <a:moveTo>
                    <a:pt x="60438" y="8955"/>
                  </a:moveTo>
                  <a:lnTo>
                    <a:pt x="62645" y="7797"/>
                  </a:lnTo>
                </a:path>
                <a:path w="5266690" h="1798320">
                  <a:moveTo>
                    <a:pt x="101444" y="0"/>
                  </a:moveTo>
                  <a:lnTo>
                    <a:pt x="5266184" y="0"/>
                  </a:lnTo>
                </a:path>
                <a:path w="5266690" h="1798320">
                  <a:moveTo>
                    <a:pt x="5266185" y="1798214"/>
                  </a:moveTo>
                  <a:lnTo>
                    <a:pt x="101445" y="1798214"/>
                  </a:lnTo>
                </a:path>
                <a:path w="5266690" h="1798320">
                  <a:moveTo>
                    <a:pt x="0" y="1697262"/>
                  </a:moveTo>
                  <a:lnTo>
                    <a:pt x="0" y="100951"/>
                  </a:lnTo>
                </a:path>
                <a:path w="5266690" h="1798320">
                  <a:moveTo>
                    <a:pt x="7830" y="62361"/>
                  </a:moveTo>
                  <a:lnTo>
                    <a:pt x="8057" y="61711"/>
                  </a:lnTo>
                </a:path>
              </a:pathLst>
            </a:custGeom>
            <a:ln w="50599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194852" y="4012255"/>
              <a:ext cx="101600" cy="1798320"/>
            </a:xfrm>
            <a:custGeom>
              <a:avLst/>
              <a:gdLst/>
              <a:ahLst/>
              <a:cxnLst/>
              <a:rect l="l" t="t" r="r" b="b"/>
              <a:pathLst>
                <a:path w="101600" h="1798320">
                  <a:moveTo>
                    <a:pt x="101444" y="0"/>
                  </a:moveTo>
                  <a:lnTo>
                    <a:pt x="66054" y="0"/>
                  </a:lnTo>
                  <a:lnTo>
                    <a:pt x="40343" y="5167"/>
                  </a:lnTo>
                  <a:lnTo>
                    <a:pt x="19347" y="19257"/>
                  </a:lnTo>
                  <a:lnTo>
                    <a:pt x="5191" y="40149"/>
                  </a:lnTo>
                  <a:lnTo>
                    <a:pt x="0" y="65723"/>
                  </a:lnTo>
                  <a:lnTo>
                    <a:pt x="0" y="1732479"/>
                  </a:lnTo>
                  <a:lnTo>
                    <a:pt x="5191" y="1758066"/>
                  </a:lnTo>
                  <a:lnTo>
                    <a:pt x="19348" y="1778961"/>
                  </a:lnTo>
                  <a:lnTo>
                    <a:pt x="40344" y="1793049"/>
                  </a:lnTo>
                  <a:lnTo>
                    <a:pt x="66055" y="1798214"/>
                  </a:lnTo>
                  <a:lnTo>
                    <a:pt x="101445" y="1798214"/>
                  </a:lnTo>
                  <a:lnTo>
                    <a:pt x="101444" y="0"/>
                  </a:lnTo>
                  <a:close/>
                </a:path>
              </a:pathLst>
            </a:custGeom>
            <a:solidFill>
              <a:srgbClr val="4867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506337" y="4222242"/>
              <a:ext cx="1116330" cy="287655"/>
            </a:xfrm>
            <a:custGeom>
              <a:avLst/>
              <a:gdLst/>
              <a:ahLst/>
              <a:cxnLst/>
              <a:rect l="l" t="t" r="r" b="b"/>
              <a:pathLst>
                <a:path w="1116329" h="287654">
                  <a:moveTo>
                    <a:pt x="1052576" y="0"/>
                  </a:moveTo>
                  <a:lnTo>
                    <a:pt x="63500" y="0"/>
                  </a:lnTo>
                  <a:lnTo>
                    <a:pt x="38790" y="4992"/>
                  </a:lnTo>
                  <a:lnTo>
                    <a:pt x="18605" y="18605"/>
                  </a:lnTo>
                  <a:lnTo>
                    <a:pt x="4992" y="38790"/>
                  </a:lnTo>
                  <a:lnTo>
                    <a:pt x="0" y="63499"/>
                  </a:lnTo>
                  <a:lnTo>
                    <a:pt x="0" y="223646"/>
                  </a:lnTo>
                  <a:lnTo>
                    <a:pt x="4992" y="248356"/>
                  </a:lnTo>
                  <a:lnTo>
                    <a:pt x="18605" y="268541"/>
                  </a:lnTo>
                  <a:lnTo>
                    <a:pt x="38790" y="282154"/>
                  </a:lnTo>
                  <a:lnTo>
                    <a:pt x="63500" y="287146"/>
                  </a:lnTo>
                  <a:lnTo>
                    <a:pt x="1052576" y="287146"/>
                  </a:lnTo>
                  <a:lnTo>
                    <a:pt x="1077285" y="282154"/>
                  </a:lnTo>
                  <a:lnTo>
                    <a:pt x="1097470" y="268541"/>
                  </a:lnTo>
                  <a:lnTo>
                    <a:pt x="1111083" y="248356"/>
                  </a:lnTo>
                  <a:lnTo>
                    <a:pt x="1116076" y="223646"/>
                  </a:lnTo>
                  <a:lnTo>
                    <a:pt x="1116076" y="63499"/>
                  </a:lnTo>
                  <a:lnTo>
                    <a:pt x="1111083" y="38790"/>
                  </a:lnTo>
                  <a:lnTo>
                    <a:pt x="1097470" y="18605"/>
                  </a:lnTo>
                  <a:lnTo>
                    <a:pt x="1077285" y="4992"/>
                  </a:lnTo>
                  <a:lnTo>
                    <a:pt x="1052576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6494526" y="4163152"/>
            <a:ext cx="4748530" cy="1395095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125730">
              <a:lnSpc>
                <a:spcPct val="100000"/>
              </a:lnSpc>
              <a:spcBef>
                <a:spcPts val="765"/>
              </a:spcBef>
            </a:pPr>
            <a:r>
              <a:rPr dirty="0" sz="1150" spc="-10">
                <a:solidFill>
                  <a:srgbClr val="404154"/>
                </a:solidFill>
                <a:latin typeface="Microsoft Sans Serif"/>
                <a:cs typeface="Microsoft Sans Serif"/>
              </a:rPr>
              <a:t>SEGURIDAD</a:t>
            </a:r>
            <a:endParaRPr sz="1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850" spc="200">
                <a:solidFill>
                  <a:srgbClr val="404154"/>
                </a:solidFill>
                <a:latin typeface="Palatino Linotype"/>
                <a:cs typeface="Palatino Linotype"/>
              </a:rPr>
              <a:t>JWT</a:t>
            </a:r>
            <a:r>
              <a:rPr dirty="0" sz="1850" spc="-140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850" spc="-220">
                <a:solidFill>
                  <a:srgbClr val="404154"/>
                </a:solidFill>
                <a:latin typeface="Palatino Linotype"/>
                <a:cs typeface="Palatino Linotype"/>
              </a:rPr>
              <a:t>+</a:t>
            </a:r>
            <a:r>
              <a:rPr dirty="0" sz="1850" spc="-125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850" spc="-10">
                <a:solidFill>
                  <a:srgbClr val="404154"/>
                </a:solidFill>
                <a:latin typeface="Palatino Linotype"/>
                <a:cs typeface="Palatino Linotype"/>
              </a:rPr>
              <a:t>MFA/OTP</a:t>
            </a:r>
            <a:endParaRPr sz="1850">
              <a:latin typeface="Palatino Linotype"/>
              <a:cs typeface="Palatino Linotype"/>
            </a:endParaRPr>
          </a:p>
          <a:p>
            <a:pPr marL="12700" marR="5080">
              <a:lnSpc>
                <a:spcPct val="132400"/>
              </a:lnSpc>
              <a:spcBef>
                <a:spcPts val="844"/>
              </a:spcBef>
            </a:pPr>
            <a:r>
              <a:rPr dirty="0" sz="1450" spc="70">
                <a:solidFill>
                  <a:srgbClr val="404154"/>
                </a:solidFill>
                <a:latin typeface="Microsoft Sans Serif"/>
                <a:cs typeface="Microsoft Sans Serif"/>
              </a:rPr>
              <a:t>Autenticación</a:t>
            </a:r>
            <a:r>
              <a:rPr dirty="0" sz="1450" spc="5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en dos</a:t>
            </a:r>
            <a:r>
              <a:rPr dirty="0" sz="1450" spc="3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70">
                <a:solidFill>
                  <a:srgbClr val="404154"/>
                </a:solidFill>
                <a:latin typeface="Microsoft Sans Serif"/>
                <a:cs typeface="Microsoft Sans Serif"/>
              </a:rPr>
              <a:t>factores</a:t>
            </a:r>
            <a:r>
              <a:rPr dirty="0" sz="1450" spc="-1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65">
                <a:solidFill>
                  <a:srgbClr val="404154"/>
                </a:solidFill>
                <a:latin typeface="Microsoft Sans Serif"/>
                <a:cs typeface="Microsoft Sans Serif"/>
              </a:rPr>
              <a:t>y</a:t>
            </a:r>
            <a:r>
              <a:rPr dirty="0" sz="1450" spc="3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75">
                <a:solidFill>
                  <a:srgbClr val="404154"/>
                </a:solidFill>
                <a:latin typeface="Microsoft Sans Serif"/>
                <a:cs typeface="Microsoft Sans Serif"/>
              </a:rPr>
              <a:t>control</a:t>
            </a:r>
            <a:r>
              <a:rPr dirty="0" sz="1450" spc="4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de</a:t>
            </a:r>
            <a:r>
              <a:rPr dirty="0" sz="1450" spc="2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acceso</a:t>
            </a:r>
            <a:r>
              <a:rPr dirty="0" sz="1450" spc="2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55">
                <a:solidFill>
                  <a:srgbClr val="404154"/>
                </a:solidFill>
                <a:latin typeface="Microsoft Sans Serif"/>
                <a:cs typeface="Microsoft Sans Serif"/>
              </a:rPr>
              <a:t>por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roles</a:t>
            </a:r>
            <a:r>
              <a:rPr dirty="0" sz="1450" spc="4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en</a:t>
            </a:r>
            <a:r>
              <a:rPr dirty="0" sz="1450" spc="6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cada</a:t>
            </a:r>
            <a:r>
              <a:rPr dirty="0" sz="1450" spc="90">
                <a:solidFill>
                  <a:srgbClr val="404154"/>
                </a:solidFill>
                <a:latin typeface="Microsoft Sans Serif"/>
                <a:cs typeface="Microsoft Sans Serif"/>
              </a:rPr>
              <a:t> ruta</a:t>
            </a:r>
            <a:r>
              <a:rPr dirty="0" sz="1450" spc="4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10">
                <a:solidFill>
                  <a:srgbClr val="404154"/>
                </a:solidFill>
                <a:latin typeface="Microsoft Sans Serif"/>
                <a:cs typeface="Microsoft Sans Serif"/>
              </a:rPr>
              <a:t>(requireRole).</a:t>
            </a:r>
            <a:endParaRPr sz="145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617582" y="6359955"/>
            <a:ext cx="2543810" cy="486409"/>
            <a:chOff x="9617582" y="6359955"/>
            <a:chExt cx="2543810" cy="486409"/>
          </a:xfrm>
        </p:grpSpPr>
        <p:pic>
          <p:nvPicPr>
            <p:cNvPr id="4" name="object 4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76812" y="6558989"/>
              <a:ext cx="1071841" cy="25603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17582" y="6359955"/>
              <a:ext cx="2543555" cy="48583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359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40"/>
              <a:t>Planificación</a:t>
            </a:r>
            <a:r>
              <a:rPr dirty="0" spc="-245"/>
              <a:t> </a:t>
            </a:r>
            <a:r>
              <a:rPr dirty="0" spc="-45"/>
              <a:t>y</a:t>
            </a:r>
            <a:r>
              <a:rPr dirty="0" spc="-225"/>
              <a:t> </a:t>
            </a:r>
            <a:r>
              <a:rPr dirty="0" spc="-10"/>
              <a:t>metodología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8716" y="1954479"/>
            <a:ext cx="618109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60">
                <a:solidFill>
                  <a:srgbClr val="404154"/>
                </a:solidFill>
                <a:latin typeface="Microsoft Sans Serif"/>
                <a:cs typeface="Microsoft Sans Serif"/>
              </a:rPr>
              <a:t>Marco</a:t>
            </a:r>
            <a:r>
              <a:rPr dirty="0" sz="1300" spc="1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04154"/>
                </a:solidFill>
                <a:latin typeface="Microsoft Sans Serif"/>
                <a:cs typeface="Microsoft Sans Serif"/>
              </a:rPr>
              <a:t>ágil</a:t>
            </a:r>
            <a:r>
              <a:rPr dirty="0" sz="1300" spc="4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04154"/>
                </a:solidFill>
                <a:latin typeface="Microsoft Sans Serif"/>
                <a:cs typeface="Microsoft Sans Serif"/>
              </a:rPr>
              <a:t>Scrum</a:t>
            </a:r>
            <a:r>
              <a:rPr dirty="0" sz="1300" spc="3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04154"/>
                </a:solidFill>
                <a:latin typeface="Microsoft Sans Serif"/>
                <a:cs typeface="Microsoft Sans Serif"/>
              </a:rPr>
              <a:t>·</a:t>
            </a:r>
            <a:r>
              <a:rPr dirty="0" sz="1300" spc="2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55">
                <a:solidFill>
                  <a:srgbClr val="404154"/>
                </a:solidFill>
                <a:latin typeface="Microsoft Sans Serif"/>
                <a:cs typeface="Microsoft Sans Serif"/>
              </a:rPr>
              <a:t>10</a:t>
            </a:r>
            <a:r>
              <a:rPr dirty="0" sz="1300" spc="4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50">
                <a:solidFill>
                  <a:srgbClr val="404154"/>
                </a:solidFill>
                <a:latin typeface="Microsoft Sans Serif"/>
                <a:cs typeface="Microsoft Sans Serif"/>
              </a:rPr>
              <a:t>sprints</a:t>
            </a:r>
            <a:r>
              <a:rPr dirty="0" sz="1300" spc="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04154"/>
                </a:solidFill>
                <a:latin typeface="Microsoft Sans Serif"/>
                <a:cs typeface="Microsoft Sans Serif"/>
              </a:rPr>
              <a:t>semanales,</a:t>
            </a:r>
            <a:r>
              <a:rPr dirty="0" sz="1300" spc="6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54">
                <a:solidFill>
                  <a:srgbClr val="404154"/>
                </a:solidFill>
                <a:latin typeface="Microsoft Sans Serif"/>
                <a:cs typeface="Microsoft Sans Serif"/>
              </a:rPr>
              <a:t>1</a:t>
            </a:r>
            <a:r>
              <a:rPr dirty="0" sz="1300" spc="3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04154"/>
                </a:solidFill>
                <a:latin typeface="Microsoft Sans Serif"/>
                <a:cs typeface="Microsoft Sans Serif"/>
              </a:rPr>
              <a:t>dev</a:t>
            </a:r>
            <a:r>
              <a:rPr dirty="0" sz="1300" spc="6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80">
                <a:solidFill>
                  <a:srgbClr val="404154"/>
                </a:solidFill>
                <a:latin typeface="Microsoft Sans Serif"/>
                <a:cs typeface="Microsoft Sans Serif"/>
              </a:rPr>
              <a:t>frontend</a:t>
            </a:r>
            <a:r>
              <a:rPr dirty="0" sz="1300" spc="5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14">
                <a:solidFill>
                  <a:srgbClr val="404154"/>
                </a:solidFill>
                <a:latin typeface="Microsoft Sans Serif"/>
                <a:cs typeface="Microsoft Sans Serif"/>
              </a:rPr>
              <a:t>+</a:t>
            </a:r>
            <a:r>
              <a:rPr dirty="0" sz="1300" spc="3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54">
                <a:solidFill>
                  <a:srgbClr val="404154"/>
                </a:solidFill>
                <a:latin typeface="Microsoft Sans Serif"/>
                <a:cs typeface="Microsoft Sans Serif"/>
              </a:rPr>
              <a:t>1</a:t>
            </a:r>
            <a:r>
              <a:rPr dirty="0" sz="1300" spc="3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55">
                <a:solidFill>
                  <a:srgbClr val="404154"/>
                </a:solidFill>
                <a:latin typeface="Microsoft Sans Serif"/>
                <a:cs typeface="Microsoft Sans Serif"/>
              </a:rPr>
              <a:t>backend</a:t>
            </a:r>
            <a:r>
              <a:rPr dirty="0" sz="1300" spc="3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70">
                <a:solidFill>
                  <a:srgbClr val="404154"/>
                </a:solidFill>
                <a:latin typeface="Microsoft Sans Serif"/>
                <a:cs typeface="Microsoft Sans Serif"/>
              </a:rPr>
              <a:t>por</a:t>
            </a:r>
            <a:r>
              <a:rPr dirty="0" sz="1300" spc="2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45">
                <a:solidFill>
                  <a:srgbClr val="404154"/>
                </a:solidFill>
                <a:latin typeface="Microsoft Sans Serif"/>
                <a:cs typeface="Microsoft Sans Serif"/>
              </a:rPr>
              <a:t>sprint.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51954" y="2536189"/>
            <a:ext cx="2556510" cy="929005"/>
            <a:chOff x="651954" y="2536189"/>
            <a:chExt cx="2556510" cy="929005"/>
          </a:xfrm>
        </p:grpSpPr>
        <p:sp>
          <p:nvSpPr>
            <p:cNvPr id="5" name="object 5"/>
            <p:cNvSpPr/>
            <p:nvPr/>
          </p:nvSpPr>
          <p:spPr>
            <a:xfrm>
              <a:off x="661479" y="2545714"/>
              <a:ext cx="2537460" cy="909955"/>
            </a:xfrm>
            <a:custGeom>
              <a:avLst/>
              <a:gdLst/>
              <a:ahLst/>
              <a:cxnLst/>
              <a:rect l="l" t="t" r="r" b="b"/>
              <a:pathLst>
                <a:path w="2537460" h="909954">
                  <a:moveTo>
                    <a:pt x="2465387" y="0"/>
                  </a:moveTo>
                  <a:lnTo>
                    <a:pt x="71450" y="0"/>
                  </a:lnTo>
                  <a:lnTo>
                    <a:pt x="43639" y="5617"/>
                  </a:lnTo>
                  <a:lnTo>
                    <a:pt x="20928" y="20939"/>
                  </a:lnTo>
                  <a:lnTo>
                    <a:pt x="5615" y="43666"/>
                  </a:lnTo>
                  <a:lnTo>
                    <a:pt x="0" y="71500"/>
                  </a:lnTo>
                  <a:lnTo>
                    <a:pt x="0" y="838200"/>
                  </a:lnTo>
                  <a:lnTo>
                    <a:pt x="5615" y="866034"/>
                  </a:lnTo>
                  <a:lnTo>
                    <a:pt x="20928" y="888761"/>
                  </a:lnTo>
                  <a:lnTo>
                    <a:pt x="43639" y="904083"/>
                  </a:lnTo>
                  <a:lnTo>
                    <a:pt x="71450" y="909701"/>
                  </a:lnTo>
                  <a:lnTo>
                    <a:pt x="2465387" y="909701"/>
                  </a:lnTo>
                  <a:lnTo>
                    <a:pt x="2493222" y="904083"/>
                  </a:lnTo>
                  <a:lnTo>
                    <a:pt x="2515949" y="888761"/>
                  </a:lnTo>
                  <a:lnTo>
                    <a:pt x="2531270" y="866034"/>
                  </a:lnTo>
                  <a:lnTo>
                    <a:pt x="2536888" y="838200"/>
                  </a:lnTo>
                  <a:lnTo>
                    <a:pt x="2536888" y="71500"/>
                  </a:lnTo>
                  <a:lnTo>
                    <a:pt x="2531270" y="43666"/>
                  </a:lnTo>
                  <a:lnTo>
                    <a:pt x="2515949" y="20939"/>
                  </a:lnTo>
                  <a:lnTo>
                    <a:pt x="2493222" y="5617"/>
                  </a:lnTo>
                  <a:lnTo>
                    <a:pt x="2465387" y="0"/>
                  </a:lnTo>
                  <a:close/>
                </a:path>
              </a:pathLst>
            </a:custGeom>
            <a:solidFill>
              <a:srgbClr val="F4F7F9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61479" y="2545714"/>
              <a:ext cx="2537460" cy="909955"/>
            </a:xfrm>
            <a:custGeom>
              <a:avLst/>
              <a:gdLst/>
              <a:ahLst/>
              <a:cxnLst/>
              <a:rect l="l" t="t" r="r" b="b"/>
              <a:pathLst>
                <a:path w="2537460" h="909954">
                  <a:moveTo>
                    <a:pt x="0" y="71500"/>
                  </a:moveTo>
                  <a:lnTo>
                    <a:pt x="5615" y="43666"/>
                  </a:lnTo>
                  <a:lnTo>
                    <a:pt x="20928" y="20939"/>
                  </a:lnTo>
                  <a:lnTo>
                    <a:pt x="43639" y="5617"/>
                  </a:lnTo>
                  <a:lnTo>
                    <a:pt x="71450" y="0"/>
                  </a:lnTo>
                  <a:lnTo>
                    <a:pt x="2465387" y="0"/>
                  </a:lnTo>
                  <a:lnTo>
                    <a:pt x="2493222" y="5617"/>
                  </a:lnTo>
                  <a:lnTo>
                    <a:pt x="2515949" y="20939"/>
                  </a:lnTo>
                  <a:lnTo>
                    <a:pt x="2531270" y="43666"/>
                  </a:lnTo>
                  <a:lnTo>
                    <a:pt x="2536888" y="71500"/>
                  </a:lnTo>
                  <a:lnTo>
                    <a:pt x="2536888" y="838200"/>
                  </a:lnTo>
                  <a:lnTo>
                    <a:pt x="2531270" y="866034"/>
                  </a:lnTo>
                  <a:lnTo>
                    <a:pt x="2515949" y="888761"/>
                  </a:lnTo>
                  <a:lnTo>
                    <a:pt x="2493222" y="904083"/>
                  </a:lnTo>
                  <a:lnTo>
                    <a:pt x="2465387" y="909701"/>
                  </a:lnTo>
                  <a:lnTo>
                    <a:pt x="71450" y="909701"/>
                  </a:lnTo>
                  <a:lnTo>
                    <a:pt x="43639" y="904083"/>
                  </a:lnTo>
                  <a:lnTo>
                    <a:pt x="20928" y="888761"/>
                  </a:lnTo>
                  <a:lnTo>
                    <a:pt x="5615" y="866034"/>
                  </a:lnTo>
                  <a:lnTo>
                    <a:pt x="0" y="838200"/>
                  </a:lnTo>
                  <a:lnTo>
                    <a:pt x="0" y="71500"/>
                  </a:lnTo>
                  <a:close/>
                </a:path>
              </a:pathLst>
            </a:custGeom>
            <a:ln w="19050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837996" y="2707640"/>
            <a:ext cx="2106295" cy="540385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20"/>
              </a:spcBef>
            </a:pPr>
            <a:r>
              <a:rPr dirty="0" sz="1650">
                <a:solidFill>
                  <a:srgbClr val="055A82"/>
                </a:solidFill>
                <a:latin typeface="Palatino Linotype"/>
                <a:cs typeface="Palatino Linotype"/>
              </a:rPr>
              <a:t>S1</a:t>
            </a:r>
            <a:r>
              <a:rPr dirty="0" sz="1650" spc="335">
                <a:solidFill>
                  <a:srgbClr val="055A82"/>
                </a:solidFill>
                <a:latin typeface="Palatino Linotype"/>
                <a:cs typeface="Palatino Linotype"/>
              </a:rPr>
              <a:t> </a:t>
            </a:r>
            <a:r>
              <a:rPr dirty="0" sz="1650" spc="55">
                <a:solidFill>
                  <a:srgbClr val="404154"/>
                </a:solidFill>
                <a:latin typeface="Palatino Linotype"/>
                <a:cs typeface="Palatino Linotype"/>
              </a:rPr>
              <a:t>Cimientos:</a:t>
            </a:r>
            <a:r>
              <a:rPr dirty="0" sz="1650" spc="-155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650" spc="-10">
                <a:solidFill>
                  <a:srgbClr val="404154"/>
                </a:solidFill>
                <a:latin typeface="Palatino Linotype"/>
                <a:cs typeface="Palatino Linotype"/>
              </a:rPr>
              <a:t>layout, </a:t>
            </a:r>
            <a:r>
              <a:rPr dirty="0" sz="1650" spc="55">
                <a:solidFill>
                  <a:srgbClr val="404154"/>
                </a:solidFill>
                <a:latin typeface="Palatino Linotype"/>
                <a:cs typeface="Palatino Linotype"/>
              </a:rPr>
              <a:t>theming</a:t>
            </a:r>
            <a:r>
              <a:rPr dirty="0" sz="1650" spc="-114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650">
                <a:solidFill>
                  <a:srgbClr val="404154"/>
                </a:solidFill>
                <a:latin typeface="Palatino Linotype"/>
                <a:cs typeface="Palatino Linotype"/>
              </a:rPr>
              <a:t>e</a:t>
            </a:r>
            <a:r>
              <a:rPr dirty="0" sz="1650" spc="-114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650" spc="-20">
                <a:solidFill>
                  <a:srgbClr val="404154"/>
                </a:solidFill>
                <a:latin typeface="Palatino Linotype"/>
                <a:cs typeface="Palatino Linotype"/>
              </a:rPr>
              <a:t>i18n</a:t>
            </a:r>
            <a:endParaRPr sz="1650">
              <a:latin typeface="Palatino Linotype"/>
              <a:cs typeface="Palatino Linotyp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341878" y="2536189"/>
            <a:ext cx="2556510" cy="929005"/>
            <a:chOff x="3341878" y="2536189"/>
            <a:chExt cx="2556510" cy="929005"/>
          </a:xfrm>
        </p:grpSpPr>
        <p:sp>
          <p:nvSpPr>
            <p:cNvPr id="9" name="object 9"/>
            <p:cNvSpPr/>
            <p:nvPr/>
          </p:nvSpPr>
          <p:spPr>
            <a:xfrm>
              <a:off x="3351403" y="2545714"/>
              <a:ext cx="2537460" cy="909955"/>
            </a:xfrm>
            <a:custGeom>
              <a:avLst/>
              <a:gdLst/>
              <a:ahLst/>
              <a:cxnLst/>
              <a:rect l="l" t="t" r="r" b="b"/>
              <a:pathLst>
                <a:path w="2537460" h="909954">
                  <a:moveTo>
                    <a:pt x="2465578" y="0"/>
                  </a:moveTo>
                  <a:lnTo>
                    <a:pt x="71500" y="0"/>
                  </a:lnTo>
                  <a:lnTo>
                    <a:pt x="43666" y="5617"/>
                  </a:lnTo>
                  <a:lnTo>
                    <a:pt x="20939" y="20939"/>
                  </a:lnTo>
                  <a:lnTo>
                    <a:pt x="5617" y="43666"/>
                  </a:lnTo>
                  <a:lnTo>
                    <a:pt x="0" y="71500"/>
                  </a:lnTo>
                  <a:lnTo>
                    <a:pt x="0" y="838200"/>
                  </a:lnTo>
                  <a:lnTo>
                    <a:pt x="5617" y="866034"/>
                  </a:lnTo>
                  <a:lnTo>
                    <a:pt x="20939" y="888761"/>
                  </a:lnTo>
                  <a:lnTo>
                    <a:pt x="43666" y="904083"/>
                  </a:lnTo>
                  <a:lnTo>
                    <a:pt x="71500" y="909701"/>
                  </a:lnTo>
                  <a:lnTo>
                    <a:pt x="2465578" y="909701"/>
                  </a:lnTo>
                  <a:lnTo>
                    <a:pt x="2493339" y="904083"/>
                  </a:lnTo>
                  <a:lnTo>
                    <a:pt x="2516028" y="888761"/>
                  </a:lnTo>
                  <a:lnTo>
                    <a:pt x="2531336" y="866034"/>
                  </a:lnTo>
                  <a:lnTo>
                    <a:pt x="2536952" y="838200"/>
                  </a:lnTo>
                  <a:lnTo>
                    <a:pt x="2536952" y="71500"/>
                  </a:lnTo>
                  <a:lnTo>
                    <a:pt x="2531336" y="43666"/>
                  </a:lnTo>
                  <a:lnTo>
                    <a:pt x="2516028" y="20939"/>
                  </a:lnTo>
                  <a:lnTo>
                    <a:pt x="2493339" y="5617"/>
                  </a:lnTo>
                  <a:lnTo>
                    <a:pt x="2465578" y="0"/>
                  </a:lnTo>
                  <a:close/>
                </a:path>
              </a:pathLst>
            </a:custGeom>
            <a:solidFill>
              <a:srgbClr val="F4F7F9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351403" y="2545714"/>
              <a:ext cx="2537460" cy="909955"/>
            </a:xfrm>
            <a:custGeom>
              <a:avLst/>
              <a:gdLst/>
              <a:ahLst/>
              <a:cxnLst/>
              <a:rect l="l" t="t" r="r" b="b"/>
              <a:pathLst>
                <a:path w="2537460" h="909954">
                  <a:moveTo>
                    <a:pt x="0" y="71500"/>
                  </a:moveTo>
                  <a:lnTo>
                    <a:pt x="5617" y="43666"/>
                  </a:lnTo>
                  <a:lnTo>
                    <a:pt x="20939" y="20939"/>
                  </a:lnTo>
                  <a:lnTo>
                    <a:pt x="43666" y="5617"/>
                  </a:lnTo>
                  <a:lnTo>
                    <a:pt x="71500" y="0"/>
                  </a:lnTo>
                  <a:lnTo>
                    <a:pt x="2465578" y="0"/>
                  </a:lnTo>
                  <a:lnTo>
                    <a:pt x="2493339" y="5617"/>
                  </a:lnTo>
                  <a:lnTo>
                    <a:pt x="2516028" y="20939"/>
                  </a:lnTo>
                  <a:lnTo>
                    <a:pt x="2531336" y="43666"/>
                  </a:lnTo>
                  <a:lnTo>
                    <a:pt x="2536952" y="71500"/>
                  </a:lnTo>
                  <a:lnTo>
                    <a:pt x="2536952" y="838200"/>
                  </a:lnTo>
                  <a:lnTo>
                    <a:pt x="2531336" y="866034"/>
                  </a:lnTo>
                  <a:lnTo>
                    <a:pt x="2516028" y="888761"/>
                  </a:lnTo>
                  <a:lnTo>
                    <a:pt x="2493339" y="904083"/>
                  </a:lnTo>
                  <a:lnTo>
                    <a:pt x="2465578" y="909701"/>
                  </a:lnTo>
                  <a:lnTo>
                    <a:pt x="71500" y="909701"/>
                  </a:lnTo>
                  <a:lnTo>
                    <a:pt x="43666" y="904083"/>
                  </a:lnTo>
                  <a:lnTo>
                    <a:pt x="20939" y="888761"/>
                  </a:lnTo>
                  <a:lnTo>
                    <a:pt x="5617" y="866034"/>
                  </a:lnTo>
                  <a:lnTo>
                    <a:pt x="0" y="838200"/>
                  </a:lnTo>
                  <a:lnTo>
                    <a:pt x="0" y="71500"/>
                  </a:lnTo>
                  <a:close/>
                </a:path>
              </a:pathLst>
            </a:custGeom>
            <a:ln w="19050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3528186" y="2707640"/>
            <a:ext cx="1956435" cy="540385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20"/>
              </a:spcBef>
            </a:pPr>
            <a:r>
              <a:rPr dirty="0" sz="1650" spc="100">
                <a:solidFill>
                  <a:srgbClr val="055A82"/>
                </a:solidFill>
                <a:latin typeface="Palatino Linotype"/>
                <a:cs typeface="Palatino Linotype"/>
              </a:rPr>
              <a:t>S2</a:t>
            </a:r>
            <a:r>
              <a:rPr dirty="0" sz="1650" spc="105">
                <a:solidFill>
                  <a:srgbClr val="055A82"/>
                </a:solidFill>
                <a:latin typeface="Palatino Linotype"/>
                <a:cs typeface="Palatino Linotype"/>
              </a:rPr>
              <a:t>  </a:t>
            </a:r>
            <a:r>
              <a:rPr dirty="0" sz="1650">
                <a:solidFill>
                  <a:srgbClr val="404154"/>
                </a:solidFill>
                <a:latin typeface="Palatino Linotype"/>
                <a:cs typeface="Palatino Linotype"/>
              </a:rPr>
              <a:t>Identidad:</a:t>
            </a:r>
            <a:r>
              <a:rPr dirty="0" sz="1650" spc="-110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650" spc="-10">
                <a:solidFill>
                  <a:srgbClr val="404154"/>
                </a:solidFill>
                <a:latin typeface="Palatino Linotype"/>
                <a:cs typeface="Palatino Linotype"/>
              </a:rPr>
              <a:t>login, </a:t>
            </a:r>
            <a:r>
              <a:rPr dirty="0" sz="1650" spc="50">
                <a:solidFill>
                  <a:srgbClr val="404154"/>
                </a:solidFill>
                <a:latin typeface="Palatino Linotype"/>
                <a:cs typeface="Palatino Linotype"/>
              </a:rPr>
              <a:t>MFA</a:t>
            </a:r>
            <a:r>
              <a:rPr dirty="0" sz="1650" spc="-130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650" spc="-10">
                <a:solidFill>
                  <a:srgbClr val="404154"/>
                </a:solidFill>
                <a:latin typeface="Palatino Linotype"/>
                <a:cs typeface="Palatino Linotype"/>
              </a:rPr>
              <a:t>y</a:t>
            </a:r>
            <a:r>
              <a:rPr dirty="0" sz="1650" spc="-114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650" spc="-10">
                <a:solidFill>
                  <a:srgbClr val="404154"/>
                </a:solidFill>
                <a:latin typeface="Palatino Linotype"/>
                <a:cs typeface="Palatino Linotype"/>
              </a:rPr>
              <a:t>roles</a:t>
            </a:r>
            <a:endParaRPr sz="1650">
              <a:latin typeface="Palatino Linotype"/>
              <a:cs typeface="Palatino Linotype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300089" y="2536189"/>
            <a:ext cx="2556510" cy="929005"/>
            <a:chOff x="6300089" y="2536189"/>
            <a:chExt cx="2556510" cy="929005"/>
          </a:xfrm>
        </p:grpSpPr>
        <p:sp>
          <p:nvSpPr>
            <p:cNvPr id="27" name="object 27"/>
            <p:cNvSpPr/>
            <p:nvPr/>
          </p:nvSpPr>
          <p:spPr>
            <a:xfrm>
              <a:off x="6309614" y="2545714"/>
              <a:ext cx="2537460" cy="909955"/>
            </a:xfrm>
            <a:custGeom>
              <a:avLst/>
              <a:gdLst/>
              <a:ahLst/>
              <a:cxnLst/>
              <a:rect l="l" t="t" r="r" b="b"/>
              <a:pathLst>
                <a:path w="2537459" h="909954">
                  <a:moveTo>
                    <a:pt x="2465451" y="0"/>
                  </a:moveTo>
                  <a:lnTo>
                    <a:pt x="71500" y="0"/>
                  </a:lnTo>
                  <a:lnTo>
                    <a:pt x="43666" y="5617"/>
                  </a:lnTo>
                  <a:lnTo>
                    <a:pt x="20939" y="20939"/>
                  </a:lnTo>
                  <a:lnTo>
                    <a:pt x="5617" y="43666"/>
                  </a:lnTo>
                  <a:lnTo>
                    <a:pt x="0" y="71500"/>
                  </a:lnTo>
                  <a:lnTo>
                    <a:pt x="0" y="838200"/>
                  </a:lnTo>
                  <a:lnTo>
                    <a:pt x="5617" y="866034"/>
                  </a:lnTo>
                  <a:lnTo>
                    <a:pt x="20939" y="888761"/>
                  </a:lnTo>
                  <a:lnTo>
                    <a:pt x="43666" y="904083"/>
                  </a:lnTo>
                  <a:lnTo>
                    <a:pt x="71500" y="909701"/>
                  </a:lnTo>
                  <a:lnTo>
                    <a:pt x="2465451" y="909701"/>
                  </a:lnTo>
                  <a:lnTo>
                    <a:pt x="2493285" y="904083"/>
                  </a:lnTo>
                  <a:lnTo>
                    <a:pt x="2516012" y="888761"/>
                  </a:lnTo>
                  <a:lnTo>
                    <a:pt x="2531334" y="866034"/>
                  </a:lnTo>
                  <a:lnTo>
                    <a:pt x="2536952" y="838200"/>
                  </a:lnTo>
                  <a:lnTo>
                    <a:pt x="2536952" y="71500"/>
                  </a:lnTo>
                  <a:lnTo>
                    <a:pt x="2531334" y="43666"/>
                  </a:lnTo>
                  <a:lnTo>
                    <a:pt x="2516012" y="20939"/>
                  </a:lnTo>
                  <a:lnTo>
                    <a:pt x="2493285" y="5617"/>
                  </a:lnTo>
                  <a:lnTo>
                    <a:pt x="2465451" y="0"/>
                  </a:lnTo>
                  <a:close/>
                </a:path>
              </a:pathLst>
            </a:custGeom>
            <a:solidFill>
              <a:srgbClr val="F4F7F9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309614" y="2545714"/>
              <a:ext cx="2537460" cy="909955"/>
            </a:xfrm>
            <a:custGeom>
              <a:avLst/>
              <a:gdLst/>
              <a:ahLst/>
              <a:cxnLst/>
              <a:rect l="l" t="t" r="r" b="b"/>
              <a:pathLst>
                <a:path w="2537459" h="909954">
                  <a:moveTo>
                    <a:pt x="0" y="71500"/>
                  </a:moveTo>
                  <a:lnTo>
                    <a:pt x="5617" y="43666"/>
                  </a:lnTo>
                  <a:lnTo>
                    <a:pt x="20939" y="20939"/>
                  </a:lnTo>
                  <a:lnTo>
                    <a:pt x="43666" y="5617"/>
                  </a:lnTo>
                  <a:lnTo>
                    <a:pt x="71500" y="0"/>
                  </a:lnTo>
                  <a:lnTo>
                    <a:pt x="2465451" y="0"/>
                  </a:lnTo>
                  <a:lnTo>
                    <a:pt x="2493285" y="5617"/>
                  </a:lnTo>
                  <a:lnTo>
                    <a:pt x="2516012" y="20939"/>
                  </a:lnTo>
                  <a:lnTo>
                    <a:pt x="2531334" y="43666"/>
                  </a:lnTo>
                  <a:lnTo>
                    <a:pt x="2536952" y="71500"/>
                  </a:lnTo>
                  <a:lnTo>
                    <a:pt x="2536952" y="838200"/>
                  </a:lnTo>
                  <a:lnTo>
                    <a:pt x="2531334" y="866034"/>
                  </a:lnTo>
                  <a:lnTo>
                    <a:pt x="2516012" y="888761"/>
                  </a:lnTo>
                  <a:lnTo>
                    <a:pt x="2493285" y="904083"/>
                  </a:lnTo>
                  <a:lnTo>
                    <a:pt x="2465451" y="909701"/>
                  </a:lnTo>
                  <a:lnTo>
                    <a:pt x="71500" y="909701"/>
                  </a:lnTo>
                  <a:lnTo>
                    <a:pt x="43666" y="904083"/>
                  </a:lnTo>
                  <a:lnTo>
                    <a:pt x="20939" y="888761"/>
                  </a:lnTo>
                  <a:lnTo>
                    <a:pt x="5617" y="866034"/>
                  </a:lnTo>
                  <a:lnTo>
                    <a:pt x="0" y="838200"/>
                  </a:lnTo>
                  <a:lnTo>
                    <a:pt x="0" y="71500"/>
                  </a:lnTo>
                  <a:close/>
                </a:path>
              </a:pathLst>
            </a:custGeom>
            <a:ln w="19050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17511" y="2833750"/>
              <a:ext cx="130175" cy="101600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6486905" y="2709164"/>
            <a:ext cx="138811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150">
                <a:solidFill>
                  <a:srgbClr val="055A82"/>
                </a:solidFill>
                <a:latin typeface="Palatino Linotype"/>
                <a:cs typeface="Palatino Linotype"/>
              </a:rPr>
              <a:t>S6</a:t>
            </a:r>
            <a:r>
              <a:rPr dirty="0" sz="1650" spc="475">
                <a:solidFill>
                  <a:srgbClr val="055A82"/>
                </a:solidFill>
                <a:latin typeface="Palatino Linotype"/>
                <a:cs typeface="Palatino Linotype"/>
              </a:rPr>
              <a:t> </a:t>
            </a:r>
            <a:r>
              <a:rPr dirty="0" sz="1650" spc="50">
                <a:solidFill>
                  <a:srgbClr val="404154"/>
                </a:solidFill>
                <a:latin typeface="Palatino Linotype"/>
                <a:cs typeface="Palatino Linotype"/>
              </a:rPr>
              <a:t>Operati</a:t>
            </a:r>
            <a:r>
              <a:rPr dirty="0" sz="1650" spc="70">
                <a:solidFill>
                  <a:srgbClr val="404154"/>
                </a:solidFill>
                <a:latin typeface="Palatino Linotype"/>
                <a:cs typeface="Palatino Linotype"/>
              </a:rPr>
              <a:t>  </a:t>
            </a:r>
            <a:r>
              <a:rPr dirty="0" sz="1650" spc="25">
                <a:solidFill>
                  <a:srgbClr val="404154"/>
                </a:solidFill>
                <a:latin typeface="Palatino Linotype"/>
                <a:cs typeface="Palatino Linotype"/>
              </a:rPr>
              <a:t>a</a:t>
            </a:r>
            <a:endParaRPr sz="1650">
              <a:latin typeface="Palatino Linotype"/>
              <a:cs typeface="Palatino Linotype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8990076" y="2536189"/>
            <a:ext cx="2556510" cy="929005"/>
            <a:chOff x="8990076" y="2536189"/>
            <a:chExt cx="2556510" cy="929005"/>
          </a:xfrm>
        </p:grpSpPr>
        <p:sp>
          <p:nvSpPr>
            <p:cNvPr id="31" name="object 31"/>
            <p:cNvSpPr/>
            <p:nvPr/>
          </p:nvSpPr>
          <p:spPr>
            <a:xfrm>
              <a:off x="8999601" y="2545714"/>
              <a:ext cx="2537460" cy="909955"/>
            </a:xfrm>
            <a:custGeom>
              <a:avLst/>
              <a:gdLst/>
              <a:ahLst/>
              <a:cxnLst/>
              <a:rect l="l" t="t" r="r" b="b"/>
              <a:pathLst>
                <a:path w="2537459" h="909954">
                  <a:moveTo>
                    <a:pt x="2465578" y="0"/>
                  </a:moveTo>
                  <a:lnTo>
                    <a:pt x="71500" y="0"/>
                  </a:lnTo>
                  <a:lnTo>
                    <a:pt x="43666" y="5617"/>
                  </a:lnTo>
                  <a:lnTo>
                    <a:pt x="20939" y="20939"/>
                  </a:lnTo>
                  <a:lnTo>
                    <a:pt x="5617" y="43666"/>
                  </a:lnTo>
                  <a:lnTo>
                    <a:pt x="0" y="71500"/>
                  </a:lnTo>
                  <a:lnTo>
                    <a:pt x="0" y="838200"/>
                  </a:lnTo>
                  <a:lnTo>
                    <a:pt x="5617" y="866034"/>
                  </a:lnTo>
                  <a:lnTo>
                    <a:pt x="20939" y="888761"/>
                  </a:lnTo>
                  <a:lnTo>
                    <a:pt x="43666" y="904083"/>
                  </a:lnTo>
                  <a:lnTo>
                    <a:pt x="71500" y="909701"/>
                  </a:lnTo>
                  <a:lnTo>
                    <a:pt x="2465578" y="909701"/>
                  </a:lnTo>
                  <a:lnTo>
                    <a:pt x="2493339" y="904083"/>
                  </a:lnTo>
                  <a:lnTo>
                    <a:pt x="2516028" y="888761"/>
                  </a:lnTo>
                  <a:lnTo>
                    <a:pt x="2531336" y="866034"/>
                  </a:lnTo>
                  <a:lnTo>
                    <a:pt x="2536952" y="838200"/>
                  </a:lnTo>
                  <a:lnTo>
                    <a:pt x="2536952" y="71500"/>
                  </a:lnTo>
                  <a:lnTo>
                    <a:pt x="2531336" y="43666"/>
                  </a:lnTo>
                  <a:lnTo>
                    <a:pt x="2516028" y="20939"/>
                  </a:lnTo>
                  <a:lnTo>
                    <a:pt x="2493339" y="5617"/>
                  </a:lnTo>
                  <a:lnTo>
                    <a:pt x="2465578" y="0"/>
                  </a:lnTo>
                  <a:close/>
                </a:path>
              </a:pathLst>
            </a:custGeom>
            <a:solidFill>
              <a:srgbClr val="F4F7F9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8999601" y="2545714"/>
              <a:ext cx="2537460" cy="909955"/>
            </a:xfrm>
            <a:custGeom>
              <a:avLst/>
              <a:gdLst/>
              <a:ahLst/>
              <a:cxnLst/>
              <a:rect l="l" t="t" r="r" b="b"/>
              <a:pathLst>
                <a:path w="2537459" h="909954">
                  <a:moveTo>
                    <a:pt x="0" y="71500"/>
                  </a:moveTo>
                  <a:lnTo>
                    <a:pt x="5617" y="43666"/>
                  </a:lnTo>
                  <a:lnTo>
                    <a:pt x="20939" y="20939"/>
                  </a:lnTo>
                  <a:lnTo>
                    <a:pt x="43666" y="5617"/>
                  </a:lnTo>
                  <a:lnTo>
                    <a:pt x="71500" y="0"/>
                  </a:lnTo>
                  <a:lnTo>
                    <a:pt x="2465578" y="0"/>
                  </a:lnTo>
                  <a:lnTo>
                    <a:pt x="2493339" y="5617"/>
                  </a:lnTo>
                  <a:lnTo>
                    <a:pt x="2516028" y="20939"/>
                  </a:lnTo>
                  <a:lnTo>
                    <a:pt x="2531336" y="43666"/>
                  </a:lnTo>
                  <a:lnTo>
                    <a:pt x="2536952" y="71500"/>
                  </a:lnTo>
                  <a:lnTo>
                    <a:pt x="2536952" y="838200"/>
                  </a:lnTo>
                  <a:lnTo>
                    <a:pt x="2531336" y="866034"/>
                  </a:lnTo>
                  <a:lnTo>
                    <a:pt x="2516028" y="888761"/>
                  </a:lnTo>
                  <a:lnTo>
                    <a:pt x="2493339" y="904083"/>
                  </a:lnTo>
                  <a:lnTo>
                    <a:pt x="2465578" y="909701"/>
                  </a:lnTo>
                  <a:lnTo>
                    <a:pt x="71500" y="909701"/>
                  </a:lnTo>
                  <a:lnTo>
                    <a:pt x="43666" y="904083"/>
                  </a:lnTo>
                  <a:lnTo>
                    <a:pt x="20939" y="888761"/>
                  </a:lnTo>
                  <a:lnTo>
                    <a:pt x="5617" y="866034"/>
                  </a:lnTo>
                  <a:lnTo>
                    <a:pt x="0" y="838200"/>
                  </a:lnTo>
                  <a:lnTo>
                    <a:pt x="0" y="71500"/>
                  </a:lnTo>
                  <a:close/>
                </a:path>
              </a:pathLst>
            </a:custGeom>
            <a:ln w="19050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9177019" y="2709164"/>
            <a:ext cx="218503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solidFill>
                  <a:srgbClr val="055A82"/>
                </a:solidFill>
                <a:latin typeface="Palatino Linotype"/>
                <a:cs typeface="Palatino Linotype"/>
              </a:rPr>
              <a:t>S7</a:t>
            </a:r>
            <a:r>
              <a:rPr dirty="0" sz="1650" spc="50">
                <a:solidFill>
                  <a:srgbClr val="055A82"/>
                </a:solidFill>
                <a:latin typeface="Palatino Linotype"/>
                <a:cs typeface="Palatino Linotype"/>
              </a:rPr>
              <a:t>  </a:t>
            </a:r>
            <a:r>
              <a:rPr dirty="0" sz="1650" spc="75">
                <a:solidFill>
                  <a:srgbClr val="404154"/>
                </a:solidFill>
                <a:latin typeface="Palatino Linotype"/>
                <a:cs typeface="Palatino Linotype"/>
              </a:rPr>
              <a:t>Usuarios</a:t>
            </a:r>
            <a:r>
              <a:rPr dirty="0" sz="1650" spc="-140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650" spc="-10">
                <a:solidFill>
                  <a:srgbClr val="404154"/>
                </a:solidFill>
                <a:latin typeface="Palatino Linotype"/>
                <a:cs typeface="Palatino Linotype"/>
              </a:rPr>
              <a:t>y</a:t>
            </a:r>
            <a:r>
              <a:rPr dirty="0" sz="1650" spc="-100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650" spc="-10">
                <a:solidFill>
                  <a:srgbClr val="404154"/>
                </a:solidFill>
                <a:latin typeface="Palatino Linotype"/>
                <a:cs typeface="Palatino Linotype"/>
              </a:rPr>
              <a:t>soporte</a:t>
            </a:r>
            <a:endParaRPr sz="1650">
              <a:latin typeface="Palatino Linotype"/>
              <a:cs typeface="Palatino Linotype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51954" y="3598926"/>
            <a:ext cx="2556510" cy="1194435"/>
            <a:chOff x="651954" y="3598926"/>
            <a:chExt cx="2556510" cy="1194435"/>
          </a:xfrm>
        </p:grpSpPr>
        <p:sp>
          <p:nvSpPr>
            <p:cNvPr id="13" name="object 13"/>
            <p:cNvSpPr/>
            <p:nvPr/>
          </p:nvSpPr>
          <p:spPr>
            <a:xfrm>
              <a:off x="661479" y="3608451"/>
              <a:ext cx="2537460" cy="1175385"/>
            </a:xfrm>
            <a:custGeom>
              <a:avLst/>
              <a:gdLst/>
              <a:ahLst/>
              <a:cxnLst/>
              <a:rect l="l" t="t" r="r" b="b"/>
              <a:pathLst>
                <a:path w="2537460" h="1175385">
                  <a:moveTo>
                    <a:pt x="2465387" y="0"/>
                  </a:moveTo>
                  <a:lnTo>
                    <a:pt x="71450" y="0"/>
                  </a:lnTo>
                  <a:lnTo>
                    <a:pt x="43639" y="5617"/>
                  </a:lnTo>
                  <a:lnTo>
                    <a:pt x="20928" y="20939"/>
                  </a:lnTo>
                  <a:lnTo>
                    <a:pt x="5615" y="43666"/>
                  </a:lnTo>
                  <a:lnTo>
                    <a:pt x="0" y="71500"/>
                  </a:lnTo>
                  <a:lnTo>
                    <a:pt x="0" y="1103884"/>
                  </a:lnTo>
                  <a:lnTo>
                    <a:pt x="5615" y="1131718"/>
                  </a:lnTo>
                  <a:lnTo>
                    <a:pt x="20928" y="1154445"/>
                  </a:lnTo>
                  <a:lnTo>
                    <a:pt x="43639" y="1169767"/>
                  </a:lnTo>
                  <a:lnTo>
                    <a:pt x="71450" y="1175385"/>
                  </a:lnTo>
                  <a:lnTo>
                    <a:pt x="2465387" y="1175385"/>
                  </a:lnTo>
                  <a:lnTo>
                    <a:pt x="2493222" y="1169767"/>
                  </a:lnTo>
                  <a:lnTo>
                    <a:pt x="2515949" y="1154445"/>
                  </a:lnTo>
                  <a:lnTo>
                    <a:pt x="2531270" y="1131718"/>
                  </a:lnTo>
                  <a:lnTo>
                    <a:pt x="2536888" y="1103884"/>
                  </a:lnTo>
                  <a:lnTo>
                    <a:pt x="2536888" y="71500"/>
                  </a:lnTo>
                  <a:lnTo>
                    <a:pt x="2531270" y="43666"/>
                  </a:lnTo>
                  <a:lnTo>
                    <a:pt x="2515949" y="20939"/>
                  </a:lnTo>
                  <a:lnTo>
                    <a:pt x="2493222" y="5617"/>
                  </a:lnTo>
                  <a:lnTo>
                    <a:pt x="2465387" y="0"/>
                  </a:lnTo>
                  <a:close/>
                </a:path>
              </a:pathLst>
            </a:custGeom>
            <a:solidFill>
              <a:srgbClr val="F4F7F9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61479" y="3608451"/>
              <a:ext cx="2537460" cy="1175385"/>
            </a:xfrm>
            <a:custGeom>
              <a:avLst/>
              <a:gdLst/>
              <a:ahLst/>
              <a:cxnLst/>
              <a:rect l="l" t="t" r="r" b="b"/>
              <a:pathLst>
                <a:path w="2537460" h="1175385">
                  <a:moveTo>
                    <a:pt x="0" y="71500"/>
                  </a:moveTo>
                  <a:lnTo>
                    <a:pt x="5615" y="43666"/>
                  </a:lnTo>
                  <a:lnTo>
                    <a:pt x="20928" y="20939"/>
                  </a:lnTo>
                  <a:lnTo>
                    <a:pt x="43639" y="5617"/>
                  </a:lnTo>
                  <a:lnTo>
                    <a:pt x="71450" y="0"/>
                  </a:lnTo>
                  <a:lnTo>
                    <a:pt x="2465387" y="0"/>
                  </a:lnTo>
                  <a:lnTo>
                    <a:pt x="2493222" y="5617"/>
                  </a:lnTo>
                  <a:lnTo>
                    <a:pt x="2515949" y="20939"/>
                  </a:lnTo>
                  <a:lnTo>
                    <a:pt x="2531270" y="43666"/>
                  </a:lnTo>
                  <a:lnTo>
                    <a:pt x="2536888" y="71500"/>
                  </a:lnTo>
                  <a:lnTo>
                    <a:pt x="2536888" y="1103884"/>
                  </a:lnTo>
                  <a:lnTo>
                    <a:pt x="2531270" y="1131718"/>
                  </a:lnTo>
                  <a:lnTo>
                    <a:pt x="2515949" y="1154445"/>
                  </a:lnTo>
                  <a:lnTo>
                    <a:pt x="2493222" y="1169767"/>
                  </a:lnTo>
                  <a:lnTo>
                    <a:pt x="2465387" y="1175385"/>
                  </a:lnTo>
                  <a:lnTo>
                    <a:pt x="71450" y="1175385"/>
                  </a:lnTo>
                  <a:lnTo>
                    <a:pt x="43639" y="1169767"/>
                  </a:lnTo>
                  <a:lnTo>
                    <a:pt x="20928" y="1154445"/>
                  </a:lnTo>
                  <a:lnTo>
                    <a:pt x="5615" y="1131718"/>
                  </a:lnTo>
                  <a:lnTo>
                    <a:pt x="0" y="1103884"/>
                  </a:lnTo>
                  <a:lnTo>
                    <a:pt x="0" y="71500"/>
                  </a:lnTo>
                  <a:close/>
                </a:path>
              </a:pathLst>
            </a:custGeom>
            <a:ln w="19050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8545" y="4155948"/>
              <a:ext cx="130175" cy="1016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2383" y="4155948"/>
              <a:ext cx="130175" cy="10160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837996" y="3770757"/>
            <a:ext cx="2100580" cy="8026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135">
                <a:solidFill>
                  <a:srgbClr val="055A82"/>
                </a:solidFill>
                <a:latin typeface="Palatino Linotype"/>
                <a:cs typeface="Palatino Linotype"/>
              </a:rPr>
              <a:t>S3</a:t>
            </a:r>
            <a:r>
              <a:rPr dirty="0" sz="1650" spc="475">
                <a:solidFill>
                  <a:srgbClr val="055A82"/>
                </a:solidFill>
                <a:latin typeface="Palatino Linotype"/>
                <a:cs typeface="Palatino Linotype"/>
              </a:rPr>
              <a:t> </a:t>
            </a:r>
            <a:r>
              <a:rPr dirty="0" sz="1650" spc="65">
                <a:solidFill>
                  <a:srgbClr val="404154"/>
                </a:solidFill>
                <a:latin typeface="Palatino Linotype"/>
                <a:cs typeface="Palatino Linotype"/>
              </a:rPr>
              <a:t>Resumen</a:t>
            </a:r>
            <a:endParaRPr sz="1650">
              <a:latin typeface="Palatino Linotype"/>
              <a:cs typeface="Palatino Linotype"/>
            </a:endParaRPr>
          </a:p>
          <a:p>
            <a:pPr marL="12700" marR="5080">
              <a:lnSpc>
                <a:spcPts val="2080"/>
              </a:lnSpc>
              <a:spcBef>
                <a:spcPts val="60"/>
              </a:spcBef>
            </a:pPr>
            <a:r>
              <a:rPr dirty="0" sz="1650">
                <a:solidFill>
                  <a:srgbClr val="404154"/>
                </a:solidFill>
                <a:latin typeface="Palatino Linotype"/>
                <a:cs typeface="Palatino Linotype"/>
              </a:rPr>
              <a:t>(o</a:t>
            </a:r>
            <a:r>
              <a:rPr dirty="0" sz="1650" spc="155">
                <a:solidFill>
                  <a:srgbClr val="404154"/>
                </a:solidFill>
                <a:latin typeface="Palatino Linotype"/>
                <a:cs typeface="Palatino Linotype"/>
              </a:rPr>
              <a:t>  </a:t>
            </a:r>
            <a:r>
              <a:rPr dirty="0" sz="1650">
                <a:solidFill>
                  <a:srgbClr val="404154"/>
                </a:solidFill>
                <a:latin typeface="Palatino Linotype"/>
                <a:cs typeface="Palatino Linotype"/>
              </a:rPr>
              <a:t>eriew)</a:t>
            </a:r>
            <a:r>
              <a:rPr dirty="0" sz="1650" spc="-100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650" spc="-10">
                <a:solidFill>
                  <a:srgbClr val="404154"/>
                </a:solidFill>
                <a:latin typeface="Palatino Linotype"/>
                <a:cs typeface="Palatino Linotype"/>
              </a:rPr>
              <a:t>y</a:t>
            </a:r>
            <a:r>
              <a:rPr dirty="0" sz="1650" spc="-60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650">
                <a:solidFill>
                  <a:srgbClr val="404154"/>
                </a:solidFill>
                <a:latin typeface="Palatino Linotype"/>
                <a:cs typeface="Palatino Linotype"/>
              </a:rPr>
              <a:t>salud</a:t>
            </a:r>
            <a:r>
              <a:rPr dirty="0" sz="1650" spc="-85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650" spc="-290">
                <a:solidFill>
                  <a:srgbClr val="404154"/>
                </a:solidFill>
                <a:latin typeface="Palatino Linotype"/>
                <a:cs typeface="Palatino Linotype"/>
              </a:rPr>
              <a:t>del</a:t>
            </a:r>
            <a:r>
              <a:rPr dirty="0" sz="1650" spc="65">
                <a:solidFill>
                  <a:srgbClr val="404154"/>
                </a:solidFill>
                <a:latin typeface="Palatino Linotype"/>
                <a:cs typeface="Palatino Linotype"/>
              </a:rPr>
              <a:t> sistema</a:t>
            </a:r>
            <a:endParaRPr sz="1650">
              <a:latin typeface="Palatino Linotype"/>
              <a:cs typeface="Palatino Linotyp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341878" y="3598926"/>
            <a:ext cx="2556510" cy="1194435"/>
            <a:chOff x="3341878" y="3598926"/>
            <a:chExt cx="2556510" cy="1194435"/>
          </a:xfrm>
        </p:grpSpPr>
        <p:sp>
          <p:nvSpPr>
            <p:cNvPr id="19" name="object 19"/>
            <p:cNvSpPr/>
            <p:nvPr/>
          </p:nvSpPr>
          <p:spPr>
            <a:xfrm>
              <a:off x="3351403" y="3608451"/>
              <a:ext cx="2537460" cy="1175385"/>
            </a:xfrm>
            <a:custGeom>
              <a:avLst/>
              <a:gdLst/>
              <a:ahLst/>
              <a:cxnLst/>
              <a:rect l="l" t="t" r="r" b="b"/>
              <a:pathLst>
                <a:path w="2537460" h="1175385">
                  <a:moveTo>
                    <a:pt x="2465578" y="0"/>
                  </a:moveTo>
                  <a:lnTo>
                    <a:pt x="71500" y="0"/>
                  </a:lnTo>
                  <a:lnTo>
                    <a:pt x="43666" y="5617"/>
                  </a:lnTo>
                  <a:lnTo>
                    <a:pt x="20939" y="20939"/>
                  </a:lnTo>
                  <a:lnTo>
                    <a:pt x="5617" y="43666"/>
                  </a:lnTo>
                  <a:lnTo>
                    <a:pt x="0" y="71500"/>
                  </a:lnTo>
                  <a:lnTo>
                    <a:pt x="0" y="1103884"/>
                  </a:lnTo>
                  <a:lnTo>
                    <a:pt x="5617" y="1131718"/>
                  </a:lnTo>
                  <a:lnTo>
                    <a:pt x="20939" y="1154445"/>
                  </a:lnTo>
                  <a:lnTo>
                    <a:pt x="43666" y="1169767"/>
                  </a:lnTo>
                  <a:lnTo>
                    <a:pt x="71500" y="1175385"/>
                  </a:lnTo>
                  <a:lnTo>
                    <a:pt x="2465578" y="1175385"/>
                  </a:lnTo>
                  <a:lnTo>
                    <a:pt x="2493339" y="1169767"/>
                  </a:lnTo>
                  <a:lnTo>
                    <a:pt x="2516028" y="1154445"/>
                  </a:lnTo>
                  <a:lnTo>
                    <a:pt x="2531336" y="1131718"/>
                  </a:lnTo>
                  <a:lnTo>
                    <a:pt x="2536952" y="1103884"/>
                  </a:lnTo>
                  <a:lnTo>
                    <a:pt x="2536952" y="71500"/>
                  </a:lnTo>
                  <a:lnTo>
                    <a:pt x="2531336" y="43666"/>
                  </a:lnTo>
                  <a:lnTo>
                    <a:pt x="2516028" y="20939"/>
                  </a:lnTo>
                  <a:lnTo>
                    <a:pt x="2493339" y="5617"/>
                  </a:lnTo>
                  <a:lnTo>
                    <a:pt x="2465578" y="0"/>
                  </a:lnTo>
                  <a:close/>
                </a:path>
              </a:pathLst>
            </a:custGeom>
            <a:solidFill>
              <a:srgbClr val="F4F7F9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351403" y="3608451"/>
              <a:ext cx="2537460" cy="1175385"/>
            </a:xfrm>
            <a:custGeom>
              <a:avLst/>
              <a:gdLst/>
              <a:ahLst/>
              <a:cxnLst/>
              <a:rect l="l" t="t" r="r" b="b"/>
              <a:pathLst>
                <a:path w="2537460" h="1175385">
                  <a:moveTo>
                    <a:pt x="0" y="71500"/>
                  </a:moveTo>
                  <a:lnTo>
                    <a:pt x="5617" y="43666"/>
                  </a:lnTo>
                  <a:lnTo>
                    <a:pt x="20939" y="20939"/>
                  </a:lnTo>
                  <a:lnTo>
                    <a:pt x="43666" y="5617"/>
                  </a:lnTo>
                  <a:lnTo>
                    <a:pt x="71500" y="0"/>
                  </a:lnTo>
                  <a:lnTo>
                    <a:pt x="2465578" y="0"/>
                  </a:lnTo>
                  <a:lnTo>
                    <a:pt x="2493339" y="5617"/>
                  </a:lnTo>
                  <a:lnTo>
                    <a:pt x="2516028" y="20939"/>
                  </a:lnTo>
                  <a:lnTo>
                    <a:pt x="2531336" y="43666"/>
                  </a:lnTo>
                  <a:lnTo>
                    <a:pt x="2536952" y="71500"/>
                  </a:lnTo>
                  <a:lnTo>
                    <a:pt x="2536952" y="1103884"/>
                  </a:lnTo>
                  <a:lnTo>
                    <a:pt x="2531336" y="1131718"/>
                  </a:lnTo>
                  <a:lnTo>
                    <a:pt x="2516028" y="1154445"/>
                  </a:lnTo>
                  <a:lnTo>
                    <a:pt x="2493339" y="1169767"/>
                  </a:lnTo>
                  <a:lnTo>
                    <a:pt x="2465578" y="1175385"/>
                  </a:lnTo>
                  <a:lnTo>
                    <a:pt x="71500" y="1175385"/>
                  </a:lnTo>
                  <a:lnTo>
                    <a:pt x="43666" y="1169767"/>
                  </a:lnTo>
                  <a:lnTo>
                    <a:pt x="20939" y="1154445"/>
                  </a:lnTo>
                  <a:lnTo>
                    <a:pt x="5617" y="1131718"/>
                  </a:lnTo>
                  <a:lnTo>
                    <a:pt x="0" y="1103884"/>
                  </a:lnTo>
                  <a:lnTo>
                    <a:pt x="0" y="71500"/>
                  </a:lnTo>
                  <a:close/>
                </a:path>
              </a:pathLst>
            </a:custGeom>
            <a:ln w="19050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3528186" y="3772280"/>
            <a:ext cx="139446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90">
                <a:solidFill>
                  <a:srgbClr val="055A82"/>
                </a:solidFill>
                <a:latin typeface="Palatino Linotype"/>
                <a:cs typeface="Palatino Linotype"/>
              </a:rPr>
              <a:t>S4</a:t>
            </a:r>
            <a:r>
              <a:rPr dirty="0" sz="1650" spc="475">
                <a:solidFill>
                  <a:srgbClr val="055A82"/>
                </a:solidFill>
                <a:latin typeface="Palatino Linotype"/>
                <a:cs typeface="Palatino Linotype"/>
              </a:rPr>
              <a:t> </a:t>
            </a:r>
            <a:r>
              <a:rPr dirty="0" sz="1650" spc="40">
                <a:solidFill>
                  <a:srgbClr val="404154"/>
                </a:solidFill>
                <a:latin typeface="Palatino Linotype"/>
                <a:cs typeface="Palatino Linotype"/>
              </a:rPr>
              <a:t>Comercial</a:t>
            </a:r>
            <a:endParaRPr sz="1650">
              <a:latin typeface="Palatino Linotype"/>
              <a:cs typeface="Palatino Linotype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300089" y="3598926"/>
            <a:ext cx="2556510" cy="1194435"/>
            <a:chOff x="6300089" y="3598926"/>
            <a:chExt cx="2556510" cy="1194435"/>
          </a:xfrm>
        </p:grpSpPr>
        <p:sp>
          <p:nvSpPr>
            <p:cNvPr id="36" name="object 36"/>
            <p:cNvSpPr/>
            <p:nvPr/>
          </p:nvSpPr>
          <p:spPr>
            <a:xfrm>
              <a:off x="6309614" y="3608451"/>
              <a:ext cx="2537460" cy="1175385"/>
            </a:xfrm>
            <a:custGeom>
              <a:avLst/>
              <a:gdLst/>
              <a:ahLst/>
              <a:cxnLst/>
              <a:rect l="l" t="t" r="r" b="b"/>
              <a:pathLst>
                <a:path w="2537459" h="1175385">
                  <a:moveTo>
                    <a:pt x="2465451" y="0"/>
                  </a:moveTo>
                  <a:lnTo>
                    <a:pt x="71500" y="0"/>
                  </a:lnTo>
                  <a:lnTo>
                    <a:pt x="43666" y="5617"/>
                  </a:lnTo>
                  <a:lnTo>
                    <a:pt x="20939" y="20939"/>
                  </a:lnTo>
                  <a:lnTo>
                    <a:pt x="5617" y="43666"/>
                  </a:lnTo>
                  <a:lnTo>
                    <a:pt x="0" y="71500"/>
                  </a:lnTo>
                  <a:lnTo>
                    <a:pt x="0" y="1103884"/>
                  </a:lnTo>
                  <a:lnTo>
                    <a:pt x="5617" y="1131718"/>
                  </a:lnTo>
                  <a:lnTo>
                    <a:pt x="20939" y="1154445"/>
                  </a:lnTo>
                  <a:lnTo>
                    <a:pt x="43666" y="1169767"/>
                  </a:lnTo>
                  <a:lnTo>
                    <a:pt x="71500" y="1175385"/>
                  </a:lnTo>
                  <a:lnTo>
                    <a:pt x="2465451" y="1175385"/>
                  </a:lnTo>
                  <a:lnTo>
                    <a:pt x="2493285" y="1169767"/>
                  </a:lnTo>
                  <a:lnTo>
                    <a:pt x="2516012" y="1154445"/>
                  </a:lnTo>
                  <a:lnTo>
                    <a:pt x="2531334" y="1131718"/>
                  </a:lnTo>
                  <a:lnTo>
                    <a:pt x="2536952" y="1103884"/>
                  </a:lnTo>
                  <a:lnTo>
                    <a:pt x="2536952" y="71500"/>
                  </a:lnTo>
                  <a:lnTo>
                    <a:pt x="2531334" y="43666"/>
                  </a:lnTo>
                  <a:lnTo>
                    <a:pt x="2516012" y="20939"/>
                  </a:lnTo>
                  <a:lnTo>
                    <a:pt x="2493285" y="5617"/>
                  </a:lnTo>
                  <a:lnTo>
                    <a:pt x="2465451" y="0"/>
                  </a:lnTo>
                  <a:close/>
                </a:path>
              </a:pathLst>
            </a:custGeom>
            <a:solidFill>
              <a:srgbClr val="F4F7F9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309614" y="3608451"/>
              <a:ext cx="2537460" cy="1175385"/>
            </a:xfrm>
            <a:custGeom>
              <a:avLst/>
              <a:gdLst/>
              <a:ahLst/>
              <a:cxnLst/>
              <a:rect l="l" t="t" r="r" b="b"/>
              <a:pathLst>
                <a:path w="2537459" h="1175385">
                  <a:moveTo>
                    <a:pt x="0" y="71500"/>
                  </a:moveTo>
                  <a:lnTo>
                    <a:pt x="5617" y="43666"/>
                  </a:lnTo>
                  <a:lnTo>
                    <a:pt x="20939" y="20939"/>
                  </a:lnTo>
                  <a:lnTo>
                    <a:pt x="43666" y="5617"/>
                  </a:lnTo>
                  <a:lnTo>
                    <a:pt x="71500" y="0"/>
                  </a:lnTo>
                  <a:lnTo>
                    <a:pt x="2465451" y="0"/>
                  </a:lnTo>
                  <a:lnTo>
                    <a:pt x="2493285" y="5617"/>
                  </a:lnTo>
                  <a:lnTo>
                    <a:pt x="2516012" y="20939"/>
                  </a:lnTo>
                  <a:lnTo>
                    <a:pt x="2531334" y="43666"/>
                  </a:lnTo>
                  <a:lnTo>
                    <a:pt x="2536952" y="71500"/>
                  </a:lnTo>
                  <a:lnTo>
                    <a:pt x="2536952" y="1103884"/>
                  </a:lnTo>
                  <a:lnTo>
                    <a:pt x="2531334" y="1131718"/>
                  </a:lnTo>
                  <a:lnTo>
                    <a:pt x="2516012" y="1154445"/>
                  </a:lnTo>
                  <a:lnTo>
                    <a:pt x="2493285" y="1169767"/>
                  </a:lnTo>
                  <a:lnTo>
                    <a:pt x="2465451" y="1175385"/>
                  </a:lnTo>
                  <a:lnTo>
                    <a:pt x="71500" y="1175385"/>
                  </a:lnTo>
                  <a:lnTo>
                    <a:pt x="43666" y="1169767"/>
                  </a:lnTo>
                  <a:lnTo>
                    <a:pt x="20939" y="1154445"/>
                  </a:lnTo>
                  <a:lnTo>
                    <a:pt x="5617" y="1131718"/>
                  </a:lnTo>
                  <a:lnTo>
                    <a:pt x="0" y="1103884"/>
                  </a:lnTo>
                  <a:lnTo>
                    <a:pt x="0" y="71500"/>
                  </a:lnTo>
                  <a:close/>
                </a:path>
              </a:pathLst>
            </a:custGeom>
            <a:ln w="19050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6486905" y="3770757"/>
            <a:ext cx="1912620" cy="80264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20"/>
              </a:spcBef>
            </a:pPr>
            <a:r>
              <a:rPr dirty="0" sz="1650" spc="185">
                <a:solidFill>
                  <a:srgbClr val="055A82"/>
                </a:solidFill>
                <a:latin typeface="Palatino Linotype"/>
                <a:cs typeface="Palatino Linotype"/>
              </a:rPr>
              <a:t>S8</a:t>
            </a:r>
            <a:r>
              <a:rPr dirty="0" sz="1650" spc="110">
                <a:solidFill>
                  <a:srgbClr val="055A82"/>
                </a:solidFill>
                <a:latin typeface="Palatino Linotype"/>
                <a:cs typeface="Palatino Linotype"/>
              </a:rPr>
              <a:t>  </a:t>
            </a:r>
            <a:r>
              <a:rPr dirty="0" sz="1650" spc="20">
                <a:solidFill>
                  <a:srgbClr val="404154"/>
                </a:solidFill>
                <a:latin typeface="Palatino Linotype"/>
                <a:cs typeface="Palatino Linotype"/>
              </a:rPr>
              <a:t>Moderación</a:t>
            </a:r>
            <a:r>
              <a:rPr dirty="0" sz="1650" spc="-100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650" spc="-25">
                <a:solidFill>
                  <a:srgbClr val="404154"/>
                </a:solidFill>
                <a:latin typeface="Palatino Linotype"/>
                <a:cs typeface="Palatino Linotype"/>
              </a:rPr>
              <a:t>de </a:t>
            </a:r>
            <a:r>
              <a:rPr dirty="0" sz="1650" spc="50">
                <a:solidFill>
                  <a:srgbClr val="404154"/>
                </a:solidFill>
                <a:latin typeface="Palatino Linotype"/>
                <a:cs typeface="Palatino Linotype"/>
              </a:rPr>
              <a:t>recorrecciones</a:t>
            </a:r>
            <a:r>
              <a:rPr dirty="0" sz="1650" spc="-130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650" spc="-50">
                <a:solidFill>
                  <a:srgbClr val="404154"/>
                </a:solidFill>
                <a:latin typeface="Palatino Linotype"/>
                <a:cs typeface="Palatino Linotype"/>
              </a:rPr>
              <a:t>y </a:t>
            </a:r>
            <a:r>
              <a:rPr dirty="0" sz="1650" spc="60">
                <a:solidFill>
                  <a:srgbClr val="404154"/>
                </a:solidFill>
                <a:latin typeface="Palatino Linotype"/>
                <a:cs typeface="Palatino Linotype"/>
              </a:rPr>
              <a:t>banco</a:t>
            </a:r>
            <a:r>
              <a:rPr dirty="0" sz="1650" spc="-140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650" spc="-10">
                <a:solidFill>
                  <a:srgbClr val="404154"/>
                </a:solidFill>
                <a:latin typeface="Palatino Linotype"/>
                <a:cs typeface="Palatino Linotype"/>
              </a:rPr>
              <a:t>de</a:t>
            </a:r>
            <a:r>
              <a:rPr dirty="0" sz="1650" spc="-120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650" spc="35">
                <a:solidFill>
                  <a:srgbClr val="404154"/>
                </a:solidFill>
                <a:latin typeface="Palatino Linotype"/>
                <a:cs typeface="Palatino Linotype"/>
              </a:rPr>
              <a:t>preguntas</a:t>
            </a:r>
            <a:endParaRPr sz="1650">
              <a:latin typeface="Palatino Linotype"/>
              <a:cs typeface="Palatino Linotype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990076" y="3598926"/>
            <a:ext cx="2556510" cy="1194435"/>
            <a:chOff x="8990076" y="3598926"/>
            <a:chExt cx="2556510" cy="1194435"/>
          </a:xfrm>
        </p:grpSpPr>
        <p:sp>
          <p:nvSpPr>
            <p:cNvPr id="40" name="object 40"/>
            <p:cNvSpPr/>
            <p:nvPr/>
          </p:nvSpPr>
          <p:spPr>
            <a:xfrm>
              <a:off x="8999601" y="3608451"/>
              <a:ext cx="2537460" cy="1175385"/>
            </a:xfrm>
            <a:custGeom>
              <a:avLst/>
              <a:gdLst/>
              <a:ahLst/>
              <a:cxnLst/>
              <a:rect l="l" t="t" r="r" b="b"/>
              <a:pathLst>
                <a:path w="2537459" h="1175385">
                  <a:moveTo>
                    <a:pt x="2465578" y="0"/>
                  </a:moveTo>
                  <a:lnTo>
                    <a:pt x="71500" y="0"/>
                  </a:lnTo>
                  <a:lnTo>
                    <a:pt x="43666" y="5617"/>
                  </a:lnTo>
                  <a:lnTo>
                    <a:pt x="20939" y="20939"/>
                  </a:lnTo>
                  <a:lnTo>
                    <a:pt x="5617" y="43666"/>
                  </a:lnTo>
                  <a:lnTo>
                    <a:pt x="0" y="71500"/>
                  </a:lnTo>
                  <a:lnTo>
                    <a:pt x="0" y="1103884"/>
                  </a:lnTo>
                  <a:lnTo>
                    <a:pt x="5617" y="1131718"/>
                  </a:lnTo>
                  <a:lnTo>
                    <a:pt x="20939" y="1154445"/>
                  </a:lnTo>
                  <a:lnTo>
                    <a:pt x="43666" y="1169767"/>
                  </a:lnTo>
                  <a:lnTo>
                    <a:pt x="71500" y="1175385"/>
                  </a:lnTo>
                  <a:lnTo>
                    <a:pt x="2465578" y="1175385"/>
                  </a:lnTo>
                  <a:lnTo>
                    <a:pt x="2493339" y="1169767"/>
                  </a:lnTo>
                  <a:lnTo>
                    <a:pt x="2516028" y="1154445"/>
                  </a:lnTo>
                  <a:lnTo>
                    <a:pt x="2531336" y="1131718"/>
                  </a:lnTo>
                  <a:lnTo>
                    <a:pt x="2536952" y="1103884"/>
                  </a:lnTo>
                  <a:lnTo>
                    <a:pt x="2536952" y="71500"/>
                  </a:lnTo>
                  <a:lnTo>
                    <a:pt x="2531336" y="43666"/>
                  </a:lnTo>
                  <a:lnTo>
                    <a:pt x="2516028" y="20939"/>
                  </a:lnTo>
                  <a:lnTo>
                    <a:pt x="2493339" y="5617"/>
                  </a:lnTo>
                  <a:lnTo>
                    <a:pt x="2465578" y="0"/>
                  </a:lnTo>
                  <a:close/>
                </a:path>
              </a:pathLst>
            </a:custGeom>
            <a:solidFill>
              <a:srgbClr val="F4F7F9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8999601" y="3608451"/>
              <a:ext cx="2537460" cy="1175385"/>
            </a:xfrm>
            <a:custGeom>
              <a:avLst/>
              <a:gdLst/>
              <a:ahLst/>
              <a:cxnLst/>
              <a:rect l="l" t="t" r="r" b="b"/>
              <a:pathLst>
                <a:path w="2537459" h="1175385">
                  <a:moveTo>
                    <a:pt x="0" y="71500"/>
                  </a:moveTo>
                  <a:lnTo>
                    <a:pt x="5617" y="43666"/>
                  </a:lnTo>
                  <a:lnTo>
                    <a:pt x="20939" y="20939"/>
                  </a:lnTo>
                  <a:lnTo>
                    <a:pt x="43666" y="5617"/>
                  </a:lnTo>
                  <a:lnTo>
                    <a:pt x="71500" y="0"/>
                  </a:lnTo>
                  <a:lnTo>
                    <a:pt x="2465578" y="0"/>
                  </a:lnTo>
                  <a:lnTo>
                    <a:pt x="2493339" y="5617"/>
                  </a:lnTo>
                  <a:lnTo>
                    <a:pt x="2516028" y="20939"/>
                  </a:lnTo>
                  <a:lnTo>
                    <a:pt x="2531336" y="43666"/>
                  </a:lnTo>
                  <a:lnTo>
                    <a:pt x="2536952" y="71500"/>
                  </a:lnTo>
                  <a:lnTo>
                    <a:pt x="2536952" y="1103884"/>
                  </a:lnTo>
                  <a:lnTo>
                    <a:pt x="2531336" y="1131718"/>
                  </a:lnTo>
                  <a:lnTo>
                    <a:pt x="2516028" y="1154445"/>
                  </a:lnTo>
                  <a:lnTo>
                    <a:pt x="2493339" y="1169767"/>
                  </a:lnTo>
                  <a:lnTo>
                    <a:pt x="2465578" y="1175385"/>
                  </a:lnTo>
                  <a:lnTo>
                    <a:pt x="71500" y="1175385"/>
                  </a:lnTo>
                  <a:lnTo>
                    <a:pt x="43666" y="1169767"/>
                  </a:lnTo>
                  <a:lnTo>
                    <a:pt x="20939" y="1154445"/>
                  </a:lnTo>
                  <a:lnTo>
                    <a:pt x="5617" y="1131718"/>
                  </a:lnTo>
                  <a:lnTo>
                    <a:pt x="0" y="1103884"/>
                  </a:lnTo>
                  <a:lnTo>
                    <a:pt x="0" y="71500"/>
                  </a:lnTo>
                  <a:close/>
                </a:path>
              </a:pathLst>
            </a:custGeom>
            <a:ln w="19050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9177019" y="3770757"/>
            <a:ext cx="1845310" cy="540385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20"/>
              </a:spcBef>
            </a:pPr>
            <a:r>
              <a:rPr dirty="0" sz="1650" spc="140">
                <a:solidFill>
                  <a:srgbClr val="055A82"/>
                </a:solidFill>
                <a:latin typeface="Palatino Linotype"/>
                <a:cs typeface="Palatino Linotype"/>
              </a:rPr>
              <a:t>S9</a:t>
            </a:r>
            <a:r>
              <a:rPr dirty="0" sz="1650" spc="45">
                <a:solidFill>
                  <a:srgbClr val="055A82"/>
                </a:solidFill>
                <a:latin typeface="Palatino Linotype"/>
                <a:cs typeface="Palatino Linotype"/>
              </a:rPr>
              <a:t>  </a:t>
            </a:r>
            <a:r>
              <a:rPr dirty="0" sz="1650" spc="50">
                <a:solidFill>
                  <a:srgbClr val="404154"/>
                </a:solidFill>
                <a:latin typeface="Palatino Linotype"/>
                <a:cs typeface="Palatino Linotype"/>
              </a:rPr>
              <a:t>Constructor</a:t>
            </a:r>
            <a:r>
              <a:rPr dirty="0" sz="1650" spc="-140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650" spc="-25">
                <a:solidFill>
                  <a:srgbClr val="404154"/>
                </a:solidFill>
                <a:latin typeface="Palatino Linotype"/>
                <a:cs typeface="Palatino Linotype"/>
              </a:rPr>
              <a:t>de </a:t>
            </a:r>
            <a:r>
              <a:rPr dirty="0" sz="1650" spc="-10">
                <a:solidFill>
                  <a:srgbClr val="404154"/>
                </a:solidFill>
                <a:latin typeface="Palatino Linotype"/>
                <a:cs typeface="Palatino Linotype"/>
              </a:rPr>
              <a:t>planes</a:t>
            </a:r>
            <a:endParaRPr sz="1650">
              <a:latin typeface="Palatino Linotype"/>
              <a:cs typeface="Palatino Linotype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51954" y="4927346"/>
            <a:ext cx="5246370" cy="663575"/>
            <a:chOff x="651954" y="4927346"/>
            <a:chExt cx="5246370" cy="663575"/>
          </a:xfrm>
        </p:grpSpPr>
        <p:sp>
          <p:nvSpPr>
            <p:cNvPr id="23" name="object 23"/>
            <p:cNvSpPr/>
            <p:nvPr/>
          </p:nvSpPr>
          <p:spPr>
            <a:xfrm>
              <a:off x="661479" y="4936871"/>
              <a:ext cx="5227320" cy="644525"/>
            </a:xfrm>
            <a:custGeom>
              <a:avLst/>
              <a:gdLst/>
              <a:ahLst/>
              <a:cxnLst/>
              <a:rect l="l" t="t" r="r" b="b"/>
              <a:pathLst>
                <a:path w="5227320" h="644525">
                  <a:moveTo>
                    <a:pt x="5155501" y="0"/>
                  </a:moveTo>
                  <a:lnTo>
                    <a:pt x="71450" y="0"/>
                  </a:lnTo>
                  <a:lnTo>
                    <a:pt x="43639" y="5617"/>
                  </a:lnTo>
                  <a:lnTo>
                    <a:pt x="20928" y="20939"/>
                  </a:lnTo>
                  <a:lnTo>
                    <a:pt x="5615" y="43666"/>
                  </a:lnTo>
                  <a:lnTo>
                    <a:pt x="0" y="71500"/>
                  </a:lnTo>
                  <a:lnTo>
                    <a:pt x="0" y="572515"/>
                  </a:lnTo>
                  <a:lnTo>
                    <a:pt x="5615" y="600350"/>
                  </a:lnTo>
                  <a:lnTo>
                    <a:pt x="20928" y="623077"/>
                  </a:lnTo>
                  <a:lnTo>
                    <a:pt x="43639" y="638399"/>
                  </a:lnTo>
                  <a:lnTo>
                    <a:pt x="71450" y="644016"/>
                  </a:lnTo>
                  <a:lnTo>
                    <a:pt x="5155501" y="644016"/>
                  </a:lnTo>
                  <a:lnTo>
                    <a:pt x="5183262" y="638399"/>
                  </a:lnTo>
                  <a:lnTo>
                    <a:pt x="5205952" y="623077"/>
                  </a:lnTo>
                  <a:lnTo>
                    <a:pt x="5221259" y="600350"/>
                  </a:lnTo>
                  <a:lnTo>
                    <a:pt x="5226875" y="572515"/>
                  </a:lnTo>
                  <a:lnTo>
                    <a:pt x="5226875" y="71500"/>
                  </a:lnTo>
                  <a:lnTo>
                    <a:pt x="5221259" y="43666"/>
                  </a:lnTo>
                  <a:lnTo>
                    <a:pt x="5205952" y="20939"/>
                  </a:lnTo>
                  <a:lnTo>
                    <a:pt x="5183262" y="5617"/>
                  </a:lnTo>
                  <a:lnTo>
                    <a:pt x="5155501" y="0"/>
                  </a:lnTo>
                  <a:close/>
                </a:path>
              </a:pathLst>
            </a:custGeom>
            <a:solidFill>
              <a:srgbClr val="F4F7F9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61479" y="4936871"/>
              <a:ext cx="5227320" cy="644525"/>
            </a:xfrm>
            <a:custGeom>
              <a:avLst/>
              <a:gdLst/>
              <a:ahLst/>
              <a:cxnLst/>
              <a:rect l="l" t="t" r="r" b="b"/>
              <a:pathLst>
                <a:path w="5227320" h="644525">
                  <a:moveTo>
                    <a:pt x="0" y="71500"/>
                  </a:moveTo>
                  <a:lnTo>
                    <a:pt x="5615" y="43666"/>
                  </a:lnTo>
                  <a:lnTo>
                    <a:pt x="20928" y="20939"/>
                  </a:lnTo>
                  <a:lnTo>
                    <a:pt x="43639" y="5617"/>
                  </a:lnTo>
                  <a:lnTo>
                    <a:pt x="71450" y="0"/>
                  </a:lnTo>
                  <a:lnTo>
                    <a:pt x="5155501" y="0"/>
                  </a:lnTo>
                  <a:lnTo>
                    <a:pt x="5183262" y="5617"/>
                  </a:lnTo>
                  <a:lnTo>
                    <a:pt x="5205952" y="20939"/>
                  </a:lnTo>
                  <a:lnTo>
                    <a:pt x="5221259" y="43666"/>
                  </a:lnTo>
                  <a:lnTo>
                    <a:pt x="5226875" y="71500"/>
                  </a:lnTo>
                  <a:lnTo>
                    <a:pt x="5226875" y="572515"/>
                  </a:lnTo>
                  <a:lnTo>
                    <a:pt x="5221259" y="600350"/>
                  </a:lnTo>
                  <a:lnTo>
                    <a:pt x="5205952" y="623077"/>
                  </a:lnTo>
                  <a:lnTo>
                    <a:pt x="5183262" y="638399"/>
                  </a:lnTo>
                  <a:lnTo>
                    <a:pt x="5155501" y="644016"/>
                  </a:lnTo>
                  <a:lnTo>
                    <a:pt x="71450" y="644016"/>
                  </a:lnTo>
                  <a:lnTo>
                    <a:pt x="43639" y="638399"/>
                  </a:lnTo>
                  <a:lnTo>
                    <a:pt x="20928" y="623077"/>
                  </a:lnTo>
                  <a:lnTo>
                    <a:pt x="5615" y="600350"/>
                  </a:lnTo>
                  <a:lnTo>
                    <a:pt x="0" y="572515"/>
                  </a:lnTo>
                  <a:lnTo>
                    <a:pt x="0" y="71500"/>
                  </a:lnTo>
                  <a:close/>
                </a:path>
              </a:pathLst>
            </a:custGeom>
            <a:ln w="19050">
              <a:solidFill>
                <a:srgbClr val="1C719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837996" y="5100954"/>
            <a:ext cx="367347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135">
                <a:solidFill>
                  <a:srgbClr val="404154"/>
                </a:solidFill>
                <a:latin typeface="Palatino Linotype"/>
                <a:cs typeface="Palatino Linotype"/>
              </a:rPr>
              <a:t>S5</a:t>
            </a:r>
            <a:r>
              <a:rPr dirty="0" sz="1650" spc="-55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650" spc="-30">
                <a:solidFill>
                  <a:srgbClr val="404154"/>
                </a:solidFill>
                <a:latin typeface="Palatino Linotype"/>
                <a:cs typeface="Palatino Linotype"/>
              </a:rPr>
              <a:t>·</a:t>
            </a:r>
            <a:r>
              <a:rPr dirty="0" sz="1650" spc="-65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650">
                <a:solidFill>
                  <a:srgbClr val="404154"/>
                </a:solidFill>
                <a:latin typeface="Palatino Linotype"/>
                <a:cs typeface="Palatino Linotype"/>
              </a:rPr>
              <a:t>prioritario</a:t>
            </a:r>
            <a:r>
              <a:rPr dirty="0" sz="1650" spc="114">
                <a:solidFill>
                  <a:srgbClr val="404154"/>
                </a:solidFill>
                <a:latin typeface="Palatino Linotype"/>
                <a:cs typeface="Palatino Linotype"/>
              </a:rPr>
              <a:t>  </a:t>
            </a:r>
            <a:r>
              <a:rPr dirty="0" sz="1650" spc="65">
                <a:solidFill>
                  <a:srgbClr val="404154"/>
                </a:solidFill>
                <a:latin typeface="Palatino Linotype"/>
                <a:cs typeface="Palatino Linotype"/>
              </a:rPr>
              <a:t>Sponsors</a:t>
            </a:r>
            <a:r>
              <a:rPr dirty="0" sz="1650" spc="-95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650" spc="-10">
                <a:solidFill>
                  <a:srgbClr val="404154"/>
                </a:solidFill>
                <a:latin typeface="Palatino Linotype"/>
                <a:cs typeface="Palatino Linotype"/>
              </a:rPr>
              <a:t>y</a:t>
            </a:r>
            <a:r>
              <a:rPr dirty="0" sz="1650" spc="-50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650" spc="60">
                <a:solidFill>
                  <a:srgbClr val="404154"/>
                </a:solidFill>
                <a:latin typeface="Palatino Linotype"/>
                <a:cs typeface="Palatino Linotype"/>
              </a:rPr>
              <a:t>Beneficios</a:t>
            </a:r>
            <a:endParaRPr sz="1650">
              <a:latin typeface="Palatino Linotype"/>
              <a:cs typeface="Palatino Linotype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6300089" y="4927346"/>
            <a:ext cx="5246370" cy="663575"/>
            <a:chOff x="6300089" y="4927346"/>
            <a:chExt cx="5246370" cy="663575"/>
          </a:xfrm>
        </p:grpSpPr>
        <p:sp>
          <p:nvSpPr>
            <p:cNvPr id="44" name="object 44"/>
            <p:cNvSpPr/>
            <p:nvPr/>
          </p:nvSpPr>
          <p:spPr>
            <a:xfrm>
              <a:off x="6309614" y="4936871"/>
              <a:ext cx="5227320" cy="644525"/>
            </a:xfrm>
            <a:custGeom>
              <a:avLst/>
              <a:gdLst/>
              <a:ahLst/>
              <a:cxnLst/>
              <a:rect l="l" t="t" r="r" b="b"/>
              <a:pathLst>
                <a:path w="5227320" h="644525">
                  <a:moveTo>
                    <a:pt x="5155565" y="0"/>
                  </a:moveTo>
                  <a:lnTo>
                    <a:pt x="71500" y="0"/>
                  </a:lnTo>
                  <a:lnTo>
                    <a:pt x="43666" y="5617"/>
                  </a:lnTo>
                  <a:lnTo>
                    <a:pt x="20939" y="20939"/>
                  </a:lnTo>
                  <a:lnTo>
                    <a:pt x="5617" y="43666"/>
                  </a:lnTo>
                  <a:lnTo>
                    <a:pt x="0" y="71500"/>
                  </a:lnTo>
                  <a:lnTo>
                    <a:pt x="0" y="572515"/>
                  </a:lnTo>
                  <a:lnTo>
                    <a:pt x="5617" y="600350"/>
                  </a:lnTo>
                  <a:lnTo>
                    <a:pt x="20939" y="623077"/>
                  </a:lnTo>
                  <a:lnTo>
                    <a:pt x="43666" y="638399"/>
                  </a:lnTo>
                  <a:lnTo>
                    <a:pt x="71500" y="644016"/>
                  </a:lnTo>
                  <a:lnTo>
                    <a:pt x="5155565" y="644016"/>
                  </a:lnTo>
                  <a:lnTo>
                    <a:pt x="5183326" y="638399"/>
                  </a:lnTo>
                  <a:lnTo>
                    <a:pt x="5206015" y="623077"/>
                  </a:lnTo>
                  <a:lnTo>
                    <a:pt x="5221323" y="600350"/>
                  </a:lnTo>
                  <a:lnTo>
                    <a:pt x="5226939" y="572515"/>
                  </a:lnTo>
                  <a:lnTo>
                    <a:pt x="5226939" y="71500"/>
                  </a:lnTo>
                  <a:lnTo>
                    <a:pt x="5221323" y="43666"/>
                  </a:lnTo>
                  <a:lnTo>
                    <a:pt x="5206015" y="20939"/>
                  </a:lnTo>
                  <a:lnTo>
                    <a:pt x="5183326" y="5617"/>
                  </a:lnTo>
                  <a:lnTo>
                    <a:pt x="5155565" y="0"/>
                  </a:lnTo>
                  <a:close/>
                </a:path>
              </a:pathLst>
            </a:custGeom>
            <a:solidFill>
              <a:srgbClr val="F4F7F9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6309614" y="4936871"/>
              <a:ext cx="5227320" cy="644525"/>
            </a:xfrm>
            <a:custGeom>
              <a:avLst/>
              <a:gdLst/>
              <a:ahLst/>
              <a:cxnLst/>
              <a:rect l="l" t="t" r="r" b="b"/>
              <a:pathLst>
                <a:path w="5227320" h="644525">
                  <a:moveTo>
                    <a:pt x="0" y="71500"/>
                  </a:moveTo>
                  <a:lnTo>
                    <a:pt x="5617" y="43666"/>
                  </a:lnTo>
                  <a:lnTo>
                    <a:pt x="20939" y="20939"/>
                  </a:lnTo>
                  <a:lnTo>
                    <a:pt x="43666" y="5617"/>
                  </a:lnTo>
                  <a:lnTo>
                    <a:pt x="71500" y="0"/>
                  </a:lnTo>
                  <a:lnTo>
                    <a:pt x="5155565" y="0"/>
                  </a:lnTo>
                  <a:lnTo>
                    <a:pt x="5183326" y="5617"/>
                  </a:lnTo>
                  <a:lnTo>
                    <a:pt x="5206015" y="20939"/>
                  </a:lnTo>
                  <a:lnTo>
                    <a:pt x="5221323" y="43666"/>
                  </a:lnTo>
                  <a:lnTo>
                    <a:pt x="5226939" y="71500"/>
                  </a:lnTo>
                  <a:lnTo>
                    <a:pt x="5226939" y="572515"/>
                  </a:lnTo>
                  <a:lnTo>
                    <a:pt x="5221323" y="600350"/>
                  </a:lnTo>
                  <a:lnTo>
                    <a:pt x="5206015" y="623077"/>
                  </a:lnTo>
                  <a:lnTo>
                    <a:pt x="5183326" y="638399"/>
                  </a:lnTo>
                  <a:lnTo>
                    <a:pt x="5155565" y="644016"/>
                  </a:lnTo>
                  <a:lnTo>
                    <a:pt x="71500" y="644016"/>
                  </a:lnTo>
                  <a:lnTo>
                    <a:pt x="43666" y="638399"/>
                  </a:lnTo>
                  <a:lnTo>
                    <a:pt x="20939" y="623077"/>
                  </a:lnTo>
                  <a:lnTo>
                    <a:pt x="5617" y="600350"/>
                  </a:lnTo>
                  <a:lnTo>
                    <a:pt x="0" y="572515"/>
                  </a:lnTo>
                  <a:lnTo>
                    <a:pt x="0" y="71500"/>
                  </a:lnTo>
                  <a:close/>
                </a:path>
              </a:pathLst>
            </a:custGeom>
            <a:ln w="19050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6486905" y="5100954"/>
            <a:ext cx="412686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80">
                <a:solidFill>
                  <a:srgbClr val="055A82"/>
                </a:solidFill>
                <a:latin typeface="Palatino Linotype"/>
                <a:cs typeface="Palatino Linotype"/>
              </a:rPr>
              <a:t>S10</a:t>
            </a:r>
            <a:r>
              <a:rPr dirty="0" sz="1650" spc="100">
                <a:solidFill>
                  <a:srgbClr val="055A82"/>
                </a:solidFill>
                <a:latin typeface="Palatino Linotype"/>
                <a:cs typeface="Palatino Linotype"/>
              </a:rPr>
              <a:t>  </a:t>
            </a:r>
            <a:r>
              <a:rPr dirty="0" sz="1650">
                <a:solidFill>
                  <a:srgbClr val="404154"/>
                </a:solidFill>
                <a:latin typeface="Palatino Linotype"/>
                <a:cs typeface="Palatino Linotype"/>
              </a:rPr>
              <a:t>Auditoría,</a:t>
            </a:r>
            <a:r>
              <a:rPr dirty="0" sz="1650" spc="-110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650">
                <a:solidFill>
                  <a:srgbClr val="404154"/>
                </a:solidFill>
                <a:latin typeface="Palatino Linotype"/>
                <a:cs typeface="Palatino Linotype"/>
              </a:rPr>
              <a:t>seguridad,</a:t>
            </a:r>
            <a:r>
              <a:rPr dirty="0" sz="1650" spc="-90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650">
                <a:solidFill>
                  <a:srgbClr val="404154"/>
                </a:solidFill>
                <a:latin typeface="Palatino Linotype"/>
                <a:cs typeface="Palatino Linotype"/>
              </a:rPr>
              <a:t>QA</a:t>
            </a:r>
            <a:r>
              <a:rPr dirty="0" sz="1650" spc="-85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650" spc="-10">
                <a:solidFill>
                  <a:srgbClr val="404154"/>
                </a:solidFill>
                <a:latin typeface="Palatino Linotype"/>
                <a:cs typeface="Palatino Linotype"/>
              </a:rPr>
              <a:t>y</a:t>
            </a:r>
            <a:r>
              <a:rPr dirty="0" sz="1650" spc="-45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650" spc="-10">
                <a:solidFill>
                  <a:srgbClr val="404154"/>
                </a:solidFill>
                <a:latin typeface="Palatino Linotype"/>
                <a:cs typeface="Palatino Linotype"/>
              </a:rPr>
              <a:t>despliegue</a:t>
            </a:r>
            <a:endParaRPr sz="165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46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46" y="6858000"/>
                </a:lnTo>
                <a:lnTo>
                  <a:pt x="12191746" y="0"/>
                </a:lnTo>
                <a:close/>
              </a:path>
            </a:pathLst>
          </a:custGeom>
          <a:solidFill>
            <a:srgbClr val="F8F8FF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48716" y="1546352"/>
            <a:ext cx="3302000" cy="5892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700" spc="114"/>
              <a:t>Valor</a:t>
            </a:r>
            <a:r>
              <a:rPr dirty="0" sz="3700" spc="-250"/>
              <a:t> </a:t>
            </a:r>
            <a:r>
              <a:rPr dirty="0" sz="3700" spc="-10"/>
              <a:t>aportado</a:t>
            </a:r>
            <a:endParaRPr sz="3700"/>
          </a:p>
        </p:txBody>
      </p:sp>
      <p:grpSp>
        <p:nvGrpSpPr>
          <p:cNvPr id="7" name="object 7"/>
          <p:cNvGrpSpPr/>
          <p:nvPr/>
        </p:nvGrpSpPr>
        <p:grpSpPr>
          <a:xfrm>
            <a:off x="648780" y="2543429"/>
            <a:ext cx="5365750" cy="1770380"/>
            <a:chOff x="648780" y="2543429"/>
            <a:chExt cx="5365750" cy="1770380"/>
          </a:xfrm>
        </p:grpSpPr>
        <p:sp>
          <p:nvSpPr>
            <p:cNvPr id="8" name="object 8"/>
            <p:cNvSpPr/>
            <p:nvPr/>
          </p:nvSpPr>
          <p:spPr>
            <a:xfrm>
              <a:off x="661479" y="2556129"/>
              <a:ext cx="5340350" cy="1744980"/>
            </a:xfrm>
            <a:custGeom>
              <a:avLst/>
              <a:gdLst/>
              <a:ahLst/>
              <a:cxnLst/>
              <a:rect l="l" t="t" r="r" b="b"/>
              <a:pathLst>
                <a:path w="5340350" h="1744979">
                  <a:moveTo>
                    <a:pt x="5260403" y="0"/>
                  </a:moveTo>
                  <a:lnTo>
                    <a:pt x="79375" y="0"/>
                  </a:lnTo>
                  <a:lnTo>
                    <a:pt x="48477" y="6240"/>
                  </a:lnTo>
                  <a:lnTo>
                    <a:pt x="23247" y="23256"/>
                  </a:lnTo>
                  <a:lnTo>
                    <a:pt x="6237" y="48488"/>
                  </a:lnTo>
                  <a:lnTo>
                    <a:pt x="0" y="79375"/>
                  </a:lnTo>
                  <a:lnTo>
                    <a:pt x="0" y="1665478"/>
                  </a:lnTo>
                  <a:lnTo>
                    <a:pt x="6237" y="1696364"/>
                  </a:lnTo>
                  <a:lnTo>
                    <a:pt x="23247" y="1721596"/>
                  </a:lnTo>
                  <a:lnTo>
                    <a:pt x="48477" y="1738612"/>
                  </a:lnTo>
                  <a:lnTo>
                    <a:pt x="79375" y="1744853"/>
                  </a:lnTo>
                  <a:lnTo>
                    <a:pt x="5260403" y="1744853"/>
                  </a:lnTo>
                  <a:lnTo>
                    <a:pt x="5291290" y="1738612"/>
                  </a:lnTo>
                  <a:lnTo>
                    <a:pt x="5316521" y="1721596"/>
                  </a:lnTo>
                  <a:lnTo>
                    <a:pt x="5333537" y="1696364"/>
                  </a:lnTo>
                  <a:lnTo>
                    <a:pt x="5339778" y="1665478"/>
                  </a:lnTo>
                  <a:lnTo>
                    <a:pt x="5339778" y="79375"/>
                  </a:lnTo>
                  <a:lnTo>
                    <a:pt x="5333537" y="48488"/>
                  </a:lnTo>
                  <a:lnTo>
                    <a:pt x="5316521" y="23256"/>
                  </a:lnTo>
                  <a:lnTo>
                    <a:pt x="5291290" y="6240"/>
                  </a:lnTo>
                  <a:lnTo>
                    <a:pt x="5260403" y="0"/>
                  </a:lnTo>
                  <a:close/>
                </a:path>
              </a:pathLst>
            </a:custGeom>
            <a:solidFill>
              <a:srgbClr val="F8F8FF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61479" y="2556129"/>
              <a:ext cx="5340350" cy="1744980"/>
            </a:xfrm>
            <a:custGeom>
              <a:avLst/>
              <a:gdLst/>
              <a:ahLst/>
              <a:cxnLst/>
              <a:rect l="l" t="t" r="r" b="b"/>
              <a:pathLst>
                <a:path w="5340350" h="1744979">
                  <a:moveTo>
                    <a:pt x="0" y="79375"/>
                  </a:moveTo>
                  <a:lnTo>
                    <a:pt x="6237" y="48488"/>
                  </a:lnTo>
                  <a:lnTo>
                    <a:pt x="23247" y="23256"/>
                  </a:lnTo>
                  <a:lnTo>
                    <a:pt x="48477" y="6240"/>
                  </a:lnTo>
                  <a:lnTo>
                    <a:pt x="79375" y="0"/>
                  </a:lnTo>
                  <a:lnTo>
                    <a:pt x="5260403" y="0"/>
                  </a:lnTo>
                  <a:lnTo>
                    <a:pt x="5291290" y="6240"/>
                  </a:lnTo>
                  <a:lnTo>
                    <a:pt x="5316521" y="23256"/>
                  </a:lnTo>
                  <a:lnTo>
                    <a:pt x="5333537" y="48488"/>
                  </a:lnTo>
                  <a:lnTo>
                    <a:pt x="5339778" y="79375"/>
                  </a:lnTo>
                  <a:lnTo>
                    <a:pt x="5339778" y="1665478"/>
                  </a:lnTo>
                  <a:lnTo>
                    <a:pt x="5333537" y="1696364"/>
                  </a:lnTo>
                  <a:lnTo>
                    <a:pt x="5316521" y="1721596"/>
                  </a:lnTo>
                  <a:lnTo>
                    <a:pt x="5291290" y="1738612"/>
                  </a:lnTo>
                  <a:lnTo>
                    <a:pt x="5260403" y="1744853"/>
                  </a:lnTo>
                  <a:lnTo>
                    <a:pt x="79375" y="1744853"/>
                  </a:lnTo>
                  <a:lnTo>
                    <a:pt x="48477" y="1738612"/>
                  </a:lnTo>
                  <a:lnTo>
                    <a:pt x="23247" y="1721596"/>
                  </a:lnTo>
                  <a:lnTo>
                    <a:pt x="6237" y="1696364"/>
                  </a:lnTo>
                  <a:lnTo>
                    <a:pt x="0" y="1665478"/>
                  </a:lnTo>
                  <a:lnTo>
                    <a:pt x="0" y="79375"/>
                  </a:lnTo>
                  <a:close/>
                </a:path>
              </a:pathLst>
            </a:custGeom>
            <a:ln w="25398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863295" y="2743326"/>
            <a:ext cx="4466590" cy="12947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45">
                <a:solidFill>
                  <a:srgbClr val="404154"/>
                </a:solidFill>
                <a:latin typeface="Palatino Linotype"/>
                <a:cs typeface="Palatino Linotype"/>
              </a:rPr>
              <a:t>Impacto</a:t>
            </a:r>
            <a:r>
              <a:rPr dirty="0" sz="1850" spc="-100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850" spc="-10">
                <a:solidFill>
                  <a:srgbClr val="404154"/>
                </a:solidFill>
                <a:latin typeface="Palatino Linotype"/>
                <a:cs typeface="Palatino Linotype"/>
              </a:rPr>
              <a:t>del</a:t>
            </a:r>
            <a:r>
              <a:rPr dirty="0" sz="1850" spc="-100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850">
                <a:solidFill>
                  <a:srgbClr val="404154"/>
                </a:solidFill>
                <a:latin typeface="Palatino Linotype"/>
                <a:cs typeface="Palatino Linotype"/>
              </a:rPr>
              <a:t>módulo</a:t>
            </a:r>
            <a:r>
              <a:rPr dirty="0" sz="1850" spc="-80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850" spc="-10">
                <a:solidFill>
                  <a:srgbClr val="404154"/>
                </a:solidFill>
                <a:latin typeface="Palatino Linotype"/>
                <a:cs typeface="Palatino Linotype"/>
              </a:rPr>
              <a:t>prioritario</a:t>
            </a:r>
            <a:endParaRPr sz="18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450" spc="55">
                <a:solidFill>
                  <a:srgbClr val="404154"/>
                </a:solidFill>
                <a:latin typeface="Microsoft Sans Serif"/>
                <a:cs typeface="Microsoft Sans Serif"/>
              </a:rPr>
              <a:t>Habilita</a:t>
            </a:r>
            <a:r>
              <a:rPr dirty="0" sz="1450" spc="5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las</a:t>
            </a:r>
            <a:r>
              <a:rPr dirty="0" sz="1450" spc="7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alianzas</a:t>
            </a:r>
            <a:r>
              <a:rPr dirty="0" sz="1450" spc="6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45">
                <a:solidFill>
                  <a:srgbClr val="404154"/>
                </a:solidFill>
                <a:latin typeface="Microsoft Sans Serif"/>
                <a:cs typeface="Microsoft Sans Serif"/>
              </a:rPr>
              <a:t>estratégicas</a:t>
            </a:r>
            <a:r>
              <a:rPr dirty="0" sz="1450" spc="1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de</a:t>
            </a:r>
            <a:r>
              <a:rPr dirty="0" sz="1450" spc="3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10">
                <a:solidFill>
                  <a:srgbClr val="404154"/>
                </a:solidFill>
                <a:latin typeface="Microsoft Sans Serif"/>
                <a:cs typeface="Microsoft Sans Serif"/>
              </a:rPr>
              <a:t>Aprueba,</a:t>
            </a:r>
            <a:endParaRPr sz="1450">
              <a:latin typeface="Microsoft Sans Serif"/>
              <a:cs typeface="Microsoft Sans Serif"/>
            </a:endParaRPr>
          </a:p>
          <a:p>
            <a:pPr marL="12700" marR="5080">
              <a:lnSpc>
                <a:spcPts val="2320"/>
              </a:lnSpc>
              <a:spcBef>
                <a:spcPts val="85"/>
              </a:spcBef>
            </a:pPr>
            <a:r>
              <a:rPr dirty="0" sz="1450" spc="60">
                <a:solidFill>
                  <a:srgbClr val="404154"/>
                </a:solidFill>
                <a:latin typeface="Microsoft Sans Serif"/>
                <a:cs typeface="Microsoft Sans Serif"/>
              </a:rPr>
              <a:t>conectando </a:t>
            </a:r>
            <a:r>
              <a:rPr dirty="0" sz="1450" spc="10">
                <a:solidFill>
                  <a:srgbClr val="404154"/>
                </a:solidFill>
                <a:latin typeface="Microsoft Sans Serif"/>
                <a:cs typeface="Microsoft Sans Serif"/>
              </a:rPr>
              <a:t>el</a:t>
            </a:r>
            <a:r>
              <a:rPr dirty="0" sz="1450" spc="3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10">
                <a:solidFill>
                  <a:srgbClr val="404154"/>
                </a:solidFill>
                <a:latin typeface="Microsoft Sans Serif"/>
                <a:cs typeface="Microsoft Sans Serif"/>
              </a:rPr>
              <a:t>esfuerzo</a:t>
            </a:r>
            <a:r>
              <a:rPr dirty="0" sz="1450" spc="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50">
                <a:solidFill>
                  <a:srgbClr val="404154"/>
                </a:solidFill>
                <a:latin typeface="Microsoft Sans Serif"/>
                <a:cs typeface="Microsoft Sans Serif"/>
              </a:rPr>
              <a:t>académico</a:t>
            </a:r>
            <a:r>
              <a:rPr dirty="0" sz="1450" spc="4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10">
                <a:solidFill>
                  <a:srgbClr val="404154"/>
                </a:solidFill>
                <a:latin typeface="Microsoft Sans Serif"/>
                <a:cs typeface="Microsoft Sans Serif"/>
              </a:rPr>
              <a:t>del</a:t>
            </a:r>
            <a:r>
              <a:rPr dirty="0" sz="1450" spc="3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65">
                <a:solidFill>
                  <a:srgbClr val="404154"/>
                </a:solidFill>
                <a:latin typeface="Microsoft Sans Serif"/>
                <a:cs typeface="Microsoft Sans Serif"/>
              </a:rPr>
              <a:t>alumno</a:t>
            </a:r>
            <a:r>
              <a:rPr dirty="0" sz="1450" spc="8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35">
                <a:solidFill>
                  <a:srgbClr val="404154"/>
                </a:solidFill>
                <a:latin typeface="Microsoft Sans Serif"/>
                <a:cs typeface="Microsoft Sans Serif"/>
              </a:rPr>
              <a:t>con </a:t>
            </a:r>
            <a:r>
              <a:rPr dirty="0" sz="1450" spc="20">
                <a:solidFill>
                  <a:srgbClr val="404154"/>
                </a:solidFill>
                <a:latin typeface="Microsoft Sans Serif"/>
                <a:cs typeface="Microsoft Sans Serif"/>
              </a:rPr>
              <a:t>recompensas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20">
                <a:solidFill>
                  <a:srgbClr val="404154"/>
                </a:solidFill>
                <a:latin typeface="Microsoft Sans Serif"/>
                <a:cs typeface="Microsoft Sans Serif"/>
              </a:rPr>
              <a:t>reales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20">
                <a:solidFill>
                  <a:srgbClr val="404154"/>
                </a:solidFill>
                <a:latin typeface="Microsoft Sans Serif"/>
                <a:cs typeface="Microsoft Sans Serif"/>
              </a:rPr>
              <a:t>de</a:t>
            </a:r>
            <a:r>
              <a:rPr dirty="0" sz="1450" spc="3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20">
                <a:solidFill>
                  <a:srgbClr val="404154"/>
                </a:solidFill>
                <a:latin typeface="Microsoft Sans Serif"/>
                <a:cs typeface="Microsoft Sans Serif"/>
              </a:rPr>
              <a:t>los</a:t>
            </a:r>
            <a:r>
              <a:rPr dirty="0" sz="1450" spc="5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10">
                <a:solidFill>
                  <a:srgbClr val="404154"/>
                </a:solidFill>
                <a:latin typeface="Microsoft Sans Serif"/>
                <a:cs typeface="Microsoft Sans Serif"/>
              </a:rPr>
              <a:t>sponsors.</a:t>
            </a:r>
            <a:endParaRPr sz="1450">
              <a:latin typeface="Microsoft Sans Serif"/>
              <a:cs typeface="Microsoft Sans Serif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177661" y="2543429"/>
            <a:ext cx="5365750" cy="1770380"/>
            <a:chOff x="6177661" y="2543429"/>
            <a:chExt cx="5365750" cy="1770380"/>
          </a:xfrm>
        </p:grpSpPr>
        <p:sp>
          <p:nvSpPr>
            <p:cNvPr id="12" name="object 12"/>
            <p:cNvSpPr/>
            <p:nvPr/>
          </p:nvSpPr>
          <p:spPr>
            <a:xfrm>
              <a:off x="6190361" y="2556129"/>
              <a:ext cx="5340350" cy="1744980"/>
            </a:xfrm>
            <a:custGeom>
              <a:avLst/>
              <a:gdLst/>
              <a:ahLst/>
              <a:cxnLst/>
              <a:rect l="l" t="t" r="r" b="b"/>
              <a:pathLst>
                <a:path w="5340350" h="1744979">
                  <a:moveTo>
                    <a:pt x="5260467" y="0"/>
                  </a:moveTo>
                  <a:lnTo>
                    <a:pt x="79375" y="0"/>
                  </a:lnTo>
                  <a:lnTo>
                    <a:pt x="48434" y="6240"/>
                  </a:lnTo>
                  <a:lnTo>
                    <a:pt x="23209" y="23256"/>
                  </a:lnTo>
                  <a:lnTo>
                    <a:pt x="6223" y="48488"/>
                  </a:lnTo>
                  <a:lnTo>
                    <a:pt x="0" y="79375"/>
                  </a:lnTo>
                  <a:lnTo>
                    <a:pt x="0" y="1665478"/>
                  </a:lnTo>
                  <a:lnTo>
                    <a:pt x="6223" y="1696364"/>
                  </a:lnTo>
                  <a:lnTo>
                    <a:pt x="23209" y="1721596"/>
                  </a:lnTo>
                  <a:lnTo>
                    <a:pt x="48434" y="1738612"/>
                  </a:lnTo>
                  <a:lnTo>
                    <a:pt x="79375" y="1744853"/>
                  </a:lnTo>
                  <a:lnTo>
                    <a:pt x="5260467" y="1744853"/>
                  </a:lnTo>
                  <a:lnTo>
                    <a:pt x="5291353" y="1738612"/>
                  </a:lnTo>
                  <a:lnTo>
                    <a:pt x="5316585" y="1721596"/>
                  </a:lnTo>
                  <a:lnTo>
                    <a:pt x="5333601" y="1696364"/>
                  </a:lnTo>
                  <a:lnTo>
                    <a:pt x="5339842" y="1665478"/>
                  </a:lnTo>
                  <a:lnTo>
                    <a:pt x="5339842" y="79375"/>
                  </a:lnTo>
                  <a:lnTo>
                    <a:pt x="5333601" y="48488"/>
                  </a:lnTo>
                  <a:lnTo>
                    <a:pt x="5316585" y="23256"/>
                  </a:lnTo>
                  <a:lnTo>
                    <a:pt x="5291353" y="6240"/>
                  </a:lnTo>
                  <a:lnTo>
                    <a:pt x="5260467" y="0"/>
                  </a:lnTo>
                  <a:close/>
                </a:path>
              </a:pathLst>
            </a:custGeom>
            <a:solidFill>
              <a:srgbClr val="F8F8FF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190361" y="2556129"/>
              <a:ext cx="5340350" cy="1744980"/>
            </a:xfrm>
            <a:custGeom>
              <a:avLst/>
              <a:gdLst/>
              <a:ahLst/>
              <a:cxnLst/>
              <a:rect l="l" t="t" r="r" b="b"/>
              <a:pathLst>
                <a:path w="5340350" h="1744979">
                  <a:moveTo>
                    <a:pt x="0" y="79375"/>
                  </a:moveTo>
                  <a:lnTo>
                    <a:pt x="6223" y="48488"/>
                  </a:lnTo>
                  <a:lnTo>
                    <a:pt x="23209" y="23256"/>
                  </a:lnTo>
                  <a:lnTo>
                    <a:pt x="48434" y="6240"/>
                  </a:lnTo>
                  <a:lnTo>
                    <a:pt x="79375" y="0"/>
                  </a:lnTo>
                  <a:lnTo>
                    <a:pt x="5260467" y="0"/>
                  </a:lnTo>
                  <a:lnTo>
                    <a:pt x="5291353" y="6240"/>
                  </a:lnTo>
                  <a:lnTo>
                    <a:pt x="5316585" y="23256"/>
                  </a:lnTo>
                  <a:lnTo>
                    <a:pt x="5333601" y="48488"/>
                  </a:lnTo>
                  <a:lnTo>
                    <a:pt x="5339842" y="79375"/>
                  </a:lnTo>
                  <a:lnTo>
                    <a:pt x="5339842" y="1665478"/>
                  </a:lnTo>
                  <a:lnTo>
                    <a:pt x="5333601" y="1696364"/>
                  </a:lnTo>
                  <a:lnTo>
                    <a:pt x="5316585" y="1721596"/>
                  </a:lnTo>
                  <a:lnTo>
                    <a:pt x="5291353" y="1738612"/>
                  </a:lnTo>
                  <a:lnTo>
                    <a:pt x="5260467" y="1744853"/>
                  </a:lnTo>
                  <a:lnTo>
                    <a:pt x="79375" y="1744853"/>
                  </a:lnTo>
                  <a:lnTo>
                    <a:pt x="48434" y="1738612"/>
                  </a:lnTo>
                  <a:lnTo>
                    <a:pt x="23209" y="1721596"/>
                  </a:lnTo>
                  <a:lnTo>
                    <a:pt x="6223" y="1696364"/>
                  </a:lnTo>
                  <a:lnTo>
                    <a:pt x="0" y="1665478"/>
                  </a:lnTo>
                  <a:lnTo>
                    <a:pt x="0" y="79375"/>
                  </a:lnTo>
                  <a:close/>
                </a:path>
              </a:pathLst>
            </a:custGeom>
            <a:ln w="25398">
              <a:solidFill>
                <a:srgbClr val="B8BE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392671" y="2743326"/>
            <a:ext cx="4638675" cy="12947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45">
                <a:solidFill>
                  <a:srgbClr val="404154"/>
                </a:solidFill>
                <a:latin typeface="Palatino Linotype"/>
                <a:cs typeface="Palatino Linotype"/>
              </a:rPr>
              <a:t>Impacto</a:t>
            </a:r>
            <a:r>
              <a:rPr dirty="0" sz="1850" spc="-114">
                <a:solidFill>
                  <a:srgbClr val="404154"/>
                </a:solidFill>
                <a:latin typeface="Palatino Linotype"/>
                <a:cs typeface="Palatino Linotype"/>
              </a:rPr>
              <a:t> </a:t>
            </a:r>
            <a:r>
              <a:rPr dirty="0" sz="1850" spc="-10">
                <a:solidFill>
                  <a:srgbClr val="404154"/>
                </a:solidFill>
                <a:latin typeface="Palatino Linotype"/>
                <a:cs typeface="Palatino Linotype"/>
              </a:rPr>
              <a:t>global</a:t>
            </a:r>
            <a:endParaRPr sz="1850">
              <a:latin typeface="Palatino Linotype"/>
              <a:cs typeface="Palatino Linotype"/>
            </a:endParaRPr>
          </a:p>
          <a:p>
            <a:pPr marL="12700" marR="5080">
              <a:lnSpc>
                <a:spcPct val="132800"/>
              </a:lnSpc>
              <a:spcBef>
                <a:spcPts val="840"/>
              </a:spcBef>
            </a:pPr>
            <a:r>
              <a:rPr dirty="0" sz="1450" spc="20">
                <a:solidFill>
                  <a:srgbClr val="404154"/>
                </a:solidFill>
                <a:latin typeface="Microsoft Sans Serif"/>
                <a:cs typeface="Microsoft Sans Serif"/>
              </a:rPr>
              <a:t>Una</a:t>
            </a:r>
            <a:r>
              <a:rPr dirty="0" sz="1450" spc="10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20">
                <a:solidFill>
                  <a:srgbClr val="404154"/>
                </a:solidFill>
                <a:latin typeface="Microsoft Sans Serif"/>
                <a:cs typeface="Microsoft Sans Serif"/>
              </a:rPr>
              <a:t>consola</a:t>
            </a:r>
            <a:r>
              <a:rPr dirty="0" sz="1450" spc="10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20">
                <a:solidFill>
                  <a:srgbClr val="404154"/>
                </a:solidFill>
                <a:latin typeface="Microsoft Sans Serif"/>
                <a:cs typeface="Microsoft Sans Serif"/>
              </a:rPr>
              <a:t>centralizada,</a:t>
            </a:r>
            <a:r>
              <a:rPr dirty="0" sz="1450" spc="6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20">
                <a:solidFill>
                  <a:srgbClr val="404154"/>
                </a:solidFill>
                <a:latin typeface="Microsoft Sans Serif"/>
                <a:cs typeface="Microsoft Sans Serif"/>
              </a:rPr>
              <a:t>segura</a:t>
            </a:r>
            <a:r>
              <a:rPr dirty="0" sz="1450" spc="2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70">
                <a:solidFill>
                  <a:srgbClr val="404154"/>
                </a:solidFill>
                <a:latin typeface="Microsoft Sans Serif"/>
                <a:cs typeface="Microsoft Sans Serif"/>
              </a:rPr>
              <a:t>y</a:t>
            </a:r>
            <a:r>
              <a:rPr dirty="0" sz="1450" spc="8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20">
                <a:solidFill>
                  <a:srgbClr val="404154"/>
                </a:solidFill>
                <a:latin typeface="Microsoft Sans Serif"/>
                <a:cs typeface="Microsoft Sans Serif"/>
              </a:rPr>
              <a:t>escalable</a:t>
            </a:r>
            <a:r>
              <a:rPr dirty="0" sz="1450" spc="5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30">
                <a:solidFill>
                  <a:srgbClr val="404154"/>
                </a:solidFill>
                <a:latin typeface="Microsoft Sans Serif"/>
                <a:cs typeface="Microsoft Sans Serif"/>
              </a:rPr>
              <a:t>para </a:t>
            </a:r>
            <a:r>
              <a:rPr dirty="0" sz="1450" spc="55">
                <a:solidFill>
                  <a:srgbClr val="404154"/>
                </a:solidFill>
                <a:latin typeface="Microsoft Sans Serif"/>
                <a:cs typeface="Microsoft Sans Serif"/>
              </a:rPr>
              <a:t>operar</a:t>
            </a:r>
            <a:r>
              <a:rPr dirty="0" sz="1450" spc="2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la</a:t>
            </a:r>
            <a:r>
              <a:rPr dirty="0" sz="1450" spc="10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85">
                <a:solidFill>
                  <a:srgbClr val="404154"/>
                </a:solidFill>
                <a:latin typeface="Microsoft Sans Serif"/>
                <a:cs typeface="Microsoft Sans Serif"/>
              </a:rPr>
              <a:t>plataforma</a:t>
            </a:r>
            <a:r>
              <a:rPr dirty="0" sz="1450" spc="8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sin</a:t>
            </a:r>
            <a:r>
              <a:rPr dirty="0" sz="1450" spc="7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45">
                <a:solidFill>
                  <a:srgbClr val="404154"/>
                </a:solidFill>
                <a:latin typeface="Microsoft Sans Serif"/>
                <a:cs typeface="Microsoft Sans Serif"/>
              </a:rPr>
              <a:t>intervenciones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manuales</a:t>
            </a:r>
            <a:r>
              <a:rPr dirty="0" sz="1450" spc="8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25">
                <a:solidFill>
                  <a:srgbClr val="404154"/>
                </a:solidFill>
                <a:latin typeface="Microsoft Sans Serif"/>
                <a:cs typeface="Microsoft Sans Serif"/>
              </a:rPr>
              <a:t>en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base</a:t>
            </a:r>
            <a:r>
              <a:rPr dirty="0" sz="1450" spc="-3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de </a:t>
            </a:r>
            <a:r>
              <a:rPr dirty="0" sz="1450" spc="70">
                <a:solidFill>
                  <a:srgbClr val="404154"/>
                </a:solidFill>
                <a:latin typeface="Microsoft Sans Serif"/>
                <a:cs typeface="Microsoft Sans Serif"/>
              </a:rPr>
              <a:t>datos</a:t>
            </a:r>
            <a:r>
              <a:rPr dirty="0" sz="145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80">
                <a:solidFill>
                  <a:srgbClr val="404154"/>
                </a:solidFill>
                <a:latin typeface="Microsoft Sans Serif"/>
                <a:cs typeface="Microsoft Sans Serif"/>
              </a:rPr>
              <a:t>o</a:t>
            </a:r>
            <a:r>
              <a:rPr dirty="0" sz="1450" spc="1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40">
                <a:solidFill>
                  <a:srgbClr val="404154"/>
                </a:solidFill>
                <a:latin typeface="Microsoft Sans Serif"/>
                <a:cs typeface="Microsoft Sans Serif"/>
              </a:rPr>
              <a:t>código.</a:t>
            </a:r>
            <a:endParaRPr sz="145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617582" y="6359955"/>
            <a:ext cx="2543810" cy="486409"/>
            <a:chOff x="9617582" y="6359955"/>
            <a:chExt cx="2543810" cy="486409"/>
          </a:xfrm>
        </p:grpSpPr>
        <p:pic>
          <p:nvPicPr>
            <p:cNvPr id="4" name="object 4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76812" y="6558989"/>
              <a:ext cx="1071841" cy="25603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17582" y="6359955"/>
              <a:ext cx="2543555" cy="48583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238625" y="2804809"/>
            <a:ext cx="3716020" cy="6197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900" spc="229" i="1">
                <a:latin typeface="Palatino Linotype"/>
                <a:cs typeface="Palatino Linotype"/>
              </a:rPr>
              <a:t>Muchas</a:t>
            </a:r>
            <a:r>
              <a:rPr dirty="0" sz="3900" spc="-305" i="1">
                <a:latin typeface="Palatino Linotype"/>
                <a:cs typeface="Palatino Linotype"/>
              </a:rPr>
              <a:t> </a:t>
            </a:r>
            <a:r>
              <a:rPr dirty="0" sz="3900" spc="120" i="1">
                <a:latin typeface="Palatino Linotype"/>
                <a:cs typeface="Palatino Linotype"/>
              </a:rPr>
              <a:t>Gracias!</a:t>
            </a:r>
            <a:endParaRPr sz="39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62780" y="3762247"/>
            <a:ext cx="426593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404154"/>
                </a:solidFill>
                <a:latin typeface="Microsoft Sans Serif"/>
                <a:cs typeface="Microsoft Sans Serif"/>
              </a:rPr>
              <a:t>David</a:t>
            </a:r>
            <a:r>
              <a:rPr dirty="0" sz="1150" spc="3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404154"/>
                </a:solidFill>
                <a:latin typeface="Microsoft Sans Serif"/>
                <a:cs typeface="Microsoft Sans Serif"/>
              </a:rPr>
              <a:t>Arenas</a:t>
            </a:r>
            <a:r>
              <a:rPr dirty="0" sz="1150" spc="-1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404154"/>
                </a:solidFill>
                <a:latin typeface="Microsoft Sans Serif"/>
                <a:cs typeface="Microsoft Sans Serif"/>
              </a:rPr>
              <a:t>·</a:t>
            </a:r>
            <a:r>
              <a:rPr dirty="0" sz="1150" spc="2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5">
                <a:solidFill>
                  <a:srgbClr val="404154"/>
                </a:solidFill>
                <a:latin typeface="Microsoft Sans Serif"/>
                <a:cs typeface="Microsoft Sans Serif"/>
              </a:rPr>
              <a:t>Amaru</a:t>
            </a:r>
            <a:r>
              <a:rPr dirty="0" sz="1150" spc="-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404154"/>
                </a:solidFill>
                <a:latin typeface="Microsoft Sans Serif"/>
                <a:cs typeface="Microsoft Sans Serif"/>
              </a:rPr>
              <a:t>Rojas</a:t>
            </a:r>
            <a:r>
              <a:rPr dirty="0" sz="1150" spc="9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404154"/>
                </a:solidFill>
                <a:latin typeface="Microsoft Sans Serif"/>
                <a:cs typeface="Microsoft Sans Serif"/>
              </a:rPr>
              <a:t>—</a:t>
            </a:r>
            <a:r>
              <a:rPr dirty="0" sz="1150" spc="2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404154"/>
                </a:solidFill>
                <a:latin typeface="Microsoft Sans Serif"/>
                <a:cs typeface="Microsoft Sans Serif"/>
              </a:rPr>
              <a:t>Aprueba</a:t>
            </a:r>
            <a:r>
              <a:rPr dirty="0" sz="115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404154"/>
                </a:solidFill>
                <a:latin typeface="Microsoft Sans Serif"/>
                <a:cs typeface="Microsoft Sans Serif"/>
              </a:rPr>
              <a:t>Administración</a:t>
            </a:r>
            <a:r>
              <a:rPr dirty="0" sz="1150">
                <a:solidFill>
                  <a:srgbClr val="404154"/>
                </a:solidFill>
                <a:latin typeface="Microsoft Sans Serif"/>
                <a:cs typeface="Microsoft Sans Serif"/>
              </a:rPr>
              <a:t> ·</a:t>
            </a:r>
            <a:r>
              <a:rPr dirty="0" sz="1150" spc="2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0">
                <a:solidFill>
                  <a:srgbClr val="404154"/>
                </a:solidFill>
                <a:latin typeface="Microsoft Sans Serif"/>
                <a:cs typeface="Microsoft Sans Serif"/>
              </a:rPr>
              <a:t>2026</a:t>
            </a:r>
            <a:endParaRPr sz="11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2026-09-24T17:51:54Z</dcterms:created>
  <dcterms:modified xsi:type="dcterms:W3CDTF">2026-09-24T17:51:54Z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2026-09-07T00:00:00Z</vt:filetime>
  </property>
  <property fmtid="{D5CDD505-2E9C-101B-9397-08002B2CF9AE}" pid="4" name="Creator">
    <vt:lpwstr>Microsoft® PowerPoint® para Microsoft 365</vt:lpwstr>
  </property>
  <property fmtid="{D5CDD505-2E9C-101B-9397-08002B2CF9AE}" pid="5" name="LastSaved">
    <vt:filetime>2026-09-24T00:00:00Z</vt:filetime>
  </property>
  <property fmtid="{D5CDD505-2E9C-101B-9397-08002B2CF9AE}" pid="6" name="Producer">
    <vt:lpwstr>Microsoft® PowerPoint® para Microsoft 365</vt:lpwstr>
  </property>
</Properties>
</file>